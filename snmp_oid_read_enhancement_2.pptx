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4"/>
  </p:sldMasterIdLst>
  <p:notesMasterIdLst>
    <p:notesMasterId r:id="rId83"/>
  </p:notesMasterIdLst>
  <p:handoutMasterIdLst>
    <p:handoutMasterId r:id="rId84"/>
  </p:handoutMasterIdLst>
  <p:sldIdLst>
    <p:sldId id="256" r:id="rId5"/>
    <p:sldId id="274" r:id="rId6"/>
    <p:sldId id="270" r:id="rId7"/>
    <p:sldId id="271" r:id="rId8"/>
    <p:sldId id="272" r:id="rId9"/>
    <p:sldId id="269" r:id="rId10"/>
    <p:sldId id="273" r:id="rId11"/>
    <p:sldId id="276" r:id="rId12"/>
    <p:sldId id="275" r:id="rId13"/>
    <p:sldId id="277" r:id="rId14"/>
    <p:sldId id="278" r:id="rId15"/>
    <p:sldId id="279" r:id="rId16"/>
    <p:sldId id="262" r:id="rId17"/>
    <p:sldId id="263" r:id="rId18"/>
    <p:sldId id="285" r:id="rId19"/>
    <p:sldId id="281" r:id="rId20"/>
    <p:sldId id="282" r:id="rId21"/>
    <p:sldId id="284" r:id="rId22"/>
    <p:sldId id="283" r:id="rId23"/>
    <p:sldId id="259" r:id="rId24"/>
    <p:sldId id="322" r:id="rId25"/>
    <p:sldId id="321" r:id="rId26"/>
    <p:sldId id="326" r:id="rId27"/>
    <p:sldId id="323" r:id="rId28"/>
    <p:sldId id="324" r:id="rId29"/>
    <p:sldId id="288" r:id="rId30"/>
    <p:sldId id="289" r:id="rId31"/>
    <p:sldId id="325" r:id="rId32"/>
    <p:sldId id="327" r:id="rId33"/>
    <p:sldId id="328" r:id="rId34"/>
    <p:sldId id="319" r:id="rId35"/>
    <p:sldId id="320" r:id="rId36"/>
    <p:sldId id="337" r:id="rId37"/>
    <p:sldId id="338" r:id="rId38"/>
    <p:sldId id="339" r:id="rId39"/>
    <p:sldId id="340" r:id="rId40"/>
    <p:sldId id="341" r:id="rId41"/>
    <p:sldId id="342" r:id="rId42"/>
    <p:sldId id="346" r:id="rId43"/>
    <p:sldId id="344" r:id="rId44"/>
    <p:sldId id="345" r:id="rId45"/>
    <p:sldId id="343" r:id="rId46"/>
    <p:sldId id="286" r:id="rId47"/>
    <p:sldId id="287" r:id="rId48"/>
    <p:sldId id="290" r:id="rId49"/>
    <p:sldId id="292" r:id="rId50"/>
    <p:sldId id="294" r:id="rId51"/>
    <p:sldId id="296" r:id="rId52"/>
    <p:sldId id="295" r:id="rId53"/>
    <p:sldId id="297" r:id="rId54"/>
    <p:sldId id="299" r:id="rId55"/>
    <p:sldId id="335" r:id="rId56"/>
    <p:sldId id="300" r:id="rId57"/>
    <p:sldId id="293" r:id="rId58"/>
    <p:sldId id="301" r:id="rId59"/>
    <p:sldId id="302" r:id="rId60"/>
    <p:sldId id="303" r:id="rId61"/>
    <p:sldId id="304" r:id="rId62"/>
    <p:sldId id="305" r:id="rId63"/>
    <p:sldId id="306" r:id="rId64"/>
    <p:sldId id="307" r:id="rId65"/>
    <p:sldId id="308" r:id="rId66"/>
    <p:sldId id="309" r:id="rId67"/>
    <p:sldId id="316" r:id="rId68"/>
    <p:sldId id="317" r:id="rId69"/>
    <p:sldId id="318" r:id="rId70"/>
    <p:sldId id="330" r:id="rId71"/>
    <p:sldId id="332" r:id="rId72"/>
    <p:sldId id="333" r:id="rId73"/>
    <p:sldId id="334" r:id="rId74"/>
    <p:sldId id="315" r:id="rId75"/>
    <p:sldId id="310" r:id="rId76"/>
    <p:sldId id="311" r:id="rId77"/>
    <p:sldId id="312" r:id="rId78"/>
    <p:sldId id="313" r:id="rId79"/>
    <p:sldId id="329" r:id="rId80"/>
    <p:sldId id="331" r:id="rId81"/>
    <p:sldId id="314" r:id="rId82"/>
  </p:sldIdLst>
  <p:sldSz cx="9144000" cy="5143500" type="screen16x9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75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50" d="100"/>
          <a:sy n="150" d="100"/>
        </p:scale>
        <p:origin x="456" y="12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handoutMaster" Target="handoutMasters/handoutMaster1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notesMaster" Target="notesMasters/notesMaster1.xml"/><Relationship Id="rId88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theme" Target="theme/theme1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082" y="0"/>
            <a:ext cx="2950529" cy="497524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DD8F3B7A-02BD-437D-8283-37D4CF6012C3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226"/>
            <a:ext cx="2950529" cy="497523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082" y="9440226"/>
            <a:ext cx="2950529" cy="497523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803F408C-86A8-44B5-8BA2-E3F06A93430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3865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0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/>
          <a:lstStyle>
            <a:lvl1pPr algn="r">
              <a:defRPr sz="1200"/>
            </a:lvl1pPr>
          </a:lstStyle>
          <a:p>
            <a:fld id="{7E486FC3-9450-4F73-89E2-207EEC4B10C1}" type="datetimeFigureOut">
              <a:rPr lang="en-US" smtClean="0"/>
              <a:pPr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6125"/>
            <a:ext cx="6626225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559" tIns="45779" rIns="91559" bIns="4577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2"/>
          </a:xfrm>
          <a:prstGeom prst="rect">
            <a:avLst/>
          </a:prstGeom>
        </p:spPr>
        <p:txBody>
          <a:bodyPr vert="horz" lIns="91559" tIns="45779" rIns="91559" bIns="4577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6"/>
            <a:ext cx="2949786" cy="496967"/>
          </a:xfrm>
          <a:prstGeom prst="rect">
            <a:avLst/>
          </a:prstGeom>
        </p:spPr>
        <p:txBody>
          <a:bodyPr vert="horz" lIns="91559" tIns="45779" rIns="91559" bIns="45779" rtlCol="0" anchor="b"/>
          <a:lstStyle>
            <a:lvl1pPr algn="r">
              <a:defRPr sz="1200"/>
            </a:lvl1pPr>
          </a:lstStyle>
          <a:p>
            <a:fld id="{0D0EA689-19C5-4178-9B82-B6294A11D3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316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/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 descr="newnew_16：9-11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53" y="0"/>
            <a:ext cx="9126447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131590"/>
            <a:ext cx="7632848" cy="72008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7544" y="1851670"/>
            <a:ext cx="7632848" cy="504056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7" name="文字版面配置區 5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859781"/>
            <a:ext cx="6372000" cy="456639"/>
          </a:xfrm>
        </p:spPr>
        <p:txBody>
          <a:bodyPr anchor="b" anchorCtr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Click to add Presenter’s Name</a:t>
            </a:r>
            <a:endParaRPr lang="zh-TW" altLang="en-US" dirty="0"/>
          </a:p>
        </p:txBody>
      </p:sp>
      <p:sp>
        <p:nvSpPr>
          <p:cNvPr id="9" name="文字版面配置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7544" y="3651870"/>
            <a:ext cx="6372000" cy="288032"/>
          </a:xfrm>
        </p:spPr>
        <p:txBody>
          <a:bodyPr anchor="b" anchorCtr="0">
            <a:noAutofit/>
          </a:bodyPr>
          <a:lstStyle>
            <a:lvl1pPr marL="342900" marR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baseline="0">
                <a:solidFill>
                  <a:schemeClr val="accent5">
                    <a:lumMod val="10000"/>
                  </a:schemeClr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>
            <a:pPr marL="342900" marR="0" lvl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Click to add Month </a:t>
            </a:r>
            <a:r>
              <a:rPr lang="en-US" altLang="zh-TW" dirty="0" err="1"/>
              <a:t>dd</a:t>
            </a:r>
            <a:r>
              <a:rPr lang="en-US" altLang="zh-TW" dirty="0"/>
              <a:t>, </a:t>
            </a:r>
            <a:r>
              <a:rPr lang="en-US" altLang="zh-TW" dirty="0" err="1"/>
              <a:t>YYYY</a:t>
            </a:r>
            <a:endParaRPr lang="zh-TW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67544" y="51470"/>
            <a:ext cx="7559675" cy="288032"/>
          </a:xfrm>
        </p:spPr>
        <p:txBody>
          <a:bodyPr>
            <a:noAutofit/>
          </a:bodyPr>
          <a:lstStyle>
            <a:lvl1pPr>
              <a:buNone/>
              <a:defRPr sz="16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the full name of the event here</a:t>
            </a:r>
          </a:p>
        </p:txBody>
      </p:sp>
      <p:sp>
        <p:nvSpPr>
          <p:cNvPr id="14" name="文字版面配置區 7"/>
          <p:cNvSpPr>
            <a:spLocks noGrp="1"/>
          </p:cNvSpPr>
          <p:nvPr>
            <p:ph type="body" sz="quarter" idx="17" hasCustomPrompt="1"/>
          </p:nvPr>
        </p:nvSpPr>
        <p:spPr>
          <a:xfrm>
            <a:off x="467544" y="3337488"/>
            <a:ext cx="6372000" cy="314382"/>
          </a:xfrm>
        </p:spPr>
        <p:txBody>
          <a:bodyPr anchor="b" anchorCtr="0">
            <a:noAutofit/>
          </a:bodyPr>
          <a:lstStyle>
            <a:lvl1pPr marL="342900" marR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baseline="0">
                <a:solidFill>
                  <a:schemeClr val="accent5">
                    <a:lumMod val="10000"/>
                  </a:schemeClr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altLang="zh-TW" dirty="0"/>
              <a:t>Click to add presenter’s Position/Unit</a:t>
            </a:r>
            <a:endParaRPr lang="zh-TW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newnew_16：9-11111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6447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1131590"/>
            <a:ext cx="7632848" cy="72008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文字版面配置區 5"/>
          <p:cNvSpPr>
            <a:spLocks noGrp="1"/>
          </p:cNvSpPr>
          <p:nvPr>
            <p:ph type="body" sz="quarter" idx="13" hasCustomPrompt="1"/>
          </p:nvPr>
        </p:nvSpPr>
        <p:spPr>
          <a:xfrm>
            <a:off x="467544" y="2859781"/>
            <a:ext cx="6372000" cy="456639"/>
          </a:xfrm>
        </p:spPr>
        <p:txBody>
          <a:bodyPr anchor="b" anchorCtr="0">
            <a:normAutofit/>
          </a:bodyPr>
          <a:lstStyle>
            <a:lvl1pPr marL="342900" marR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aseline="0">
                <a:solidFill>
                  <a:schemeClr val="accent5">
                    <a:lumMod val="10000"/>
                  </a:schemeClr>
                </a:solidFill>
              </a:defRPr>
            </a:lvl1pPr>
          </a:lstStyle>
          <a:p>
            <a:pPr lvl="0"/>
            <a:r>
              <a:rPr lang="en-US" altLang="zh-TW" dirty="0"/>
              <a:t>Click to add Presenter’s Name</a:t>
            </a:r>
            <a:endParaRPr lang="zh-TW" altLang="en-US" dirty="0"/>
          </a:p>
        </p:txBody>
      </p:sp>
      <p:sp>
        <p:nvSpPr>
          <p:cNvPr id="9" name="文字版面配置區 7"/>
          <p:cNvSpPr>
            <a:spLocks noGrp="1"/>
          </p:cNvSpPr>
          <p:nvPr>
            <p:ph type="body" sz="quarter" idx="15" hasCustomPrompt="1"/>
          </p:nvPr>
        </p:nvSpPr>
        <p:spPr>
          <a:xfrm>
            <a:off x="467544" y="3651870"/>
            <a:ext cx="6372000" cy="288032"/>
          </a:xfrm>
        </p:spPr>
        <p:txBody>
          <a:bodyPr anchor="b" anchorCtr="0">
            <a:noAutofit/>
          </a:bodyPr>
          <a:lstStyle>
            <a:lvl1pPr marL="342900" marR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baseline="0">
                <a:solidFill>
                  <a:schemeClr val="accent5">
                    <a:lumMod val="10000"/>
                  </a:schemeClr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>
            <a:pPr marL="342900" marR="0" lvl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dirty="0"/>
              <a:t>Click to add Month </a:t>
            </a:r>
            <a:r>
              <a:rPr lang="en-US" altLang="zh-TW" dirty="0" err="1"/>
              <a:t>dd</a:t>
            </a:r>
            <a:r>
              <a:rPr lang="en-US" altLang="zh-TW" dirty="0"/>
              <a:t>, </a:t>
            </a:r>
            <a:r>
              <a:rPr lang="en-US" altLang="zh-TW" dirty="0" err="1"/>
              <a:t>YYYY</a:t>
            </a:r>
            <a:endParaRPr lang="zh-TW" alt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6" hasCustomPrompt="1"/>
          </p:nvPr>
        </p:nvSpPr>
        <p:spPr>
          <a:xfrm>
            <a:off x="467544" y="51470"/>
            <a:ext cx="7559675" cy="288032"/>
          </a:xfrm>
        </p:spPr>
        <p:txBody>
          <a:bodyPr>
            <a:noAutofit/>
          </a:bodyPr>
          <a:lstStyle>
            <a:lvl1pPr>
              <a:buNone/>
              <a:defRPr sz="1600" b="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Type the full name of the event here</a:t>
            </a:r>
          </a:p>
        </p:txBody>
      </p:sp>
      <p:sp>
        <p:nvSpPr>
          <p:cNvPr id="14" name="文字版面配置區 7"/>
          <p:cNvSpPr>
            <a:spLocks noGrp="1"/>
          </p:cNvSpPr>
          <p:nvPr>
            <p:ph type="body" sz="quarter" idx="17" hasCustomPrompt="1"/>
          </p:nvPr>
        </p:nvSpPr>
        <p:spPr>
          <a:xfrm>
            <a:off x="467544" y="3337488"/>
            <a:ext cx="6372000" cy="314382"/>
          </a:xfrm>
        </p:spPr>
        <p:txBody>
          <a:bodyPr anchor="b" anchorCtr="0">
            <a:noAutofit/>
          </a:bodyPr>
          <a:lstStyle>
            <a:lvl1pPr marL="342900" marR="0" indent="-342900" algn="l" defTabSz="914400" rtl="0" eaLnBrk="0" fontAlgn="base" latinLnBrk="0" hangingPunct="0">
              <a:lnSpc>
                <a:spcPts val="18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800" b="0" baseline="0">
                <a:solidFill>
                  <a:schemeClr val="accent5">
                    <a:lumMod val="10000"/>
                  </a:schemeClr>
                </a:solidFill>
              </a:defRPr>
            </a:lvl1pPr>
            <a:lvl2pPr>
              <a:buNone/>
              <a:defRPr>
                <a:solidFill>
                  <a:schemeClr val="tx1"/>
                </a:solidFill>
              </a:defRPr>
            </a:lvl2pPr>
          </a:lstStyle>
          <a:p>
            <a:pPr lvl="0"/>
            <a:r>
              <a:rPr lang="en-US" altLang="zh-TW" dirty="0"/>
              <a:t>Click to add presenter’s Position/Unit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784150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9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00151"/>
            <a:ext cx="8568952" cy="3394472"/>
          </a:xfrm>
        </p:spPr>
        <p:txBody>
          <a:bodyPr/>
          <a:lstStyle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2332"/>
            <a:ext cx="8568952" cy="71323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2783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/ Sub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200151"/>
            <a:ext cx="8568952" cy="3394472"/>
          </a:xfrm>
        </p:spPr>
        <p:txBody>
          <a:bodyPr/>
          <a:lstStyle>
            <a:lvl3pPr>
              <a:defRPr b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7494"/>
            <a:ext cx="8568952" cy="56921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內容版面配置區 6"/>
          <p:cNvSpPr>
            <a:spLocks noGrp="1"/>
          </p:cNvSpPr>
          <p:nvPr>
            <p:ph sz="quarter" idx="12" hasCustomPrompt="1"/>
          </p:nvPr>
        </p:nvSpPr>
        <p:spPr>
          <a:xfrm>
            <a:off x="323528" y="843558"/>
            <a:ext cx="8568952" cy="360040"/>
          </a:xfrm>
        </p:spPr>
        <p:txBody>
          <a:bodyPr/>
          <a:lstStyle>
            <a:lvl1pPr>
              <a:buNone/>
              <a:defRPr sz="2200" baseline="0">
                <a:solidFill>
                  <a:schemeClr val="tx2"/>
                </a:solidFill>
              </a:defRPr>
            </a:lvl1pPr>
            <a:lvl2pPr>
              <a:defRPr sz="2000">
                <a:solidFill>
                  <a:srgbClr val="008787"/>
                </a:solidFill>
              </a:defRPr>
            </a:lvl2pPr>
            <a:lvl3pPr>
              <a:defRPr sz="2000">
                <a:solidFill>
                  <a:srgbClr val="008787"/>
                </a:solidFill>
              </a:defRPr>
            </a:lvl3pPr>
            <a:lvl4pPr>
              <a:defRPr sz="2000">
                <a:solidFill>
                  <a:srgbClr val="008787"/>
                </a:solidFill>
              </a:defRPr>
            </a:lvl4pPr>
            <a:lvl5pPr>
              <a:defRPr sz="2000">
                <a:solidFill>
                  <a:srgbClr val="008787"/>
                </a:solidFill>
              </a:defRPr>
            </a:lvl5pPr>
          </a:lstStyle>
          <a:p>
            <a:pPr lvl="0"/>
            <a:r>
              <a:rPr lang="en-US" altLang="zh-TW" dirty="0"/>
              <a:t>Click to add subtitle</a:t>
            </a:r>
            <a:endParaRPr lang="zh-TW" altLang="en-US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 descr="newnew_16：9-29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44000" cy="5143500"/>
          </a:xfrm>
          <a:prstGeom prst="rect">
            <a:avLst/>
          </a:prstGeom>
        </p:spPr>
      </p:pic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622800" y="1347614"/>
            <a:ext cx="7959600" cy="914400"/>
          </a:xfrm>
        </p:spPr>
        <p:txBody>
          <a:bodyPr anchor="ctr" anchorCtr="0">
            <a:normAutofit/>
          </a:bodyPr>
          <a:lstStyle>
            <a:lvl1pPr algn="ctr">
              <a:defRPr sz="3800" b="1" cap="none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245527"/>
            <a:ext cx="7772400" cy="59429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840" y="202332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6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5979"/>
            <a:ext cx="8363272" cy="7815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323527" y="987574"/>
            <a:ext cx="3888433" cy="352839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 b="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5"/>
          <p:cNvSpPr>
            <a:spLocks noGrp="1"/>
          </p:cNvSpPr>
          <p:nvPr>
            <p:ph sz="quarter" idx="4"/>
          </p:nvPr>
        </p:nvSpPr>
        <p:spPr>
          <a:xfrm>
            <a:off x="4211960" y="987574"/>
            <a:ext cx="4464496" cy="3528392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 b="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465760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 w/ Subtitle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5979"/>
            <a:ext cx="8363272" cy="781595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323527" y="1052934"/>
            <a:ext cx="4104457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half" idx="2"/>
          </p:nvPr>
        </p:nvSpPr>
        <p:spPr>
          <a:xfrm>
            <a:off x="323527" y="1773014"/>
            <a:ext cx="4104457" cy="288696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 b="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2"/>
          </p:nvPr>
        </p:nvSpPr>
        <p:spPr>
          <a:xfrm>
            <a:off x="4571999" y="1052934"/>
            <a:ext cx="4104457" cy="72008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13"/>
          </p:nvPr>
        </p:nvSpPr>
        <p:spPr>
          <a:xfrm>
            <a:off x="4571999" y="1773014"/>
            <a:ext cx="4104457" cy="2886968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 b="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/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圖片 10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971600" y="3507854"/>
            <a:ext cx="7200800" cy="517650"/>
          </a:xfrm>
        </p:spPr>
        <p:txBody>
          <a:bodyPr anchor="ctr" anchorCtr="0"/>
          <a:lstStyle>
            <a:lvl1pPr algn="ctr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/>
          </p:nvPr>
        </p:nvSpPr>
        <p:spPr>
          <a:xfrm>
            <a:off x="972000" y="339502"/>
            <a:ext cx="7200000" cy="3225079"/>
          </a:xfrm>
        </p:spPr>
        <p:txBody>
          <a:bodyPr/>
          <a:lstStyle>
            <a:lvl1pPr marL="0" indent="0" algn="l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971600" y="4025503"/>
            <a:ext cx="72008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rtArt Graphi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圖片 9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05979"/>
            <a:ext cx="8507988" cy="8572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martArt Placeholder 4"/>
          <p:cNvSpPr>
            <a:spLocks noGrp="1"/>
          </p:cNvSpPr>
          <p:nvPr>
            <p:ph type="dgm" sz="quarter" idx="11"/>
          </p:nvPr>
        </p:nvSpPr>
        <p:spPr>
          <a:xfrm>
            <a:off x="333872" y="1203598"/>
            <a:ext cx="8486600" cy="3096344"/>
          </a:xfrm>
          <a:noFill/>
        </p:spPr>
        <p:txBody>
          <a:bodyPr/>
          <a:lstStyle/>
          <a:p>
            <a:r>
              <a:rPr lang="en-US" dirty="0"/>
              <a:t>Click icon to add SmartArt graphic</a:t>
            </a:r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圖片 14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5076056" y="3795886"/>
            <a:ext cx="3240360" cy="685800"/>
          </a:xfrm>
        </p:spPr>
        <p:txBody>
          <a:bodyPr/>
          <a:lstStyle>
            <a:lvl1pPr marL="0" indent="0">
              <a:buNone/>
              <a:defRPr sz="1800" b="1" i="1" baseline="0">
                <a:solidFill>
                  <a:schemeClr val="tx1"/>
                </a:solidFill>
              </a:defRPr>
            </a:lvl1pPr>
            <a:lvl2pPr>
              <a:buNone/>
              <a:defRPr sz="2000" b="1" i="1">
                <a:solidFill>
                  <a:srgbClr val="678BA8"/>
                </a:solidFill>
              </a:defRPr>
            </a:lvl2pPr>
            <a:lvl3pPr>
              <a:buNone/>
              <a:defRPr sz="2000" b="1" i="1">
                <a:solidFill>
                  <a:srgbClr val="678BA8"/>
                </a:solidFill>
              </a:defRPr>
            </a:lvl3pPr>
            <a:lvl4pPr>
              <a:buNone/>
              <a:defRPr sz="2000" b="1" i="1">
                <a:solidFill>
                  <a:srgbClr val="678BA8"/>
                </a:solidFill>
              </a:defRPr>
            </a:lvl4pPr>
            <a:lvl5pPr>
              <a:buNone/>
              <a:defRPr sz="2000" b="1" i="1">
                <a:solidFill>
                  <a:srgbClr val="678BA8"/>
                </a:solidFill>
              </a:defRPr>
            </a:lvl5pPr>
          </a:lstStyle>
          <a:p>
            <a:pPr lvl="0"/>
            <a:r>
              <a:rPr lang="en-US" dirty="0"/>
              <a:t>Name of Person Quoted,</a:t>
            </a:r>
            <a:br>
              <a:rPr lang="en-US" dirty="0"/>
            </a:br>
            <a:r>
              <a:rPr lang="en-US" dirty="0"/>
              <a:t>XYZ Company</a:t>
            </a:r>
          </a:p>
        </p:txBody>
      </p:sp>
      <p:sp>
        <p:nvSpPr>
          <p:cNvPr id="12" name="Text Placehold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1143282" y="555526"/>
            <a:ext cx="7200800" cy="3301756"/>
          </a:xfrm>
          <a:noFill/>
          <a:ln w="127000" cmpd="thickThin">
            <a:noFill/>
          </a:ln>
        </p:spPr>
        <p:txBody>
          <a:bodyPr wrap="square" lIns="180000" tIns="180000" rIns="180000" bIns="18000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3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This is a sample quote slide with photo. Type your quotation inside the quotation marks. Click the edge of the quotation marks and drag them into place.</a:t>
            </a:r>
          </a:p>
        </p:txBody>
      </p:sp>
      <p:sp>
        <p:nvSpPr>
          <p:cNvPr id="11" name="Text Placeholder 5"/>
          <p:cNvSpPr>
            <a:spLocks noGrp="1" noChangeAspect="1"/>
          </p:cNvSpPr>
          <p:nvPr userDrawn="1">
            <p:ph type="body" sz="quarter" idx="18"/>
          </p:nvPr>
        </p:nvSpPr>
        <p:spPr>
          <a:xfrm>
            <a:off x="827584" y="771550"/>
            <a:ext cx="387706" cy="279113"/>
          </a:xfrm>
          <a:blipFill>
            <a:blip r:embed="rId3" cstate="print"/>
            <a:stretch>
              <a:fillRect/>
            </a:stretch>
          </a:blipFill>
        </p:spPr>
        <p:txBody>
          <a:bodyPr>
            <a:normAutofit/>
          </a:bodyPr>
          <a:lstStyle>
            <a:lvl1pPr>
              <a:buFont typeface="Arial" pitchFamily="34" charset="0"/>
              <a:buChar char="•"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/>
          <p:cNvSpPr>
            <a:spLocks noGrp="1" noChangeAspect="1"/>
          </p:cNvSpPr>
          <p:nvPr userDrawn="1">
            <p:ph type="body" sz="quarter" idx="19"/>
          </p:nvPr>
        </p:nvSpPr>
        <p:spPr>
          <a:xfrm>
            <a:off x="5436096" y="3075806"/>
            <a:ext cx="387706" cy="279113"/>
          </a:xfrm>
          <a:blipFill>
            <a:blip r:embed="rId4" cstate="print"/>
            <a:stretch>
              <a:fillRect/>
            </a:stretch>
          </a:blipFill>
        </p:spPr>
        <p:txBody>
          <a:bodyPr>
            <a:normAutofit/>
          </a:bodyPr>
          <a:lstStyle>
            <a:lvl1pPr>
              <a:buFont typeface="Arial" pitchFamily="34" charset="0"/>
              <a:buChar char="•"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w/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 descr="newnew_16：9-28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Picture Placeholder 26"/>
          <p:cNvSpPr>
            <a:spLocks noGrp="1"/>
          </p:cNvSpPr>
          <p:nvPr>
            <p:ph type="pic" sz="quarter" idx="16" hasCustomPrompt="1"/>
          </p:nvPr>
        </p:nvSpPr>
        <p:spPr>
          <a:xfrm>
            <a:off x="381000" y="195486"/>
            <a:ext cx="3182888" cy="3600400"/>
          </a:xfrm>
          <a:prstGeom prst="roundRect">
            <a:avLst>
              <a:gd name="adj" fmla="val 6273"/>
            </a:avLst>
          </a:prstGeom>
          <a:ln w="12700">
            <a:solidFill>
              <a:schemeClr val="bg2"/>
            </a:solidFill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Photo Here</a:t>
            </a:r>
          </a:p>
        </p:txBody>
      </p:sp>
      <p:sp>
        <p:nvSpPr>
          <p:cNvPr id="8" name="Text Placeholder 24"/>
          <p:cNvSpPr>
            <a:spLocks noGrp="1"/>
          </p:cNvSpPr>
          <p:nvPr>
            <p:ph type="body" sz="quarter" idx="15" hasCustomPrompt="1"/>
          </p:nvPr>
        </p:nvSpPr>
        <p:spPr>
          <a:xfrm>
            <a:off x="395536" y="3939902"/>
            <a:ext cx="3221292" cy="558062"/>
          </a:xfrm>
        </p:spPr>
        <p:txBody>
          <a:bodyPr/>
          <a:lstStyle>
            <a:lvl1pPr marL="0" indent="0">
              <a:buNone/>
              <a:defRPr sz="1800" b="1" i="1" baseline="0">
                <a:solidFill>
                  <a:schemeClr val="tx1"/>
                </a:solidFill>
              </a:defRPr>
            </a:lvl1pPr>
            <a:lvl2pPr>
              <a:buNone/>
              <a:defRPr sz="2000" b="1" i="1">
                <a:solidFill>
                  <a:srgbClr val="678BA8"/>
                </a:solidFill>
              </a:defRPr>
            </a:lvl2pPr>
            <a:lvl3pPr>
              <a:buNone/>
              <a:defRPr sz="2000" b="1" i="1">
                <a:solidFill>
                  <a:srgbClr val="678BA8"/>
                </a:solidFill>
              </a:defRPr>
            </a:lvl3pPr>
            <a:lvl4pPr>
              <a:buNone/>
              <a:defRPr sz="2000" b="1" i="1">
                <a:solidFill>
                  <a:srgbClr val="678BA8"/>
                </a:solidFill>
              </a:defRPr>
            </a:lvl4pPr>
            <a:lvl5pPr>
              <a:buNone/>
              <a:defRPr sz="2000" b="1" i="1">
                <a:solidFill>
                  <a:srgbClr val="678BA8"/>
                </a:solidFill>
              </a:defRPr>
            </a:lvl5pPr>
          </a:lstStyle>
          <a:p>
            <a:pPr lvl="0"/>
            <a:r>
              <a:rPr lang="en-US" dirty="0"/>
              <a:t>Name of Person Quoted,</a:t>
            </a:r>
            <a:br>
              <a:rPr lang="en-US" dirty="0"/>
            </a:br>
            <a:r>
              <a:rPr lang="en-US" dirty="0"/>
              <a:t>XYZ Company</a:t>
            </a:r>
          </a:p>
        </p:txBody>
      </p:sp>
      <p:sp>
        <p:nvSpPr>
          <p:cNvPr id="7" name="Text Placehold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4139952" y="9351"/>
            <a:ext cx="5004048" cy="4483618"/>
          </a:xfrm>
          <a:noFill/>
          <a:ln w="127000" cmpd="thickThin">
            <a:noFill/>
          </a:ln>
        </p:spPr>
        <p:txBody>
          <a:bodyPr wrap="square" lIns="180000" tIns="180000" rIns="180000" bIns="180000">
            <a:spAutoFit/>
          </a:bodyPr>
          <a:lstStyle>
            <a:lvl1pPr marL="0" indent="0">
              <a:lnSpc>
                <a:spcPct val="120000"/>
              </a:lnSpc>
              <a:spcAft>
                <a:spcPts val="0"/>
              </a:spcAft>
              <a:buNone/>
              <a:defRPr sz="3200" baseline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This is a sample quote slide with photo. Type your quotation inside the quotation marks. Click the edge of the quotation marks and drag them into place.</a:t>
            </a:r>
          </a:p>
        </p:txBody>
      </p:sp>
      <p:sp>
        <p:nvSpPr>
          <p:cNvPr id="10" name="Text Placeholder 5"/>
          <p:cNvSpPr>
            <a:spLocks noGrp="1" noChangeAspect="1"/>
          </p:cNvSpPr>
          <p:nvPr userDrawn="1">
            <p:ph type="body" sz="quarter" idx="18"/>
          </p:nvPr>
        </p:nvSpPr>
        <p:spPr>
          <a:xfrm>
            <a:off x="3779912" y="267494"/>
            <a:ext cx="387706" cy="332955"/>
          </a:xfrm>
          <a:blipFill>
            <a:blip r:embed="rId3" cstate="print"/>
            <a:stretch>
              <a:fillRect/>
            </a:stretch>
          </a:blipFill>
        </p:spPr>
        <p:txBody>
          <a:bodyPr>
            <a:normAutofit/>
          </a:bodyPr>
          <a:lstStyle>
            <a:lvl1pPr>
              <a:buFont typeface="Arial" pitchFamily="34" charset="0"/>
              <a:buChar char="•"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5"/>
          <p:cNvSpPr>
            <a:spLocks noGrp="1" noChangeAspect="1"/>
          </p:cNvSpPr>
          <p:nvPr userDrawn="1">
            <p:ph type="body" sz="quarter" idx="19"/>
          </p:nvPr>
        </p:nvSpPr>
        <p:spPr>
          <a:xfrm>
            <a:off x="8532440" y="3867894"/>
            <a:ext cx="387706" cy="288032"/>
          </a:xfrm>
          <a:blipFill>
            <a:blip r:embed="rId4" cstate="print"/>
            <a:stretch>
              <a:fillRect/>
            </a:stretch>
          </a:blipFill>
        </p:spPr>
        <p:txBody>
          <a:bodyPr>
            <a:normAutofit/>
          </a:bodyPr>
          <a:lstStyle>
            <a:lvl1pPr>
              <a:buFont typeface="Arial" pitchFamily="34" charset="0"/>
              <a:buChar char="•"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323528" y="4803998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7"/>
          <p:cNvSpPr txBox="1"/>
          <p:nvPr userDrawn="1"/>
        </p:nvSpPr>
        <p:spPr>
          <a:xfrm>
            <a:off x="3131840" y="4767439"/>
            <a:ext cx="2880000" cy="360000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algn="ctr" defTabSz="914400" rtl="0" eaLnBrk="1" latinLnBrk="0" hangingPunct="1"/>
            <a:r>
              <a:rPr lang="en-US" sz="1200" b="0" kern="1200" dirty="0">
                <a:solidFill>
                  <a:srgbClr val="757575"/>
                </a:solidFill>
                <a:latin typeface="+mn-lt"/>
                <a:ea typeface="+mn-ea"/>
                <a:cs typeface="+mn-cs"/>
              </a:rPr>
              <a:t>Confidential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newnew_16：9-30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26447" cy="5143500"/>
          </a:xfrm>
          <a:prstGeom prst="rect">
            <a:avLst/>
          </a:prstGeom>
        </p:spPr>
      </p:pic>
      <p:sp>
        <p:nvSpPr>
          <p:cNvPr id="5" name="TextBox 7"/>
          <p:cNvSpPr txBox="1"/>
          <p:nvPr userDrawn="1"/>
        </p:nvSpPr>
        <p:spPr>
          <a:xfrm>
            <a:off x="683568" y="4854276"/>
            <a:ext cx="2880000" cy="28803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dirty="0">
                <a:solidFill>
                  <a:schemeClr val="tx2"/>
                </a:solidFill>
              </a:rPr>
              <a:t>© </a:t>
            </a:r>
            <a:r>
              <a:rPr lang="en-US" altLang="zh-TW" sz="1200" dirty="0" err="1">
                <a:solidFill>
                  <a:schemeClr val="tx2"/>
                </a:solidFill>
              </a:rPr>
              <a:t>Moxa</a:t>
            </a:r>
            <a:r>
              <a:rPr lang="en-US" altLang="zh-TW" sz="1200" dirty="0">
                <a:solidFill>
                  <a:schemeClr val="tx2"/>
                </a:solidFill>
              </a:rPr>
              <a:t> Inc. All rights reserved.</a:t>
            </a:r>
          </a:p>
        </p:txBody>
      </p:sp>
      <p:sp>
        <p:nvSpPr>
          <p:cNvPr id="6" name="TextBox 7"/>
          <p:cNvSpPr txBox="1"/>
          <p:nvPr userDrawn="1"/>
        </p:nvSpPr>
        <p:spPr>
          <a:xfrm>
            <a:off x="5652120" y="1635646"/>
            <a:ext cx="3456384" cy="648072"/>
          </a:xfrm>
          <a:prstGeom prst="rect">
            <a:avLst/>
          </a:prstGeom>
          <a:noFill/>
          <a:ln>
            <a:noFill/>
          </a:ln>
        </p:spPr>
        <p:txBody>
          <a:bodyPr wrap="none" rtlCol="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lang="en-US" altLang="zh-TW" sz="4800" b="1" dirty="0">
                <a:solidFill>
                  <a:srgbClr val="008787"/>
                </a:solidFill>
              </a:rPr>
              <a:t>Thank You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467544" y="4836189"/>
            <a:ext cx="50405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667F76-A388-464C-982A-D3F7033E0B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836189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8" r:id="rId2"/>
    <p:sldLayoutId id="2147483689" r:id="rId3"/>
    <p:sldLayoutId id="2147483677" r:id="rId4"/>
    <p:sldLayoutId id="2147483678" r:id="rId5"/>
    <p:sldLayoutId id="2147483679" r:id="rId6"/>
    <p:sldLayoutId id="2147483680" r:id="rId7"/>
    <p:sldLayoutId id="2147483690" r:id="rId8"/>
    <p:sldLayoutId id="2147483682" r:id="rId9"/>
    <p:sldLayoutId id="2147483683" r:id="rId10"/>
    <p:sldLayoutId id="2147483685" r:id="rId11"/>
    <p:sldLayoutId id="2147483687" r:id="rId12"/>
    <p:sldLayoutId id="2147483686" r:id="rId13"/>
    <p:sldLayoutId id="2147483684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4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b="1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mhqnetgitlab.moxa.com/LinuxFramework/3rdparty_net_snmp/commits/289-read-oid-enhancement" TargetMode="Externa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://mhqnetrelease.moxa.com/Test_Develop/EDS-G4000/FWR/v3.0_2022_0803_1250/FWR_EDS-G4000_v3.0_2022_0803_1250.rom" TargetMode="Externa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kumimoji="1" lang="en-US" altLang="zh-TW" sz="2800" dirty="0"/>
              <a:t>SNMP Read OID Enhancement</a:t>
            </a:r>
            <a:endParaRPr kumimoji="1" lang="zh-TW" altLang="en-US" sz="2800" dirty="0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AA9506-82E7-E6C5-6476-F6D8B91C9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270923-6C76-FA60-F73A-FE514CF2B6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A844EA1-0CEC-A2F6-A31D-96882F88D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7309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15E4426E-11AD-B830-0D75-0AE7CE5CAD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Goal</a:t>
            </a:r>
          </a:p>
          <a:p>
            <a:r>
              <a:rPr lang="en-US" altLang="zh-TW" dirty="0"/>
              <a:t>Scope</a:t>
            </a:r>
          </a:p>
          <a:p>
            <a:r>
              <a:rPr lang="en-US" altLang="zh-TW" dirty="0"/>
              <a:t>Develop</a:t>
            </a:r>
          </a:p>
          <a:p>
            <a:r>
              <a:rPr lang="en-US" altLang="zh-TW" dirty="0"/>
              <a:t>Test &amp; Result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6B831553-981C-1143-6B44-B799AA0B2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5DB79E5-6567-E3B9-FBC5-54B7BB43E2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35226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33D932E-F2D8-60ED-810E-5124E784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改善 </a:t>
            </a:r>
            <a:r>
              <a:rPr lang="en-US" altLang="zh-TW" dirty="0"/>
              <a:t>SNMP Read OID </a:t>
            </a:r>
            <a:r>
              <a:rPr lang="zh-TW" altLang="en-US" dirty="0"/>
              <a:t>的效率</a:t>
            </a:r>
            <a:endParaRPr lang="en-US" altLang="zh-TW" dirty="0"/>
          </a:p>
          <a:p>
            <a:pPr lvl="1"/>
            <a:r>
              <a:rPr lang="zh-TW" altLang="en-US" dirty="0"/>
              <a:t>以 </a:t>
            </a:r>
            <a:r>
              <a:rPr lang="en-US" altLang="zh-TW" dirty="0">
                <a:highlight>
                  <a:srgbClr val="FFFF00"/>
                </a:highlight>
              </a:rPr>
              <a:t>SNMP Proxy </a:t>
            </a:r>
            <a:r>
              <a:rPr lang="zh-TW" altLang="en-US" dirty="0"/>
              <a:t>進行修改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FA384B0-8DCF-842A-E87D-48CC58E1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Goal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D60AD3-4FA3-15C4-7E3D-118237285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619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73656B19-085D-338E-77F9-9676A424F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Scope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E22D856-C7F3-8DAF-9279-FAA4277CCF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F8411A1-C510-612B-AB1C-332220F5D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566737"/>
            <a:ext cx="4038600" cy="4010025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8D61C9D-6295-47FF-07DD-13B214937659}"/>
              </a:ext>
            </a:extLst>
          </p:cNvPr>
          <p:cNvSpPr txBox="1"/>
          <p:nvPr/>
        </p:nvSpPr>
        <p:spPr>
          <a:xfrm>
            <a:off x="1331640" y="2211710"/>
            <a:ext cx="1152128" cy="3077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>
                <a:highlight>
                  <a:srgbClr val="00FFFF"/>
                </a:highlight>
              </a:rPr>
              <a:t>proxy</a:t>
            </a:r>
            <a:endParaRPr lang="zh-TW" altLang="en-US" sz="1400" dirty="0">
              <a:highlight>
                <a:srgbClr val="00FFFF"/>
              </a:highlight>
            </a:endParaRP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C6EDF7DE-64BD-662A-A5A2-901BCD18E70A}"/>
              </a:ext>
            </a:extLst>
          </p:cNvPr>
          <p:cNvCxnSpPr>
            <a:cxnSpLocks/>
            <a:endCxn id="7" idx="0"/>
          </p:cNvCxnSpPr>
          <p:nvPr/>
        </p:nvCxnSpPr>
        <p:spPr>
          <a:xfrm flipH="1">
            <a:off x="1907704" y="1498476"/>
            <a:ext cx="864096" cy="713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F58EBBE9-89FC-6F27-6DF5-038F7DC60888}"/>
              </a:ext>
            </a:extLst>
          </p:cNvPr>
          <p:cNvCxnSpPr>
            <a:stCxn id="7" idx="2"/>
          </p:cNvCxnSpPr>
          <p:nvPr/>
        </p:nvCxnSpPr>
        <p:spPr>
          <a:xfrm>
            <a:off x="1907704" y="2519487"/>
            <a:ext cx="792088" cy="15644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06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AAF00C3-E256-EC42-C126-F8D7992FBA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 </a:t>
            </a:r>
            <a:r>
              <a:rPr lang="en-US" altLang="zh-TW" dirty="0" err="1"/>
              <a:t>ies</a:t>
            </a:r>
            <a:r>
              <a:rPr lang="en-US" altLang="zh-TW" dirty="0"/>
              <a:t>-auto-mibs </a:t>
            </a:r>
            <a:r>
              <a:rPr lang="zh-TW" altLang="en-US" dirty="0"/>
              <a:t>中的 </a:t>
            </a:r>
            <a:r>
              <a:rPr lang="en-US" altLang="zh-TW" dirty="0">
                <a:highlight>
                  <a:srgbClr val="FFFF00"/>
                </a:highlight>
              </a:rPr>
              <a:t>target </a:t>
            </a:r>
            <a:r>
              <a:rPr lang="zh-TW" altLang="en-US" dirty="0">
                <a:highlight>
                  <a:srgbClr val="FFFF00"/>
                </a:highlight>
              </a:rPr>
              <a:t>為 </a:t>
            </a:r>
            <a:r>
              <a:rPr lang="en-US" altLang="zh-TW" dirty="0">
                <a:highlight>
                  <a:srgbClr val="FFFF00"/>
                </a:highlight>
              </a:rPr>
              <a:t>ISS </a:t>
            </a:r>
            <a:r>
              <a:rPr lang="zh-TW" altLang="en-US" dirty="0"/>
              <a:t>的 </a:t>
            </a:r>
            <a:r>
              <a:rPr lang="en-US" altLang="zh-TW" dirty="0">
                <a:highlight>
                  <a:srgbClr val="FFFF00"/>
                </a:highlight>
              </a:rPr>
              <a:t>READ_ONLY </a:t>
            </a:r>
            <a:r>
              <a:rPr lang="en-US" altLang="zh-TW" dirty="0"/>
              <a:t>OIDs</a:t>
            </a:r>
            <a:r>
              <a:rPr lang="zh-TW" altLang="en-US" dirty="0"/>
              <a:t>，</a:t>
            </a:r>
            <a:r>
              <a:rPr lang="zh-TW" altLang="en-US" u="sng" dirty="0"/>
              <a:t>改成 </a:t>
            </a:r>
            <a:r>
              <a:rPr lang="en-US" altLang="zh-TW" u="sng" dirty="0"/>
              <a:t>proxy </a:t>
            </a:r>
            <a:r>
              <a:rPr lang="zh-TW" altLang="en-US" u="sng" dirty="0"/>
              <a:t>方式到 </a:t>
            </a:r>
            <a:r>
              <a:rPr lang="en-US" altLang="zh-TW" u="sng" dirty="0"/>
              <a:t>ISS </a:t>
            </a:r>
            <a:r>
              <a:rPr lang="en-US" altLang="zh-TW" u="sng" dirty="0" err="1"/>
              <a:t>snmp</a:t>
            </a:r>
            <a:r>
              <a:rPr lang="en-US" altLang="zh-TW" u="sng" dirty="0"/>
              <a:t> </a:t>
            </a:r>
            <a:r>
              <a:rPr lang="zh-TW" altLang="en-US" u="sng" dirty="0"/>
              <a:t>取值</a:t>
            </a:r>
            <a:endParaRPr lang="en-US" altLang="zh-TW" u="sng" dirty="0"/>
          </a:p>
          <a:p>
            <a:pPr lvl="1"/>
            <a:r>
              <a:rPr lang="en-US" altLang="zh-TW" sz="2000" dirty="0"/>
              <a:t>.</a:t>
            </a:r>
            <a:r>
              <a:rPr lang="en-US" altLang="zh-TW" sz="2000" dirty="0" err="1"/>
              <a:t>Iss_build</a:t>
            </a:r>
            <a:r>
              <a:rPr lang="en-US" altLang="zh-TW" sz="2000" dirty="0"/>
              <a:t> = 1 &amp;&amp; .mode =  HANDLER_CAN_RONLY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31EEA83E-5DB3-193A-8982-DA841821BD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Scope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3688DC4-A41A-42A9-F71F-B4758455B4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878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33D932E-F2D8-60ED-810E-5124E7845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PoC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Remove one OID from </a:t>
            </a:r>
            <a:r>
              <a:rPr lang="en-US" altLang="zh-TW" dirty="0" err="1"/>
              <a:t>ies</a:t>
            </a:r>
            <a:r>
              <a:rPr lang="en-US" altLang="zh-TW" dirty="0"/>
              <a:t>-auto-mibs, then </a:t>
            </a:r>
            <a:r>
              <a:rPr lang="en-US" altLang="zh-TW" dirty="0" err="1"/>
              <a:t>snmp</a:t>
            </a:r>
            <a:r>
              <a:rPr lang="en-US" altLang="zh-TW" dirty="0"/>
              <a:t> get failed.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Apply the OID to proxy, then </a:t>
            </a:r>
            <a:r>
              <a:rPr lang="en-US" altLang="zh-TW" dirty="0" err="1"/>
              <a:t>snmp</a:t>
            </a:r>
            <a:r>
              <a:rPr lang="en-US" altLang="zh-TW" dirty="0"/>
              <a:t> get success!</a:t>
            </a:r>
          </a:p>
          <a:p>
            <a:r>
              <a:rPr lang="zh-TW" altLang="en-US" dirty="0"/>
              <a:t>共有 </a:t>
            </a:r>
            <a:r>
              <a:rPr lang="en-US" altLang="zh-TW" u="sng" dirty="0">
                <a:highlight>
                  <a:srgbClr val="FFFF00"/>
                </a:highlight>
              </a:rPr>
              <a:t>800</a:t>
            </a:r>
            <a:r>
              <a:rPr lang="en-US" altLang="zh-TW" dirty="0"/>
              <a:t> </a:t>
            </a:r>
            <a:r>
              <a:rPr lang="zh-TW" altLang="en-US" dirty="0"/>
              <a:t>個</a:t>
            </a:r>
            <a:r>
              <a:rPr lang="en-US" altLang="zh-TW" dirty="0"/>
              <a:t>structure members </a:t>
            </a:r>
            <a:r>
              <a:rPr lang="zh-TW" altLang="en-US" dirty="0"/>
              <a:t>被篩出</a:t>
            </a:r>
            <a:endParaRPr lang="en-US" altLang="zh-TW" dirty="0"/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移除 </a:t>
            </a:r>
            <a:r>
              <a:rPr lang="en-US" altLang="zh-TW" dirty="0" err="1"/>
              <a:t>ies</a:t>
            </a:r>
            <a:r>
              <a:rPr lang="en-US" altLang="zh-TW" dirty="0"/>
              <a:t>-auto-mibs</a:t>
            </a: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擷取 </a:t>
            </a:r>
            <a:r>
              <a:rPr lang="en-US" altLang="zh-TW" dirty="0" err="1"/>
              <a:t>oid</a:t>
            </a:r>
            <a:r>
              <a:rPr lang="en-US" altLang="zh-TW" dirty="0"/>
              <a:t> value(s) – </a:t>
            </a:r>
            <a:r>
              <a:rPr lang="en-US" altLang="zh-TW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</a:rPr>
              <a:t>proxy.mib</a:t>
            </a:r>
            <a:endParaRPr lang="en-US" altLang="zh-TW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  <a:p>
            <a:pPr marL="914400" lvl="1" indent="-514350">
              <a:buFont typeface="+mj-lt"/>
              <a:buAutoNum type="arabicPeriod"/>
            </a:pPr>
            <a:r>
              <a:rPr lang="zh-TW" altLang="en-US" dirty="0"/>
              <a:t>建立 </a:t>
            </a:r>
            <a:r>
              <a:rPr lang="en-US" altLang="zh-TW" dirty="0" err="1"/>
              <a:t>proxy.config</a:t>
            </a:r>
            <a:r>
              <a:rPr lang="en-US" altLang="zh-TW" dirty="0"/>
              <a:t> </a:t>
            </a:r>
            <a:r>
              <a:rPr lang="zh-TW" altLang="en-US" dirty="0"/>
              <a:t>於 </a:t>
            </a: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zh-TW" altLang="en-US" dirty="0"/>
              <a:t>啟動時載入</a:t>
            </a:r>
            <a:endParaRPr lang="en-US" altLang="zh-TW" dirty="0"/>
          </a:p>
          <a:p>
            <a:r>
              <a:rPr lang="en-US" altLang="zh-TW" dirty="0" err="1"/>
              <a:t>Branch@Package</a:t>
            </a:r>
            <a:endParaRPr lang="en-US" altLang="zh-TW" dirty="0"/>
          </a:p>
          <a:p>
            <a:pPr lvl="1"/>
            <a:r>
              <a:rPr lang="en-US" altLang="zh-TW" b="1" i="0" u="none" strike="noStrike" dirty="0">
                <a:solidFill>
                  <a:srgbClr val="1B69B6"/>
                </a:solidFill>
                <a:effectLst/>
                <a:latin typeface="Menlo"/>
                <a:hlinkClick r:id="rId2"/>
              </a:rPr>
              <a:t>289-read-oid-enhancement</a:t>
            </a:r>
            <a:r>
              <a:rPr lang="en-US" altLang="zh-TW" b="1" i="0" u="none" strike="noStrike" dirty="0">
                <a:solidFill>
                  <a:srgbClr val="1B69B6"/>
                </a:solidFill>
                <a:effectLst/>
                <a:latin typeface="Menlo"/>
              </a:rPr>
              <a:t>@</a:t>
            </a:r>
            <a:r>
              <a:rPr lang="en-US" altLang="zh-TW" dirty="0"/>
              <a:t>3rdparty_net_snmp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FA384B0-8DCF-842A-E87D-48CC58E11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Develop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D60AD3-4FA3-15C4-7E3D-118237285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462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92D184-17C2-B9F0-802E-2CDAE5B24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21EEF54-B33E-4F27-7ACD-497FD98D30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51470"/>
            <a:ext cx="6321082" cy="4627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4746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1F1E40-C67F-A75E-14B4-50BD35567D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342B7C-F8A7-461A-9941-6DBECD486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9832" y="87478"/>
            <a:ext cx="2959946" cy="4782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6339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469ABE4F-1CCF-3AC1-F1EC-84E3B06A11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zh-TW" dirty="0" err="1"/>
              <a:t>snmpwalk</a:t>
            </a:r>
            <a:r>
              <a:rPr lang="en-US" altLang="zh-TW" dirty="0"/>
              <a:t> </a:t>
            </a:r>
            <a:r>
              <a:rPr lang="en-US" altLang="zh-TW" dirty="0" err="1"/>
              <a:t>Proxy.mib</a:t>
            </a:r>
            <a:endParaRPr lang="en-US" altLang="zh-TW" dirty="0"/>
          </a:p>
          <a:p>
            <a:pPr marL="914400" lvl="1" indent="-514350"/>
            <a:r>
              <a:rPr lang="en-US" altLang="zh-TW" dirty="0"/>
              <a:t>Miss</a:t>
            </a:r>
          </a:p>
          <a:p>
            <a:pPr marL="914400" lvl="1" indent="-514350"/>
            <a:r>
              <a:rPr lang="en-US" altLang="zh-TW" dirty="0"/>
              <a:t>Hit  (To-Be-Test!)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err="1"/>
              <a:t>MxView</a:t>
            </a:r>
            <a:r>
              <a:rPr lang="en-US" altLang="zh-TW" dirty="0"/>
              <a:t> Test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err="1"/>
              <a:t>snmpwalk</a:t>
            </a:r>
            <a:r>
              <a:rPr lang="en-US" altLang="zh-TW" dirty="0"/>
              <a:t>  1.3.6.1.4 (private)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err="1"/>
              <a:t>snmpwalk</a:t>
            </a:r>
            <a:r>
              <a:rPr lang="en-US" altLang="zh-TW" dirty="0"/>
              <a:t> 1.3.6.1.2 (</a:t>
            </a:r>
            <a:r>
              <a:rPr lang="en-US" altLang="zh-TW" dirty="0" err="1"/>
              <a:t>mgmt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51045F4-B1F4-908A-08D2-27E3AAF11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Test &amp; Result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4EA41D0-66C8-1101-0C0A-42F6620F78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9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6F71B62-CAAC-E7BA-F71A-0B8E27A0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Test &amp; Result – 1. </a:t>
            </a:r>
            <a:r>
              <a:rPr lang="en-US" altLang="zh-TW" dirty="0" err="1"/>
              <a:t>snmpwalk</a:t>
            </a:r>
            <a:r>
              <a:rPr lang="en-US" altLang="zh-TW" dirty="0"/>
              <a:t> </a:t>
            </a:r>
            <a:r>
              <a:rPr lang="en-US" altLang="zh-TW" dirty="0" err="1"/>
              <a:t>proxy_hit.mib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9B1A81-7DE4-6491-4AE5-5A85012A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D4C62D5-DDF3-A2DA-81E5-D7A7339CA2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920008"/>
            <a:ext cx="8100392" cy="3688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9268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6F71B62-CAAC-E7BA-F71A-0B8E27A0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Test &amp; Result – 1. </a:t>
            </a:r>
            <a:r>
              <a:rPr lang="en-US" altLang="zh-TW" dirty="0" err="1"/>
              <a:t>snmpwalk</a:t>
            </a:r>
            <a:r>
              <a:rPr lang="en-US" altLang="zh-TW" dirty="0"/>
              <a:t> </a:t>
            </a:r>
            <a:r>
              <a:rPr lang="en-US" altLang="zh-TW" dirty="0" err="1"/>
              <a:t>proxy_hit.mib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9B1A81-7DE4-6491-4AE5-5A85012A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內容版面配置區 1">
            <a:extLst>
              <a:ext uri="{FF2B5EF4-FFF2-40B4-BE49-F238E27FC236}">
                <a16:creationId xmlns:a16="http://schemas.microsoft.com/office/drawing/2014/main" id="{B0BC39ED-56F5-7256-47A1-D1125D887C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200151"/>
            <a:ext cx="8568952" cy="3394472"/>
          </a:xfrm>
        </p:spPr>
        <p:txBody>
          <a:bodyPr/>
          <a:lstStyle/>
          <a:p>
            <a:r>
              <a:rPr lang="en-US" altLang="zh-TW" dirty="0"/>
              <a:t>Hit check</a:t>
            </a:r>
          </a:p>
          <a:p>
            <a:pPr lvl="1"/>
            <a:r>
              <a:rPr lang="en-US" altLang="zh-TW" dirty="0"/>
              <a:t>OK</a:t>
            </a:r>
          </a:p>
          <a:p>
            <a:r>
              <a:rPr lang="en-US" altLang="zh-TW" dirty="0"/>
              <a:t>Content Check</a:t>
            </a:r>
          </a:p>
          <a:p>
            <a:pPr lvl="1"/>
            <a:r>
              <a:rPr lang="en-US" altLang="zh-TW" u="sng" dirty="0"/>
              <a:t>in progress</a:t>
            </a:r>
          </a:p>
          <a:p>
            <a:r>
              <a:rPr lang="en-US" altLang="zh-TW" dirty="0"/>
              <a:t>Short Summary</a:t>
            </a:r>
          </a:p>
          <a:p>
            <a:pPr lvl="1"/>
            <a:r>
              <a:rPr lang="zh-TW" altLang="en-US" dirty="0"/>
              <a:t>導入 </a:t>
            </a:r>
            <a:r>
              <a:rPr lang="en-US" altLang="zh-TW" dirty="0"/>
              <a:t>proxy </a:t>
            </a:r>
            <a:r>
              <a:rPr lang="zh-TW" altLang="en-US" dirty="0"/>
              <a:t>之後，原本讀得到內容的 </a:t>
            </a:r>
            <a:r>
              <a:rPr lang="en-US" altLang="zh-TW" dirty="0"/>
              <a:t>OID</a:t>
            </a:r>
            <a:r>
              <a:rPr lang="zh-TW" altLang="en-US" dirty="0"/>
              <a:t>，導入後也是讀的到。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27000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6F71B62-CAAC-E7BA-F71A-0B8E27A0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Test &amp; Result – 2. </a:t>
            </a:r>
            <a:r>
              <a:rPr lang="en-US" altLang="zh-TW" dirty="0" err="1"/>
              <a:t>MxView</a:t>
            </a:r>
            <a:r>
              <a:rPr lang="en-US" altLang="zh-TW" dirty="0"/>
              <a:t> Test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9B1A81-7DE4-6491-4AE5-5A85012A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36ADF9-76CB-7E37-424D-28E7C26E86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60637" y="1563687"/>
            <a:ext cx="4095750" cy="2667000"/>
          </a:xfrm>
        </p:spPr>
      </p:pic>
    </p:spTree>
    <p:extLst>
      <p:ext uri="{BB962C8B-B14F-4D97-AF65-F5344CB8AC3E}">
        <p14:creationId xmlns:p14="http://schemas.microsoft.com/office/powerpoint/2010/main" val="39953758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AA2002B-15EE-E56B-6A76-E46C418D1F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D20C0A-DBDB-1345-3776-BC33CCFA2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167" y="0"/>
            <a:ext cx="4587038" cy="2489448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108332A-6C7C-AE75-9BBC-313552531E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123478"/>
            <a:ext cx="4308655" cy="231209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DA1B918-DADE-3BBF-F968-8F8AA2D94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5337" y="2435572"/>
            <a:ext cx="4678548" cy="258445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BD0B3A4F-ACFF-B228-6E10-31D29BE51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949" y="2547676"/>
            <a:ext cx="4310403" cy="2472346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2E04A348-AAB4-FE2A-5941-668F10DC7BEA}"/>
              </a:ext>
            </a:extLst>
          </p:cNvPr>
          <p:cNvSpPr txBox="1"/>
          <p:nvPr/>
        </p:nvSpPr>
        <p:spPr>
          <a:xfrm>
            <a:off x="2123727" y="-21888"/>
            <a:ext cx="118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251(after)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394D46D9-1288-F7B6-E523-5DF36F04E1F8}"/>
              </a:ext>
            </a:extLst>
          </p:cNvPr>
          <p:cNvSpPr txBox="1"/>
          <p:nvPr/>
        </p:nvSpPr>
        <p:spPr>
          <a:xfrm>
            <a:off x="6552220" y="-61188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252(before)</a:t>
            </a:r>
            <a:endParaRPr lang="zh-TW" altLang="en-US" dirty="0"/>
          </a:p>
        </p:txBody>
      </p: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E9C56263-5674-2AFA-8ACE-292D9EEE589B}"/>
              </a:ext>
            </a:extLst>
          </p:cNvPr>
          <p:cNvCxnSpPr/>
          <p:nvPr/>
        </p:nvCxnSpPr>
        <p:spPr>
          <a:xfrm>
            <a:off x="4435337" y="0"/>
            <a:ext cx="40015" cy="5143500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86518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A1BF2172-51C8-93C7-07C1-A46E0611E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0C7217F-3AD8-E511-FA26-8DCAF4328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339502"/>
            <a:ext cx="2689195" cy="48039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981CAD0-D53B-A387-F913-CF2D28EC1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010" y="331128"/>
            <a:ext cx="2702249" cy="4803998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C5667B60-91E0-3D7B-732E-E7EE92896E3B}"/>
              </a:ext>
            </a:extLst>
          </p:cNvPr>
          <p:cNvSpPr txBox="1"/>
          <p:nvPr/>
        </p:nvSpPr>
        <p:spPr>
          <a:xfrm>
            <a:off x="2123727" y="-21888"/>
            <a:ext cx="118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251(after)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F6059B4-FD72-D1C3-74B8-5F1ACB7B3049}"/>
              </a:ext>
            </a:extLst>
          </p:cNvPr>
          <p:cNvSpPr txBox="1"/>
          <p:nvPr/>
        </p:nvSpPr>
        <p:spPr>
          <a:xfrm>
            <a:off x="5847686" y="-38204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252(before)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471957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>
            <a:extLst>
              <a:ext uri="{FF2B5EF4-FFF2-40B4-BE49-F238E27FC236}">
                <a16:creationId xmlns:a16="http://schemas.microsoft.com/office/drawing/2014/main" id="{06F71B62-CAAC-E7BA-F71A-0B8E27A0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Test &amp; Result – 2. </a:t>
            </a:r>
            <a:r>
              <a:rPr lang="en-US" altLang="zh-TW" dirty="0" err="1"/>
              <a:t>MxView</a:t>
            </a:r>
            <a:r>
              <a:rPr lang="en-US" altLang="zh-TW" dirty="0"/>
              <a:t> Test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39B1A81-7DE4-6491-4AE5-5A85012A88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F120F96-6ECE-2986-9A69-418749F89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Short Summary:</a:t>
            </a:r>
          </a:p>
          <a:p>
            <a:pPr lvl="1"/>
            <a:r>
              <a:rPr lang="zh-TW" altLang="en-US" dirty="0"/>
              <a:t>有改善，但差異長時間來看不明顯</a:t>
            </a:r>
            <a:endParaRPr lang="en-US" altLang="zh-TW" dirty="0"/>
          </a:p>
          <a:p>
            <a:pPr lvl="2"/>
            <a:r>
              <a:rPr lang="zh-TW" altLang="en-US" dirty="0"/>
              <a:t>需要進行多測其他項目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09167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0628A29-36A1-3BEC-72C2-D5F97D64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758EE9D-F798-98F1-9B62-5287484F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Test &amp; Result – 3. </a:t>
            </a:r>
            <a:r>
              <a:rPr lang="en-US" altLang="zh-TW" sz="2800" dirty="0" err="1"/>
              <a:t>snmpwalk</a:t>
            </a:r>
            <a:r>
              <a:rPr lang="en-US" altLang="zh-TW" sz="2800" dirty="0"/>
              <a:t> 1.3.6.1.4 (private) 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50710-8B38-09C3-9F71-F435F7C49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A299D49-1C80-B9BB-D660-71CCB784E0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820850"/>
            <a:ext cx="8028384" cy="3983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9043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0628A29-36A1-3BEC-72C2-D5F97D64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758EE9D-F798-98F1-9B62-5287484F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Test &amp; Result – 3. </a:t>
            </a:r>
            <a:r>
              <a:rPr lang="en-US" altLang="zh-TW" sz="2800" dirty="0" err="1"/>
              <a:t>snmpwalk</a:t>
            </a:r>
            <a:r>
              <a:rPr lang="en-US" altLang="zh-TW" sz="2800" dirty="0"/>
              <a:t> 1.3.6.1.2 (</a:t>
            </a:r>
            <a:r>
              <a:rPr lang="en-US" altLang="zh-TW" sz="2800" dirty="0" err="1"/>
              <a:t>mgmt</a:t>
            </a:r>
            <a:r>
              <a:rPr lang="en-US" altLang="zh-TW" sz="2800" dirty="0"/>
              <a:t>) 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50710-8B38-09C3-9F71-F435F7C49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C4EE686-262E-CE23-0A31-50BD09A766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01" y="931801"/>
            <a:ext cx="9002598" cy="400911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7EB364C2-EA29-A2F6-9562-C440564D6EED}"/>
              </a:ext>
            </a:extLst>
          </p:cNvPr>
          <p:cNvSpPr txBox="1"/>
          <p:nvPr/>
        </p:nvSpPr>
        <p:spPr>
          <a:xfrm>
            <a:off x="1979712" y="633204"/>
            <a:ext cx="118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251(after)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488C06E-1FDA-EE40-F2F8-3F807655002B}"/>
              </a:ext>
            </a:extLst>
          </p:cNvPr>
          <p:cNvSpPr txBox="1"/>
          <p:nvPr/>
        </p:nvSpPr>
        <p:spPr>
          <a:xfrm>
            <a:off x="5703671" y="616888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252(before)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898727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0628A29-36A1-3BEC-72C2-D5F97D64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758EE9D-F798-98F1-9B62-5287484F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Test &amp; Result – 3. </a:t>
            </a:r>
            <a:r>
              <a:rPr lang="en-US" altLang="zh-TW" sz="2800" dirty="0" err="1"/>
              <a:t>snmpwalk</a:t>
            </a:r>
            <a:r>
              <a:rPr lang="en-US" altLang="zh-TW" sz="2800" dirty="0"/>
              <a:t> 1.3.6.1.2 (</a:t>
            </a:r>
            <a:r>
              <a:rPr lang="en-US" altLang="zh-TW" sz="2800" dirty="0" err="1"/>
              <a:t>mgmt</a:t>
            </a:r>
            <a:r>
              <a:rPr lang="en-US" altLang="zh-TW" sz="2800" dirty="0"/>
              <a:t>) 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50710-8B38-09C3-9F71-F435F7C49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54B73C3-289A-3F92-3542-E0521B54A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5" y="1649807"/>
            <a:ext cx="4901326" cy="1236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807813F8-F872-5719-E254-45A7991AF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893" y="3156191"/>
            <a:ext cx="8188278" cy="1673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8F37E6AE-04AB-5C11-7E41-A45748BA5D08}"/>
              </a:ext>
            </a:extLst>
          </p:cNvPr>
          <p:cNvSpPr txBox="1"/>
          <p:nvPr/>
        </p:nvSpPr>
        <p:spPr>
          <a:xfrm>
            <a:off x="1835696" y="1226409"/>
            <a:ext cx="11841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251(after)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2C51B51-2EAE-C1FA-2433-592069A469DB}"/>
              </a:ext>
            </a:extLst>
          </p:cNvPr>
          <p:cNvSpPr txBox="1"/>
          <p:nvPr/>
        </p:nvSpPr>
        <p:spPr>
          <a:xfrm>
            <a:off x="6372200" y="2593196"/>
            <a:ext cx="1332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252(before)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201961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80628A29-36A1-3BEC-72C2-D5F97D6435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2758EE9D-F798-98F1-9B62-5287484FD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2800" dirty="0"/>
              <a:t>Discuss</a:t>
            </a:r>
            <a:endParaRPr lang="zh-TW" altLang="en-US" sz="2800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3050710-8B38-09C3-9F71-F435F7C49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657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2259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kumimoji="1" lang="en-US" altLang="zh-TW" sz="2800" dirty="0"/>
              <a:t>SNMP Read OID Enhancement-</a:t>
            </a:r>
            <a:br>
              <a:rPr kumimoji="1" lang="en-US" altLang="zh-TW" sz="2800" dirty="0"/>
            </a:br>
            <a:r>
              <a:rPr kumimoji="1" lang="en-US" altLang="zh-TW" sz="2800" dirty="0"/>
              <a:t>part 2</a:t>
            </a:r>
            <a:endParaRPr kumimoji="1" lang="zh-TW" altLang="en-US" sz="2800" dirty="0"/>
          </a:p>
        </p:txBody>
      </p:sp>
      <p:sp>
        <p:nvSpPr>
          <p:cNvPr id="12" name="文字版面配置區 11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5AA9506-82E7-E6C5-6476-F6D8B91C901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D0270923-6C76-FA60-F73A-FE514CF2B64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2A844EA1-0CEC-A2F6-A31D-96882F88D33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639649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D880DE-FB46-9596-85EF-95121E63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/>
              <a:t>導入 </a:t>
            </a:r>
            <a:r>
              <a:rPr lang="en-US" altLang="zh-TW" dirty="0"/>
              <a:t>proxy: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Walk </a:t>
            </a:r>
            <a:r>
              <a:rPr lang="en-US" altLang="zh-TW" dirty="0" err="1"/>
              <a:t>snmp</a:t>
            </a:r>
            <a:r>
              <a:rPr lang="en-US" altLang="zh-TW" dirty="0"/>
              <a:t> tree (e.g., 1.3.6.1.2)</a:t>
            </a:r>
            <a:r>
              <a:rPr lang="zh-TW" altLang="en-US" dirty="0"/>
              <a:t>有缺漏</a:t>
            </a: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/>
              <a:t>R/W </a:t>
            </a:r>
            <a:r>
              <a:rPr lang="en-US" altLang="zh-TW" dirty="0" err="1"/>
              <a:t>oid</a:t>
            </a:r>
            <a:r>
              <a:rPr lang="en-US" altLang="zh-TW" dirty="0"/>
              <a:t> </a:t>
            </a:r>
            <a:r>
              <a:rPr lang="zh-TW" altLang="en-US" dirty="0"/>
              <a:t>於現在架構無法採行 </a:t>
            </a:r>
            <a:r>
              <a:rPr lang="en-US" altLang="zh-TW" dirty="0"/>
              <a:t>proxy</a:t>
            </a:r>
          </a:p>
          <a:p>
            <a:r>
              <a:rPr lang="zh-TW" altLang="en-US" dirty="0"/>
              <a:t>嘗試解決</a:t>
            </a: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SNMP-PROXY-MIB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Hack net </a:t>
            </a:r>
            <a:r>
              <a:rPr lang="en-US" altLang="zh-TW" b="0" dirty="0" err="1">
                <a:solidFill>
                  <a:srgbClr val="1A0DAB"/>
                </a:solidFill>
                <a:latin typeface="arial" panose="020B0604020202020204" pitchFamily="34" charset="0"/>
              </a:rPr>
              <a:t>snmp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: </a:t>
            </a:r>
            <a:r>
              <a:rPr lang="zh-TW" altLang="en-US" b="0" dirty="0">
                <a:solidFill>
                  <a:srgbClr val="1A0DAB"/>
                </a:solidFill>
                <a:latin typeface="arial" panose="020B0604020202020204" pitchFamily="34" charset="0"/>
              </a:rPr>
              <a:t>判斷 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type </a:t>
            </a:r>
            <a:r>
              <a:rPr lang="zh-TW" altLang="en-US" b="0" dirty="0">
                <a:solidFill>
                  <a:srgbClr val="1A0DAB"/>
                </a:solidFill>
                <a:latin typeface="arial" panose="020B0604020202020204" pitchFamily="34" charset="0"/>
              </a:rPr>
              <a:t>以選擇 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proxy or </a:t>
            </a:r>
            <a:r>
              <a:rPr lang="en-US" altLang="zh-TW" b="0" dirty="0" err="1">
                <a:solidFill>
                  <a:srgbClr val="1A0DAB"/>
                </a:solidFill>
                <a:latin typeface="arial" panose="020B0604020202020204" pitchFamily="34" charset="0"/>
              </a:rPr>
              <a:t>ies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-auto-mib</a:t>
            </a:r>
          </a:p>
          <a:p>
            <a:r>
              <a:rPr lang="en-US" altLang="zh-TW" dirty="0"/>
              <a:t>Response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</a:p>
          <a:p>
            <a:r>
              <a:rPr lang="en-US" altLang="zh-TW" dirty="0"/>
              <a:t>Decision</a:t>
            </a:r>
          </a:p>
          <a:p>
            <a:pPr lvl="1"/>
            <a:r>
              <a:rPr lang="en-US" altLang="zh-TW" dirty="0"/>
              <a:t>If YES, our to-do-jobs are…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C66D28-E6DD-A151-4501-FD09735C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11543-2249-F7C3-676A-18AAC2E7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4434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D880DE-FB46-9596-85EF-95121E63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導入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proxy: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Walk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</a:rPr>
              <a:t>snmp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 tree (e.g., 1.3.6.1.2)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有缺漏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R/W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</a:rPr>
              <a:t>oid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於現在架構無法採行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proxy</a:t>
            </a:r>
          </a:p>
          <a:p>
            <a:r>
              <a:rPr lang="zh-TW" altLang="en-US" dirty="0"/>
              <a:t>嘗試解決</a:t>
            </a:r>
            <a:endParaRPr lang="en-US" altLang="zh-TW" dirty="0"/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SNMP-PROXY-MIB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Hack net </a:t>
            </a:r>
            <a:r>
              <a:rPr lang="en-US" altLang="zh-TW" b="0" dirty="0" err="1">
                <a:solidFill>
                  <a:srgbClr val="1A0DAB"/>
                </a:solidFill>
                <a:latin typeface="arial" panose="020B0604020202020204" pitchFamily="34" charset="0"/>
              </a:rPr>
              <a:t>snmp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: </a:t>
            </a:r>
            <a:r>
              <a:rPr lang="zh-TW" altLang="en-US" b="0" dirty="0">
                <a:solidFill>
                  <a:srgbClr val="1A0DAB"/>
                </a:solidFill>
                <a:latin typeface="arial" panose="020B0604020202020204" pitchFamily="34" charset="0"/>
              </a:rPr>
              <a:t>判斷 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type </a:t>
            </a:r>
            <a:r>
              <a:rPr lang="zh-TW" altLang="en-US" b="0" dirty="0">
                <a:solidFill>
                  <a:srgbClr val="1A0DAB"/>
                </a:solidFill>
                <a:latin typeface="arial" panose="020B0604020202020204" pitchFamily="34" charset="0"/>
              </a:rPr>
              <a:t>以選擇 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proxy or </a:t>
            </a:r>
            <a:r>
              <a:rPr lang="en-US" altLang="zh-TW" b="0" dirty="0" err="1">
                <a:solidFill>
                  <a:srgbClr val="1A0DAB"/>
                </a:solidFill>
                <a:latin typeface="arial" panose="020B0604020202020204" pitchFamily="34" charset="0"/>
              </a:rPr>
              <a:t>ies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-auto-mib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Response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Time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Decision</a:t>
            </a:r>
          </a:p>
          <a:p>
            <a:pPr lvl="1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If YES, our to-do-jobs are…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C66D28-E6DD-A151-4501-FD09735C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11543-2249-F7C3-676A-18AAC2E7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4031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C6833B6-94CB-1F7A-0150-11FF3C589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無法解決</a:t>
            </a:r>
            <a:endParaRPr lang="en-US" altLang="zh-TW" dirty="0"/>
          </a:p>
          <a:p>
            <a:pPr lvl="1"/>
            <a:r>
              <a:rPr lang="zh-TW" altLang="en-US" dirty="0"/>
              <a:t>因為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Linux Switch </a:t>
            </a:r>
            <a:r>
              <a:rPr lang="zh-TW" altLang="en-US" dirty="0"/>
              <a:t>不存在此 </a:t>
            </a:r>
            <a:r>
              <a:rPr lang="en-US" altLang="zh-TW" dirty="0"/>
              <a:t>mib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6A76F79-0537-79BA-46C6-4800AEAF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嘗試解決</a:t>
            </a:r>
            <a:r>
              <a:rPr lang="en-US" altLang="zh-TW" dirty="0"/>
              <a:t>: 1. </a:t>
            </a:r>
            <a:r>
              <a:rPr lang="en-US" altLang="zh-TW" b="0" dirty="0">
                <a:solidFill>
                  <a:srgbClr val="1A0DAB"/>
                </a:solidFill>
                <a:latin typeface="arial" panose="020B0604020202020204" pitchFamily="34" charset="0"/>
              </a:rPr>
              <a:t>SNMP-PROXY-MIB</a:t>
            </a:r>
            <a:r>
              <a:rPr lang="en-US" altLang="zh-TW" dirty="0"/>
              <a:t> 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32D5F4-B599-9332-496F-F9DDB2DC2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446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FC6833B6-94CB-1F7A-0150-11FF3C589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以現行 </a:t>
            </a:r>
            <a:r>
              <a:rPr lang="en-US" altLang="zh-TW" dirty="0"/>
              <a:t>net-</a:t>
            </a:r>
            <a:r>
              <a:rPr lang="en-US" altLang="zh-TW" dirty="0" err="1"/>
              <a:t>snmp</a:t>
            </a:r>
            <a:r>
              <a:rPr lang="en-US" altLang="zh-TW" dirty="0"/>
              <a:t> </a:t>
            </a:r>
            <a:r>
              <a:rPr lang="zh-TW" altLang="en-US" dirty="0"/>
              <a:t>無法做</a:t>
            </a:r>
            <a:endParaRPr lang="en-US" altLang="zh-TW" dirty="0"/>
          </a:p>
          <a:p>
            <a:pPr lvl="1"/>
            <a:r>
              <a:rPr lang="zh-TW" altLang="en-US" dirty="0"/>
              <a:t>因為</a:t>
            </a:r>
            <a:r>
              <a:rPr lang="en-US" altLang="zh-TW" dirty="0"/>
              <a:t>:</a:t>
            </a:r>
            <a:r>
              <a:rPr lang="zh-TW" altLang="en-US" dirty="0"/>
              <a:t> </a:t>
            </a:r>
            <a:r>
              <a:rPr lang="en-US" altLang="zh-TW" dirty="0"/>
              <a:t>Duplication is implicit ERROR.</a:t>
            </a:r>
            <a:endParaRPr lang="zh-TW" altLang="en-US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E6A76F79-0537-79BA-46C6-4800AEAF7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sz="3100" dirty="0"/>
              <a:t>嘗試解決</a:t>
            </a:r>
            <a:r>
              <a:rPr lang="en-US" altLang="zh-TW" sz="3100" dirty="0"/>
              <a:t>: 2.</a:t>
            </a:r>
            <a:r>
              <a:rPr lang="zh-TW" altLang="en-US" sz="3100" b="0" dirty="0">
                <a:solidFill>
                  <a:srgbClr val="1A0DAB"/>
                </a:solidFill>
                <a:latin typeface="arial" panose="020B0604020202020204" pitchFamily="34" charset="0"/>
              </a:rPr>
              <a:t>判斷 </a:t>
            </a:r>
            <a:r>
              <a:rPr lang="en-US" altLang="zh-TW" sz="3100" b="0" dirty="0">
                <a:solidFill>
                  <a:srgbClr val="1A0DAB"/>
                </a:solidFill>
                <a:latin typeface="arial" panose="020B0604020202020204" pitchFamily="34" charset="0"/>
              </a:rPr>
              <a:t>type </a:t>
            </a:r>
            <a:r>
              <a:rPr lang="zh-TW" altLang="en-US" sz="3100" b="0" dirty="0">
                <a:solidFill>
                  <a:srgbClr val="1A0DAB"/>
                </a:solidFill>
                <a:latin typeface="arial" panose="020B0604020202020204" pitchFamily="34" charset="0"/>
              </a:rPr>
              <a:t>以選擇 </a:t>
            </a:r>
            <a:r>
              <a:rPr lang="en-US" altLang="zh-TW" sz="3100" b="0" dirty="0">
                <a:solidFill>
                  <a:srgbClr val="1A0DAB"/>
                </a:solidFill>
                <a:latin typeface="arial" panose="020B0604020202020204" pitchFamily="34" charset="0"/>
              </a:rPr>
              <a:t>proxy or </a:t>
            </a:r>
            <a:r>
              <a:rPr lang="en-US" altLang="zh-TW" sz="3100" b="0" dirty="0" err="1">
                <a:solidFill>
                  <a:srgbClr val="1A0DAB"/>
                </a:solidFill>
                <a:latin typeface="arial" panose="020B0604020202020204" pitchFamily="34" charset="0"/>
              </a:rPr>
              <a:t>ies</a:t>
            </a:r>
            <a:r>
              <a:rPr lang="en-US" altLang="zh-TW" sz="3100" b="0" dirty="0">
                <a:solidFill>
                  <a:srgbClr val="1A0DAB"/>
                </a:solidFill>
                <a:latin typeface="arial" panose="020B0604020202020204" pitchFamily="34" charset="0"/>
              </a:rPr>
              <a:t>-auto-mib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932D5F4-B599-9332-496F-F9DDB2DC2A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52108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ED91781-AE69-84F7-96AC-0608EC0F60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D894C44-3C63-3307-6EFD-20F2862D1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02" y="0"/>
            <a:ext cx="786899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352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2877396-B8EC-5EFD-B331-9C61463D98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65BB283-DF4D-E3E3-7680-A24DF1ADE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819"/>
            <a:ext cx="4510627" cy="21928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9005535-2283-D641-FA81-B689141BC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8449" y="31467"/>
            <a:ext cx="4465551" cy="242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695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D880DE-FB46-9596-85EF-95121E63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導入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proxy: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Walk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</a:rPr>
              <a:t>snmp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 tree (e.g., 1.3.6.1.2)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有缺漏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R/W </a:t>
            </a:r>
            <a:r>
              <a:rPr lang="en-US" altLang="zh-TW" dirty="0" err="1">
                <a:solidFill>
                  <a:schemeClr val="bg1">
                    <a:lumMod val="65000"/>
                  </a:schemeClr>
                </a:solidFill>
              </a:rPr>
              <a:t>oid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於現在架構無法採行 </a:t>
            </a:r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proxy</a:t>
            </a:r>
          </a:p>
          <a:p>
            <a:r>
              <a:rPr lang="zh-TW" altLang="en-US" dirty="0">
                <a:solidFill>
                  <a:schemeClr val="bg1">
                    <a:lumMod val="65000"/>
                  </a:schemeClr>
                </a:solidFill>
              </a:rPr>
              <a:t>嘗試解決</a:t>
            </a:r>
            <a:endParaRPr lang="en-US" altLang="zh-TW" dirty="0">
              <a:solidFill>
                <a:schemeClr val="bg1">
                  <a:lumMod val="6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SNMP-PROXY-MIB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Hack net </a:t>
            </a:r>
            <a:r>
              <a:rPr lang="en-US" altLang="zh-TW" b="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snmp</a:t>
            </a: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zh-TW" altLang="en-US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判斷 </a:t>
            </a: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type </a:t>
            </a:r>
            <a:r>
              <a:rPr lang="zh-TW" altLang="en-US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以選擇 </a:t>
            </a: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proxy or </a:t>
            </a:r>
            <a:r>
              <a:rPr lang="en-US" altLang="zh-TW" b="0" dirty="0" err="1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ies</a:t>
            </a:r>
            <a:r>
              <a:rPr lang="en-US" altLang="zh-TW" b="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</a:rPr>
              <a:t>-auto-mib</a:t>
            </a:r>
          </a:p>
          <a:p>
            <a:r>
              <a:rPr lang="en-US" altLang="zh-TW" dirty="0"/>
              <a:t>Response</a:t>
            </a:r>
            <a:r>
              <a:rPr lang="zh-TW" altLang="en-US" dirty="0"/>
              <a:t> </a:t>
            </a:r>
            <a:r>
              <a:rPr lang="en-US" altLang="zh-TW" dirty="0"/>
              <a:t>Time</a:t>
            </a:r>
          </a:p>
          <a:p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Decision</a:t>
            </a:r>
          </a:p>
          <a:p>
            <a:pPr lvl="1"/>
            <a:r>
              <a:rPr lang="en-US" altLang="zh-TW" dirty="0">
                <a:solidFill>
                  <a:schemeClr val="bg1">
                    <a:lumMod val="65000"/>
                  </a:schemeClr>
                </a:solidFill>
              </a:rPr>
              <a:t>If YES, our to-do-jobs are…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C66D28-E6DD-A151-4501-FD09735C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11543-2249-F7C3-676A-18AAC2E7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69789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0553A85-9A0E-4E83-E190-3D0706E5B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1976659"/>
              </p:ext>
            </p:extLst>
          </p:nvPr>
        </p:nvGraphicFramePr>
        <p:xfrm>
          <a:off x="395536" y="1203598"/>
          <a:ext cx="570861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308">
                  <a:extLst>
                    <a:ext uri="{9D8B030D-6E8A-4147-A177-3AD203B41FA5}">
                      <a16:colId xmlns:a16="http://schemas.microsoft.com/office/drawing/2014/main" val="1334682423"/>
                    </a:ext>
                  </a:extLst>
                </a:gridCol>
                <a:gridCol w="2854308">
                  <a:extLst>
                    <a:ext uri="{9D8B030D-6E8A-4147-A177-3AD203B41FA5}">
                      <a16:colId xmlns:a16="http://schemas.microsoft.com/office/drawing/2014/main" val="4116972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251 (with proxy)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252 (original)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9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0.014946s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0.007210s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9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0.014861s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0.007219s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60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0.014761s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0.007253s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6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0.014982s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0.007389s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9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0.014985s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0.007306s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730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0.014716s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0.007312s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25320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D37599A-154D-350A-4D5A-2538C4D6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Response Time: 1.3.6.1.2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2E281F-7E73-87A9-A87B-ACDD5630D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DC515D15-6F00-35C8-B1B5-A18EE3FEB08B}"/>
              </a:ext>
            </a:extLst>
          </p:cNvPr>
          <p:cNvSpPr txBox="1"/>
          <p:nvPr/>
        </p:nvSpPr>
        <p:spPr>
          <a:xfrm>
            <a:off x="1187624" y="3902844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>
                <a:solidFill>
                  <a:srgbClr val="FF0000"/>
                </a:solidFill>
              </a:rPr>
              <a:t>even worse</a:t>
            </a:r>
            <a:endParaRPr lang="zh-TW" alt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2638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5">
            <a:extLst>
              <a:ext uri="{FF2B5EF4-FFF2-40B4-BE49-F238E27FC236}">
                <a16:creationId xmlns:a16="http://schemas.microsoft.com/office/drawing/2014/main" id="{C0553A85-9A0E-4E83-E190-3D0706E5BD6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9662697"/>
              </p:ext>
            </p:extLst>
          </p:nvPr>
        </p:nvGraphicFramePr>
        <p:xfrm>
          <a:off x="323850" y="1200150"/>
          <a:ext cx="571288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441">
                  <a:extLst>
                    <a:ext uri="{9D8B030D-6E8A-4147-A177-3AD203B41FA5}">
                      <a16:colId xmlns:a16="http://schemas.microsoft.com/office/drawing/2014/main" val="1334682423"/>
                    </a:ext>
                  </a:extLst>
                </a:gridCol>
                <a:gridCol w="2856441">
                  <a:extLst>
                    <a:ext uri="{9D8B030D-6E8A-4147-A177-3AD203B41FA5}">
                      <a16:colId xmlns:a16="http://schemas.microsoft.com/office/drawing/2014/main" val="41169725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251 (with proxy) 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252 (original)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2294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0.039157s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0.030879s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696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0.036719s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0.031655s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36014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0.036252s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0.031553s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3761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0.036493s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0.030972s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194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0.036598s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0.030904s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730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0.037273s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0.031696s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4425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0.036892s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0.030999s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260445"/>
                  </a:ext>
                </a:extLst>
              </a:tr>
            </a:tbl>
          </a:graphicData>
        </a:graphic>
      </p:graphicFrame>
      <p:sp>
        <p:nvSpPr>
          <p:cNvPr id="3" name="標題 2">
            <a:extLst>
              <a:ext uri="{FF2B5EF4-FFF2-40B4-BE49-F238E27FC236}">
                <a16:creationId xmlns:a16="http://schemas.microsoft.com/office/drawing/2014/main" id="{6D37599A-154D-350A-4D5A-2538C4D64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Response Time: 1.3.6.1.4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92E281F-7E73-87A9-A87B-ACDD5630D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3D1A9681-6376-882D-08A4-648A22E8D289}"/>
              </a:ext>
            </a:extLst>
          </p:cNvPr>
          <p:cNvSpPr txBox="1"/>
          <p:nvPr/>
        </p:nvSpPr>
        <p:spPr>
          <a:xfrm>
            <a:off x="1259632" y="4170020"/>
            <a:ext cx="1364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u="sng" dirty="0">
                <a:solidFill>
                  <a:srgbClr val="FF0000"/>
                </a:solidFill>
              </a:rPr>
              <a:t>even worse</a:t>
            </a:r>
            <a:endParaRPr lang="zh-TW" altLang="en-US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7518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03D5338-63D0-6E7E-46B8-65598A361A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DB4FC7C-06D2-099F-9549-5F8CF203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9882"/>
            <a:ext cx="9144000" cy="376373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C2A07DEE-3C38-5CCA-1D8D-85251EBDBB70}"/>
              </a:ext>
            </a:extLst>
          </p:cNvPr>
          <p:cNvSpPr txBox="1"/>
          <p:nvPr/>
        </p:nvSpPr>
        <p:spPr>
          <a:xfrm>
            <a:off x="2915816" y="26749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effectLst/>
              </a:rPr>
              <a:t>1.3.6.1.2.1.2.2.1.5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4D782CE-BD68-556B-5135-34A9298C98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6256" y="0"/>
            <a:ext cx="22479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36226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5312F9A-9663-6394-0490-32BF0D5C53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1614FC2-2CF4-FD3F-9C75-8CC07A4643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" y="909637"/>
            <a:ext cx="8896350" cy="3324225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FA55A5CF-DC34-50B9-67AA-92B9CE42AD30}"/>
              </a:ext>
            </a:extLst>
          </p:cNvPr>
          <p:cNvSpPr txBox="1"/>
          <p:nvPr/>
        </p:nvSpPr>
        <p:spPr>
          <a:xfrm>
            <a:off x="2915816" y="267494"/>
            <a:ext cx="20441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effectLst/>
              </a:rPr>
              <a:t>1.3.6.1.2.1.2.2.1.5</a:t>
            </a:r>
            <a:endParaRPr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D5472D0-ECF5-2D8D-2C52-2FDA4AD19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6100" y="0"/>
            <a:ext cx="2247900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00843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D3E39C-8E15-AEF5-3564-8F08932CD0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4D22194-8BA4-F424-7959-6B80D6F198F8}"/>
              </a:ext>
            </a:extLst>
          </p:cNvPr>
          <p:cNvSpPr txBox="1"/>
          <p:nvPr/>
        </p:nvSpPr>
        <p:spPr>
          <a:xfrm>
            <a:off x="2411760" y="1707654"/>
            <a:ext cx="315983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Enough to make decision???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找出是哪一個</a:t>
            </a:r>
            <a:r>
              <a:rPr lang="en-US" altLang="zh-TW" dirty="0" err="1"/>
              <a:t>oid</a:t>
            </a:r>
            <a:r>
              <a:rPr lang="en-US" altLang="zh-TW" dirty="0"/>
              <a:t>(s)</a:t>
            </a:r>
            <a:r>
              <a:rPr lang="zh-TW" altLang="en-US" dirty="0"/>
              <a:t>在慢</a:t>
            </a:r>
            <a:r>
              <a:rPr lang="en-US" altLang="zh-TW" dirty="0"/>
              <a:t>?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76020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7D880DE-FB46-9596-85EF-95121E63A6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導入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proxy: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Walk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snmp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tree (e.g., 1.3.6.1.2)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有缺漏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R/W </a:t>
            </a:r>
            <a:r>
              <a:rPr lang="en-US" altLang="zh-TW" dirty="0" err="1">
                <a:solidFill>
                  <a:schemeClr val="bg1">
                    <a:lumMod val="75000"/>
                  </a:schemeClr>
                </a:solidFill>
              </a:rPr>
              <a:t>oid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於現在架構無法採行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proxy</a:t>
            </a:r>
          </a:p>
          <a:p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嘗試解決</a:t>
            </a:r>
            <a:endParaRPr lang="en-US" altLang="zh-TW" dirty="0">
              <a:solidFill>
                <a:schemeClr val="bg1">
                  <a:lumMod val="75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SNMP-PROXY-MIB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Hack net </a:t>
            </a:r>
            <a:r>
              <a:rPr lang="en-US" altLang="zh-TW" b="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snmp</a:t>
            </a: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: </a:t>
            </a:r>
            <a:r>
              <a:rPr lang="zh-TW" altLang="en-US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判斷 </a:t>
            </a: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type </a:t>
            </a:r>
            <a:r>
              <a:rPr lang="zh-TW" altLang="en-US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以選擇 </a:t>
            </a: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proxy or </a:t>
            </a:r>
            <a:r>
              <a:rPr lang="en-US" altLang="zh-TW" b="0" dirty="0" err="1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ies</a:t>
            </a:r>
            <a:r>
              <a:rPr lang="en-US" altLang="zh-TW" b="0" dirty="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rPr>
              <a:t>-auto-mib</a:t>
            </a:r>
          </a:p>
          <a:p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Response</a:t>
            </a:r>
            <a:r>
              <a:rPr lang="zh-TW" altLang="en-US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bg1">
                    <a:lumMod val="75000"/>
                  </a:schemeClr>
                </a:solidFill>
              </a:rPr>
              <a:t>Time</a:t>
            </a:r>
          </a:p>
          <a:p>
            <a:r>
              <a:rPr lang="en-US" altLang="zh-TW" dirty="0"/>
              <a:t>Decision</a:t>
            </a:r>
          </a:p>
          <a:p>
            <a:pPr lvl="1"/>
            <a:r>
              <a:rPr lang="en-US" altLang="zh-TW" dirty="0"/>
              <a:t>If YES, our to-do-jobs are…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C66D28-E6DD-A151-4501-FD09735C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Outline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D11543-2249-F7C3-676A-18AAC2E7F5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5117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B93BA70-CC51-E390-2E3A-59992BF6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Not Yet:</a:t>
            </a:r>
          </a:p>
          <a:p>
            <a:pPr lvl="1"/>
            <a:r>
              <a:rPr lang="zh-TW" altLang="en-US" dirty="0"/>
              <a:t>效果不顯著</a:t>
            </a:r>
            <a:endParaRPr lang="en-US" altLang="zh-TW" dirty="0"/>
          </a:p>
          <a:p>
            <a:pPr lvl="1"/>
            <a:r>
              <a:rPr lang="zh-TW" altLang="en-US" dirty="0"/>
              <a:t>後續如遇到客戶提問 </a:t>
            </a:r>
            <a:r>
              <a:rPr lang="en-US" altLang="zh-TW" dirty="0"/>
              <a:t>miss </a:t>
            </a:r>
            <a:r>
              <a:rPr lang="en-US" altLang="zh-TW" dirty="0" err="1"/>
              <a:t>oid</a:t>
            </a:r>
            <a:r>
              <a:rPr lang="zh-TW" altLang="en-US" dirty="0"/>
              <a:t>，需花更多資源去回應</a:t>
            </a:r>
            <a:endParaRPr lang="en-US" altLang="zh-TW" dirty="0"/>
          </a:p>
          <a:p>
            <a:pPr lvl="1"/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F4B5CBF-79DC-C1EC-796F-4C2FB895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Decision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0AB9BB-4AD7-6BBA-C27E-BAA6795AD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4849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DB93BA70-CC51-E390-2E3A-59992BF68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OK</a:t>
            </a:r>
            <a:r>
              <a:rPr lang="zh-TW" altLang="en-US" dirty="0"/>
              <a:t>，我們導入</a:t>
            </a:r>
            <a:r>
              <a:rPr lang="en-US" altLang="zh-TW" dirty="0"/>
              <a:t>:</a:t>
            </a:r>
          </a:p>
          <a:p>
            <a:pPr lvl="1"/>
            <a:r>
              <a:rPr lang="zh-TW" altLang="en-US" dirty="0"/>
              <a:t>架構上來看，跳脫</a:t>
            </a:r>
            <a:r>
              <a:rPr lang="en-US" altLang="zh-TW" dirty="0" err="1"/>
              <a:t>ies</a:t>
            </a:r>
            <a:r>
              <a:rPr lang="en-US" altLang="zh-TW" dirty="0"/>
              <a:t>-auto-mib</a:t>
            </a:r>
            <a:r>
              <a:rPr lang="zh-TW" altLang="en-US" dirty="0"/>
              <a:t>，有助於往移除 </a:t>
            </a:r>
            <a:r>
              <a:rPr lang="en-US" altLang="zh-TW" dirty="0" err="1"/>
              <a:t>ies</a:t>
            </a:r>
            <a:r>
              <a:rPr lang="en-US" altLang="zh-TW" dirty="0"/>
              <a:t>-auto-mib</a:t>
            </a:r>
            <a:r>
              <a:rPr lang="zh-TW" altLang="en-US" dirty="0"/>
              <a:t>邁進</a:t>
            </a:r>
            <a:endParaRPr lang="en-US" altLang="zh-TW" dirty="0"/>
          </a:p>
          <a:p>
            <a:pPr lvl="1"/>
            <a:r>
              <a:rPr lang="zh-TW" altLang="en-US" dirty="0"/>
              <a:t>單 </a:t>
            </a:r>
            <a:r>
              <a:rPr lang="en-US" altLang="zh-TW" dirty="0"/>
              <a:t>Query proxied mib</a:t>
            </a:r>
            <a:r>
              <a:rPr lang="zh-TW" altLang="en-US" dirty="0"/>
              <a:t>，速度的確快</a:t>
            </a:r>
            <a:endParaRPr lang="en-US" altLang="zh-TW" dirty="0"/>
          </a:p>
          <a:p>
            <a:r>
              <a:rPr lang="en-US" altLang="zh-TW" dirty="0"/>
              <a:t>If YES, To Do JOBs are:</a:t>
            </a:r>
          </a:p>
          <a:p>
            <a:pPr lvl="1"/>
            <a:r>
              <a:rPr lang="en-US" altLang="zh-TW" dirty="0"/>
              <a:t>Configured community </a:t>
            </a:r>
            <a:r>
              <a:rPr lang="zh-TW" altLang="en-US" dirty="0"/>
              <a:t>設定需 </a:t>
            </a:r>
            <a:r>
              <a:rPr lang="en-US" altLang="zh-TW" dirty="0"/>
              <a:t>apply to ISS</a:t>
            </a:r>
          </a:p>
          <a:p>
            <a:pPr lvl="1"/>
            <a:r>
              <a:rPr lang="zh-TW" altLang="en-US" dirty="0"/>
              <a:t>測試不同的 </a:t>
            </a:r>
            <a:r>
              <a:rPr lang="en-US" altLang="zh-TW" dirty="0" err="1"/>
              <a:t>snmp</a:t>
            </a:r>
            <a:r>
              <a:rPr lang="en-US" altLang="zh-TW" dirty="0"/>
              <a:t> version </a:t>
            </a:r>
            <a:r>
              <a:rPr lang="zh-TW" altLang="en-US" dirty="0"/>
              <a:t>的運作</a:t>
            </a:r>
            <a:endParaRPr lang="en-US" altLang="zh-TW" dirty="0"/>
          </a:p>
          <a:p>
            <a:pPr lvl="1"/>
            <a:r>
              <a:rPr lang="en-US" altLang="zh-TW" dirty="0"/>
              <a:t>:?</a:t>
            </a:r>
          </a:p>
          <a:p>
            <a:pPr lvl="1"/>
            <a:endParaRPr lang="en-US" altLang="zh-TW" dirty="0"/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8F4B5CBF-79DC-C1EC-796F-4C2FB8952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Decision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0AB9BB-4AD7-6BBA-C27E-BAA6795AD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22979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07D88DF6-F7F3-195E-EBD2-BDD96CDBF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Schedule Policy and Priority</a:t>
            </a:r>
          </a:p>
          <a:p>
            <a:pPr lvl="1"/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Linux Switch 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-apple-system"/>
              </a:rPr>
              <a:t>SNMP@ISS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　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SCHED_OTHERS, </a:t>
            </a:r>
            <a:r>
              <a:rPr lang="en-US" altLang="zh-TW" b="0" i="0" dirty="0" err="1">
                <a:solidFill>
                  <a:srgbClr val="242424"/>
                </a:solidFill>
                <a:effectLst/>
                <a:latin typeface="-apple-system"/>
              </a:rPr>
              <a:t>Pri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 200</a:t>
            </a:r>
          </a:p>
          <a:p>
            <a:pPr lvl="1"/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Linux Switch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-apple-system"/>
              </a:rPr>
              <a:t> NET-SNMP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 SCHED_RR, </a:t>
            </a:r>
            <a:r>
              <a:rPr lang="en-US" altLang="zh-TW" b="0" i="0" dirty="0" err="1">
                <a:solidFill>
                  <a:srgbClr val="242424"/>
                </a:solidFill>
                <a:effectLst/>
                <a:latin typeface="-apple-system"/>
              </a:rPr>
              <a:t>Pri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 50</a:t>
            </a:r>
          </a:p>
          <a:p>
            <a:pPr lvl="1"/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Linux </a:t>
            </a:r>
            <a:r>
              <a:rPr lang="en-US" altLang="zh-TW" b="0" i="0" dirty="0" err="1">
                <a:solidFill>
                  <a:srgbClr val="242424"/>
                </a:solidFill>
                <a:effectLst/>
                <a:latin typeface="-apple-system"/>
              </a:rPr>
              <a:t>Swtich</a:t>
            </a:r>
            <a:r>
              <a:rPr lang="en-US" altLang="zh-TW" b="1" i="0" dirty="0">
                <a:solidFill>
                  <a:srgbClr val="242424"/>
                </a:solidFill>
                <a:effectLst/>
                <a:latin typeface="-apple-system"/>
              </a:rPr>
              <a:t> ISS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 SCHED_OTHERS, </a:t>
            </a:r>
            <a:r>
              <a:rPr lang="en-US" altLang="zh-TW" b="0" i="0" dirty="0" err="1">
                <a:solidFill>
                  <a:srgbClr val="242424"/>
                </a:solidFill>
                <a:effectLst/>
                <a:latin typeface="-apple-system"/>
              </a:rPr>
              <a:t>Pri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: 0</a:t>
            </a:r>
          </a:p>
          <a:p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Q: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為什麼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ISS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是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OTHERS</a:t>
            </a:r>
          </a:p>
          <a:p>
            <a:pPr marL="914400" lvl="1" indent="-457200">
              <a:buFont typeface="+mj-lt"/>
              <a:buAutoNum type="arabicPeriod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看來只要是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OTHERS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，就不會參考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priority</a:t>
            </a:r>
            <a:endParaRPr lang="en-US" altLang="zh-TW" b="0" dirty="0">
              <a:solidFill>
                <a:srgbClr val="242424"/>
              </a:solidFill>
              <a:latin typeface="-apple-system"/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不知道 </a:t>
            </a:r>
            <a:r>
              <a:rPr lang="en-US" altLang="zh-TW" b="0" i="0" dirty="0" err="1">
                <a:solidFill>
                  <a:srgbClr val="242424"/>
                </a:solidFill>
                <a:effectLst/>
                <a:latin typeface="-apple-system"/>
              </a:rPr>
              <a:t>snmpd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是哪裡設成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SCHED_RR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，也不知道為什麼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ISS 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設定成 </a:t>
            </a:r>
            <a:r>
              <a:rPr lang="en-US" altLang="zh-TW" b="0" i="0" dirty="0">
                <a:solidFill>
                  <a:srgbClr val="242424"/>
                </a:solidFill>
                <a:effectLst/>
                <a:latin typeface="-apple-system"/>
              </a:rPr>
              <a:t>SCHED_OTHERS</a:t>
            </a:r>
            <a:r>
              <a:rPr lang="zh-TW" altLang="en-US" b="0" i="0" dirty="0">
                <a:solidFill>
                  <a:srgbClr val="242424"/>
                </a:solidFill>
                <a:effectLst/>
                <a:latin typeface="-apple-system"/>
              </a:rPr>
              <a:t>，是誰設的？</a:t>
            </a:r>
            <a:endParaRPr lang="en-US" altLang="zh-TW" b="0" i="0" dirty="0">
              <a:solidFill>
                <a:srgbClr val="242424"/>
              </a:solidFill>
              <a:effectLst/>
              <a:latin typeface="-apple-system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D3F29CF3-F18C-8AED-E542-525C3103C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And…</a:t>
            </a:r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346A0B6-E63A-BD9E-9C83-1E5426DD7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01179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085006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11BD43-20B4-153B-FDE2-2EA5DC621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u="sng" dirty="0">
                <a:solidFill>
                  <a:srgbClr val="FF0000"/>
                </a:solidFill>
              </a:rPr>
              <a:t>後續如果要導入 </a:t>
            </a:r>
            <a:r>
              <a:rPr lang="en-US" altLang="zh-TW" u="sng" dirty="0">
                <a:solidFill>
                  <a:srgbClr val="FF0000"/>
                </a:solidFill>
              </a:rPr>
              <a:t>proxy</a:t>
            </a:r>
            <a:endParaRPr lang="zh-TW" altLang="en-US" u="sng" dirty="0">
              <a:solidFill>
                <a:srgbClr val="FF0000"/>
              </a:solidFill>
            </a:endParaRP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86915E7-5215-455A-0D70-BFCB86A54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4" name="內容版面配置區 1">
            <a:extLst>
              <a:ext uri="{FF2B5EF4-FFF2-40B4-BE49-F238E27FC236}">
                <a16:creationId xmlns:a16="http://schemas.microsoft.com/office/drawing/2014/main" id="{34F9BEFA-4F78-5092-AAD0-CF4F051CB1DD}"/>
              </a:ext>
            </a:extLst>
          </p:cNvPr>
          <p:cNvSpPr txBox="1">
            <a:spLocks/>
          </p:cNvSpPr>
          <p:nvPr/>
        </p:nvSpPr>
        <p:spPr>
          <a:xfrm>
            <a:off x="323528" y="1200151"/>
            <a:ext cx="8568952" cy="339447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2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rabicPeriod"/>
            </a:pP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對於之前在 </a:t>
            </a:r>
            <a:r>
              <a:rPr lang="en-US" altLang="zh-TW" b="0" dirty="0" err="1">
                <a:solidFill>
                  <a:srgbClr val="242424"/>
                </a:solidFill>
                <a:latin typeface="-apple-system"/>
              </a:rPr>
              <a:t>ies</a:t>
            </a:r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-auto-mib </a:t>
            </a: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回應</a:t>
            </a:r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/</a:t>
            </a: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轉換的 </a:t>
            </a:r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value</a:t>
            </a: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，要改在 </a:t>
            </a:r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ISS </a:t>
            </a: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中做。如 </a:t>
            </a:r>
            <a:r>
              <a:rPr lang="en-US" altLang="zh-TW" b="0" dirty="0">
                <a:solidFill>
                  <a:srgbClr val="242424"/>
                </a:solidFill>
                <a:latin typeface="-apple-system"/>
              </a:rPr>
              <a:t>sys obj ID</a:t>
            </a:r>
            <a:r>
              <a:rPr lang="zh-TW" altLang="en-US" b="0" dirty="0">
                <a:solidFill>
                  <a:srgbClr val="242424"/>
                </a:solidFill>
                <a:latin typeface="-apple-system"/>
              </a:rPr>
              <a:t>。</a:t>
            </a:r>
            <a:endParaRPr lang="en-US" altLang="zh-TW" b="0" dirty="0">
              <a:solidFill>
                <a:srgbClr val="242424"/>
              </a:solidFill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51821741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內容版面配置區 1">
            <a:extLst>
              <a:ext uri="{FF2B5EF4-FFF2-40B4-BE49-F238E27FC236}">
                <a16:creationId xmlns:a16="http://schemas.microsoft.com/office/drawing/2014/main" id="{A9DD7090-4C06-6BFE-E206-98F6939D0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測試 </a:t>
            </a:r>
            <a:r>
              <a:rPr lang="en-US" altLang="zh-TW" dirty="0"/>
              <a:t>EDS v3.0_2022_0803_1250 </a:t>
            </a:r>
            <a:r>
              <a:rPr lang="zh-TW" altLang="en-US" dirty="0"/>
              <a:t>和 </a:t>
            </a:r>
            <a:r>
              <a:rPr lang="en-US" altLang="zh-TW" dirty="0"/>
              <a:t>RD</a:t>
            </a:r>
            <a:r>
              <a:rPr lang="zh-TW" altLang="en-US" dirty="0"/>
              <a:t> </a:t>
            </a:r>
            <a:r>
              <a:rPr lang="en-US" altLang="zh-TW" dirty="0"/>
              <a:t>Local Build EDS_v3.0_develop (8/18)</a:t>
            </a:r>
          </a:p>
          <a:p>
            <a:r>
              <a:rPr lang="zh-TW" altLang="en-US" dirty="0"/>
              <a:t>因發現 </a:t>
            </a:r>
            <a:r>
              <a:rPr lang="en-US" altLang="zh-TW" dirty="0"/>
              <a:t>2.3.6.1.2 </a:t>
            </a:r>
            <a:r>
              <a:rPr lang="zh-TW" altLang="en-US" dirty="0"/>
              <a:t>無法 </a:t>
            </a:r>
            <a:r>
              <a:rPr lang="en-US" altLang="zh-TW" dirty="0"/>
              <a:t>walk </a:t>
            </a:r>
            <a:r>
              <a:rPr lang="zh-TW" altLang="en-US" dirty="0"/>
              <a:t>完成，故不再深究</a:t>
            </a:r>
            <a:br>
              <a:rPr lang="en-US" altLang="zh-TW" dirty="0"/>
            </a:br>
            <a:r>
              <a:rPr lang="zh-TW" altLang="en-US" dirty="0"/>
              <a:t> </a:t>
            </a: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C0458B79-A219-6178-CC86-B1FA9BE23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EDS </a:t>
            </a:r>
            <a:r>
              <a:rPr lang="zh-TW" altLang="en-US" dirty="0"/>
              <a:t>測試結果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622FCF-335B-19A7-CB8F-44AEE5A3C4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C0E731F-E505-AB66-9143-6540E03DBB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390542"/>
              </p:ext>
            </p:extLst>
          </p:nvPr>
        </p:nvGraphicFramePr>
        <p:xfrm>
          <a:off x="457200" y="2427734"/>
          <a:ext cx="8229600" cy="640080"/>
        </p:xfrm>
        <a:graphic>
          <a:graphicData uri="http://schemas.openxmlformats.org/drawingml/2006/table">
            <a:tbl>
              <a:tblPr/>
              <a:tblGrid>
                <a:gridCol w="8229600">
                  <a:extLst>
                    <a:ext uri="{9D8B030D-6E8A-4147-A177-3AD203B41FA5}">
                      <a16:colId xmlns:a16="http://schemas.microsoft.com/office/drawing/2014/main" val="24977197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br>
                        <a:rPr lang="en-US" dirty="0">
                          <a:hlinkClick r:id="rId2"/>
                        </a:rPr>
                      </a:b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17897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35056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EED97E-6F5F-5033-6500-5A47CBC92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ISS</a:t>
            </a:r>
            <a:r>
              <a:rPr lang="zh-TW" altLang="en-US" dirty="0"/>
              <a:t> </a:t>
            </a:r>
            <a:r>
              <a:rPr lang="en-US" altLang="zh-TW" dirty="0"/>
              <a:t>SNMP</a:t>
            </a:r>
            <a:r>
              <a:rPr lang="zh-TW" altLang="en-US" dirty="0"/>
              <a:t> 設成 </a:t>
            </a:r>
            <a:r>
              <a:rPr lang="en-US" altLang="zh-TW" dirty="0"/>
              <a:t>RR </a:t>
            </a:r>
            <a:r>
              <a:rPr lang="zh-TW" altLang="en-US" dirty="0"/>
              <a:t>的結果</a:t>
            </a:r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2DB3B64-0880-C4E3-3A6C-59DD1138EE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5133E664-435D-7DD8-5E80-A5D3E6F8474B}"/>
              </a:ext>
            </a:extLst>
          </p:cNvPr>
          <p:cNvSpPr txBox="1"/>
          <p:nvPr/>
        </p:nvSpPr>
        <p:spPr>
          <a:xfrm>
            <a:off x="323528" y="1059582"/>
            <a:ext cx="84969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安排導入 </a:t>
            </a:r>
            <a:r>
              <a:rPr lang="en-US" altLang="zh-TW" dirty="0"/>
              <a:t>v4.0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843466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6A0F545-EB53-3CA6-E9B7-41A03E59C5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E9FD97-CD90-BD79-29E9-ADCCF8E3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7" y="618237"/>
            <a:ext cx="3020611" cy="172819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D793A574-3BED-DDD0-EF34-FEC6ABCECB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6079" y="606381"/>
            <a:ext cx="3042253" cy="174004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6A2BEBA5-2057-79D1-6F5C-E438EDC09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332" y="606382"/>
            <a:ext cx="3035668" cy="1740048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EDED7F55-214A-197C-46B2-6DD168CDED74}"/>
              </a:ext>
            </a:extLst>
          </p:cNvPr>
          <p:cNvSpPr txBox="1"/>
          <p:nvPr/>
        </p:nvSpPr>
        <p:spPr>
          <a:xfrm>
            <a:off x="763263" y="92367"/>
            <a:ext cx="12961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251 (proxy)</a:t>
            </a:r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22A70D20-8C2D-C673-8BE7-B7178FA4B974}"/>
              </a:ext>
            </a:extLst>
          </p:cNvPr>
          <p:cNvSpPr txBox="1"/>
          <p:nvPr/>
        </p:nvSpPr>
        <p:spPr>
          <a:xfrm>
            <a:off x="3795117" y="88919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252 (original)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412B0A-76E7-51EF-5564-379618324934}"/>
              </a:ext>
            </a:extLst>
          </p:cNvPr>
          <p:cNvSpPr txBox="1"/>
          <p:nvPr/>
        </p:nvSpPr>
        <p:spPr>
          <a:xfrm>
            <a:off x="6604620" y="-18802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253 (original +</a:t>
            </a:r>
            <a:r>
              <a:rPr lang="zh-TW" altLang="en-US" sz="1600" dirty="0"/>
              <a:t> </a:t>
            </a:r>
            <a:br>
              <a:rPr lang="en-US" altLang="zh-TW" sz="1600" dirty="0"/>
            </a:br>
            <a:r>
              <a:rPr lang="en-US" altLang="zh-TW" sz="1600" dirty="0" err="1"/>
              <a:t>sched_RR</a:t>
            </a:r>
            <a:r>
              <a:rPr lang="en-US" altLang="zh-TW" sz="1600" dirty="0"/>
              <a:t> </a:t>
            </a:r>
            <a:r>
              <a:rPr lang="en-US" altLang="zh-TW" sz="1600" dirty="0" err="1"/>
              <a:t>SNMP@iss</a:t>
            </a:r>
            <a:r>
              <a:rPr lang="en-US" altLang="zh-TW" sz="1600" dirty="0"/>
              <a:t>)</a:t>
            </a:r>
            <a:endParaRPr lang="zh-TW" altLang="en-US" sz="1600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8E0DEFAC-8962-AC0B-02C1-31228ED89F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969" y="2288158"/>
            <a:ext cx="1742304" cy="2859782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4791F16D-FE68-7083-3B45-DEB8897275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11934" y="2288158"/>
            <a:ext cx="1742304" cy="284270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D4DF60E-75A6-BAB4-F6CD-5746E5A652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0315" y="2271082"/>
            <a:ext cx="1720716" cy="285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3210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CC5A62E-8BF8-0489-D791-C3CCE2EC0C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9D64C045-B25F-3613-E62D-467BC3BF5991}"/>
              </a:ext>
            </a:extLst>
          </p:cNvPr>
          <p:cNvSpPr txBox="1"/>
          <p:nvPr/>
        </p:nvSpPr>
        <p:spPr>
          <a:xfrm>
            <a:off x="467544" y="267494"/>
            <a:ext cx="4253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netsnmp_view_subtree_check@vacm.c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A34A1EE-EE11-3BE2-87CD-C449D1FFCDD7}"/>
              </a:ext>
            </a:extLst>
          </p:cNvPr>
          <p:cNvSpPr txBox="1"/>
          <p:nvPr/>
        </p:nvSpPr>
        <p:spPr>
          <a:xfrm>
            <a:off x="575556" y="1059582"/>
            <a:ext cx="874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err="1"/>
              <a:t>register_mib</a:t>
            </a:r>
            <a:r>
              <a:rPr lang="en-US" altLang="zh-TW" dirty="0"/>
              <a:t>: registering "proxy" at .1.3.6.1.4.1.8691.603.3.2.1.1 with context "(null)"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731089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6D28F64-485E-E84B-5F9A-6E924AA86A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E023683-C2A6-CCB0-03C2-B4371606E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303" y="0"/>
            <a:ext cx="476739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1331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6056F16-C34E-4F13-B9C3-F19589F18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357ECD5-82CC-BB24-903A-D51F442A1E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42862"/>
            <a:ext cx="9144000" cy="260063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E13306C1-BB77-2F8B-C94A-F24BCC4A3D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9712" y="-68640"/>
            <a:ext cx="1621239" cy="2600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442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B0CED7B-E35D-1BB9-F477-DCCE3730F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F05342-90E1-C764-70C7-FF2A61D5A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4"/>
            <a:ext cx="9144000" cy="38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31404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8A856B1-B9A3-31F2-AB25-DA52F1DBE6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8A2779-BE66-8F42-5329-264A95FC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980"/>
            <a:ext cx="9144000" cy="503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044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7F5BDF2-4FC9-9A93-2E00-DE4383B64D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48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FC9555-4B6D-5722-712E-060A11EFD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7750"/>
            <a:ext cx="9144000" cy="44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9547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5556332A-CA4E-5271-BB89-A21219C83E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49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8E7FE0-A9F2-AA36-B4FB-8890CF2C4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86535"/>
            <a:ext cx="9144000" cy="4170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4352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C4923C5-F5A9-EFFC-D401-F4C9FD0197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50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A3D97D4-7468-FA00-7102-001C4449E0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7575"/>
            <a:ext cx="9144000" cy="434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09490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09611FB-FCA8-9DBB-3D99-72000B9F69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51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5FFC49-288F-403D-7604-0EA48EB2FC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8964"/>
            <a:ext cx="9144000" cy="3225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39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F06A171-B526-9908-F4ED-5E80947AF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1077B64-EDFC-49CA-A307-192C0D654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36550"/>
            <a:ext cx="9144000" cy="44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7221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C41446B-1427-93B7-23BC-2A26A81762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424363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23E14BE-98DA-053E-A7E1-884AD0C28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61C2409-A77B-A848-1C17-E7A934D86E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9473"/>
            <a:ext cx="9144000" cy="3664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727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7035884-B3CC-9979-8C97-CA64EE264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55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1222EBC-93B8-F47F-DCCC-4A53E4CBE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0179"/>
            <a:ext cx="9144000" cy="2803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5044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EAA5AF4D-A194-EA45-2C26-251DA67521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56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B635735-DB21-F705-416B-2CFBE08DB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806"/>
            <a:ext cx="9144000" cy="383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2250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97083A71-6DB8-E5AF-8032-9537CCA5A8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093D142-1CE3-9A36-6BCA-3246CFAC9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8304"/>
            <a:ext cx="9144000" cy="384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7241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C0C86BC-CD97-DF9D-2D1A-D494038388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58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C41E63C-A7C3-EF23-00B0-7BAC2796E9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269"/>
            <a:ext cx="9144000" cy="3674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6530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C82B121-5CEE-3701-B053-2757CCC849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59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1289817-F266-2DF9-4A5D-C186AD9479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8649"/>
            <a:ext cx="9144000" cy="3586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583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8FABFCB-F994-C47F-C03D-BCD3DE757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60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9208584-FCA4-D48F-4EFF-54AE6D5E9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7202"/>
            <a:ext cx="9144000" cy="322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50815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258ECCC-5AE1-177D-A7CF-40BBFF566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61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2C8E304-1C76-9648-E3F5-E8AD477D0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107"/>
            <a:ext cx="9144000" cy="356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48564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91BEFB0-325C-D9AF-4AFA-BAADCE1DF1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D87BB130-2C15-4FB1-E75C-903C52751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5807"/>
            <a:ext cx="9144000" cy="3511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75959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A7B87B0-688C-9273-B6BC-302E1E6744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63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0859F8E-F072-FAF2-6271-8B9BA35F50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0384"/>
            <a:ext cx="9144000" cy="364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6202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33574AFF-5FD5-7923-7BD8-3CF2D35375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81F8163-4DD2-44BF-685D-32C5FB95A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706"/>
            <a:ext cx="9144000" cy="393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552751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39FE599-C38B-8ED2-19F8-92DB7EF1D3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65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F12983B-EF97-C19B-C976-D7F23720C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4602"/>
            <a:ext cx="9144000" cy="3614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4258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CAE2B0B-F781-BF11-E989-C7B44419A9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66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D1F5B06-BEB3-81E6-3E41-39056CE0D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3191"/>
            <a:ext cx="9144000" cy="3937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8938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27A25432-B101-7D09-EFF9-15AE63763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0E169EED-726F-2856-1CD8-C9DE01EE72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5936"/>
            <a:ext cx="9144000" cy="3991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991843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F1F8F3AE-6A91-062C-6317-C63257ACBD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68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A1DB94C-D779-977B-B68C-3016D75EF0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6384"/>
            <a:ext cx="9144000" cy="4390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0217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853ED93-3657-D023-B00A-4926A00D5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69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72D5B48-E323-F097-5F76-94FF8800A3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7876"/>
            <a:ext cx="9144000" cy="4267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23174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8E733E3-2472-97F2-6DBF-BBBA160E10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70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88CADFF-F55E-2F8D-DB3B-43CF93FECA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487"/>
            <a:ext cx="9144000" cy="428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05771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5F7FB07-30C8-5183-8862-164633C031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2896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D1997732-BEAB-F8E5-E5A1-F56B8C8EF4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72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BBD4339-A2AA-9B83-0675-D72B3ADE4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4817"/>
            <a:ext cx="9144000" cy="3273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637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BA97C14B-438F-5BE4-935E-EF2A173ACB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73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A906E2F-AF4C-279D-A75E-71476C9F2F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763"/>
            <a:ext cx="9144000" cy="3621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75886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1BB4735D-688F-880C-8C01-2E6117E730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74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3EB4490-72E6-C7D8-A992-DFE4BA39E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2605"/>
            <a:ext cx="9144000" cy="3878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36297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40149B5B-FBEE-CE81-C83D-02C1E5E94F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75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0652F88-0C95-A4B9-E6E7-E5B3F2965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2829"/>
            <a:ext cx="9144000" cy="399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43433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6550A012-D442-ECAE-E126-472A43CE7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76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C82256D-E941-DD7C-8661-FA8DAC7F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2298"/>
            <a:ext cx="9144000" cy="3838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355810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0FF47CC1-B027-A6CD-6011-01DFF1121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77</a:t>
            </a:fld>
            <a:endParaRPr 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0EEEC7C-F602-8F8A-8CE9-E354A83A8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4854"/>
            <a:ext cx="9144000" cy="3833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88896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C23D3577-97EB-B073-4B2D-E75F7443A1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4667F76-A388-464C-982A-D3F7033E0B34}" type="slidenum">
              <a:rPr lang="en-US" smtClean="0"/>
              <a:pPr/>
              <a:t>78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726269"/>
      </p:ext>
    </p:extLst>
  </p:cSld>
  <p:clrMapOvr>
    <a:masterClrMapping/>
  </p:clrMapOvr>
</p:sld>
</file>

<file path=ppt/theme/theme1.xml><?xml version="1.0" encoding="utf-8"?>
<a:theme xmlns:a="http://schemas.openxmlformats.org/drawingml/2006/main" name="Moxa_2013_POTX_v2">
  <a:themeElements>
    <a:clrScheme name="Moxa Color Palette">
      <a:dk1>
        <a:srgbClr val="000000"/>
      </a:dk1>
      <a:lt1>
        <a:srgbClr val="FFFFFF"/>
      </a:lt1>
      <a:dk2>
        <a:srgbClr val="008787"/>
      </a:dk2>
      <a:lt2>
        <a:srgbClr val="C9D0C6"/>
      </a:lt2>
      <a:accent1>
        <a:srgbClr val="008787"/>
      </a:accent1>
      <a:accent2>
        <a:srgbClr val="727171"/>
      </a:accent2>
      <a:accent3>
        <a:srgbClr val="77B800"/>
      </a:accent3>
      <a:accent4>
        <a:srgbClr val="FA943E"/>
      </a:accent4>
      <a:accent5>
        <a:srgbClr val="009DDB"/>
      </a:accent5>
      <a:accent6>
        <a:srgbClr val="C9D0C6"/>
      </a:accent6>
      <a:hlink>
        <a:srgbClr val="009DDB"/>
      </a:hlink>
      <a:folHlink>
        <a:srgbClr val="D6D6D4"/>
      </a:folHlink>
    </a:clrScheme>
    <a:fontScheme name="Moxa Fonts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16839c0b-e4c3-45f7-9cb3-12d099cf4cc5">
      <UserInfo>
        <DisplayName>NBG_Switch_SW_Team Members</DisplayName>
        <AccountId>8</AccountId>
        <AccountType/>
      </UserInfo>
    </SharedWithUsers>
    <TaxCatchAll xmlns="16839c0b-e4c3-45f7-9cb3-12d099cf4cc5" xsi:nil="true"/>
    <lcf76f155ced4ddcb4097134ff3c332f xmlns="8636d23e-f95a-4582-914e-4bc1bdb43ab5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0A8B9466D1AA6A45A74E9C3B66677D89" ma:contentTypeVersion="18" ma:contentTypeDescription="建立新的文件。" ma:contentTypeScope="" ma:versionID="e44c78622c180a02b570ac5eaef38b74">
  <xsd:schema xmlns:xsd="http://www.w3.org/2001/XMLSchema" xmlns:xs="http://www.w3.org/2001/XMLSchema" xmlns:p="http://schemas.microsoft.com/office/2006/metadata/properties" xmlns:ns2="8636d23e-f95a-4582-914e-4bc1bdb43ab5" xmlns:ns3="16839c0b-e4c3-45f7-9cb3-12d099cf4cc5" targetNamespace="http://schemas.microsoft.com/office/2006/metadata/properties" ma:root="true" ma:fieldsID="c9ab71ebac5a701e6de638a1dd6cc354" ns2:_="" ns3:_="">
    <xsd:import namespace="8636d23e-f95a-4582-914e-4bc1bdb43ab5"/>
    <xsd:import namespace="16839c0b-e4c3-45f7-9cb3-12d099cf4c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6d23e-f95a-4582-914e-4bc1bdb43a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影像標籤" ma:readOnly="false" ma:fieldId="{5cf76f15-5ced-4ddc-b409-7134ff3c332f}" ma:taxonomyMulti="true" ma:sspId="bbc5931a-3143-486f-9600-35c3d708de3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839c0b-e4c3-45f7-9cb3-12d099cf4cc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4ff2d7f6-773e-40c2-b840-ab6e711acb79}" ma:internalName="TaxCatchAll" ma:showField="CatchAllData" ma:web="16839c0b-e4c3-45f7-9cb3-12d099cf4c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B27681-C0B1-48EA-A788-A9B1D8D32708}">
  <ds:schemaRefs>
    <ds:schemaRef ds:uri="http://schemas.microsoft.com/office/2006/metadata/properties"/>
    <ds:schemaRef ds:uri="http://schemas.microsoft.com/office/infopath/2007/PartnerControls"/>
    <ds:schemaRef ds:uri="16839c0b-e4c3-45f7-9cb3-12d099cf4cc5"/>
    <ds:schemaRef ds:uri="8636d23e-f95a-4582-914e-4bc1bdb43ab5"/>
  </ds:schemaRefs>
</ds:datastoreItem>
</file>

<file path=customXml/itemProps2.xml><?xml version="1.0" encoding="utf-8"?>
<ds:datastoreItem xmlns:ds="http://schemas.openxmlformats.org/officeDocument/2006/customXml" ds:itemID="{D1EFF1C3-E57C-4E31-9627-B9C45CB765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636d23e-f95a-4582-914e-4bc1bdb43ab5"/>
    <ds:schemaRef ds:uri="16839c0b-e4c3-45f7-9cb3-12d099cf4c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AD9914-A92F-4044-BB1E-B9AEA912B7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Moxa_2013_POTX_v2</Template>
  <TotalTime>63507</TotalTime>
  <Words>973</Words>
  <Application>Microsoft Office PowerPoint</Application>
  <PresentationFormat>如螢幕大小 (16:9)</PresentationFormat>
  <Paragraphs>253</Paragraphs>
  <Slides>78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78</vt:i4>
      </vt:variant>
    </vt:vector>
  </HeadingPairs>
  <TitlesOfParts>
    <vt:vector size="79" baseType="lpstr">
      <vt:lpstr>Moxa_2013_POTX_v2</vt:lpstr>
      <vt:lpstr>SNMP Read OID Enhancement</vt:lpstr>
      <vt:lpstr>Outline</vt:lpstr>
      <vt:lpstr>Goal</vt:lpstr>
      <vt:lpstr>Scope</vt:lpstr>
      <vt:lpstr>Scope</vt:lpstr>
      <vt:lpstr>Develop</vt:lpstr>
      <vt:lpstr>PowerPoint 簡報</vt:lpstr>
      <vt:lpstr>PowerPoint 簡報</vt:lpstr>
      <vt:lpstr>Test &amp; Result</vt:lpstr>
      <vt:lpstr>Test &amp; Result – 1. snmpwalk proxy_hit.mib</vt:lpstr>
      <vt:lpstr>Test &amp; Result – 1. snmpwalk proxy_hit.mib</vt:lpstr>
      <vt:lpstr>Test &amp; Result – 2. MxView Test</vt:lpstr>
      <vt:lpstr>PowerPoint 簡報</vt:lpstr>
      <vt:lpstr>PowerPoint 簡報</vt:lpstr>
      <vt:lpstr>Test &amp; Result – 2. MxView Test</vt:lpstr>
      <vt:lpstr>Test &amp; Result – 3. snmpwalk 1.3.6.1.4 (private) </vt:lpstr>
      <vt:lpstr>Test &amp; Result – 3. snmpwalk 1.3.6.1.2 (mgmt) </vt:lpstr>
      <vt:lpstr>Test &amp; Result – 3. snmpwalk 1.3.6.1.2 (mgmt) </vt:lpstr>
      <vt:lpstr>Discuss</vt:lpstr>
      <vt:lpstr>PowerPoint 簡報</vt:lpstr>
      <vt:lpstr>SNMP Read OID Enhancement- part 2</vt:lpstr>
      <vt:lpstr>Outline</vt:lpstr>
      <vt:lpstr>Outline</vt:lpstr>
      <vt:lpstr>嘗試解決: 1. SNMP-PROXY-MIB </vt:lpstr>
      <vt:lpstr>嘗試解決: 2.判斷 type 以選擇 proxy or ies-auto-mib</vt:lpstr>
      <vt:lpstr>PowerPoint 簡報</vt:lpstr>
      <vt:lpstr>PowerPoint 簡報</vt:lpstr>
      <vt:lpstr>Outline</vt:lpstr>
      <vt:lpstr>Response Time: 1.3.6.1.2</vt:lpstr>
      <vt:lpstr>Response Time: 1.3.6.1.4</vt:lpstr>
      <vt:lpstr>PowerPoint 簡報</vt:lpstr>
      <vt:lpstr>PowerPoint 簡報</vt:lpstr>
      <vt:lpstr>PowerPoint 簡報</vt:lpstr>
      <vt:lpstr>Outline</vt:lpstr>
      <vt:lpstr>Decision</vt:lpstr>
      <vt:lpstr>Decision</vt:lpstr>
      <vt:lpstr>And…</vt:lpstr>
      <vt:lpstr>PowerPoint 簡報</vt:lpstr>
      <vt:lpstr>後續如果要導入 proxy</vt:lpstr>
      <vt:lpstr>EDS 測試結果</vt:lpstr>
      <vt:lpstr>ISS SNMP 設成 RR 的結果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Moxa_PowerPoint_Template_16：9.pptx</dc:title>
  <dc:subject>Moxa PowerPoint template</dc:subject>
  <dc:creator>Tim Stemple</dc:creator>
  <cp:keywords>v1.0</cp:keywords>
  <dc:description>Created by Tim Stemple and Jessie Hsu.
Released on July 2, 2013</dc:description>
  <cp:lastModifiedBy>Francis JY Hu (胡俊彥)</cp:lastModifiedBy>
  <cp:revision>181</cp:revision>
  <dcterms:created xsi:type="dcterms:W3CDTF">2013-07-24T10:56:39Z</dcterms:created>
  <dcterms:modified xsi:type="dcterms:W3CDTF">2026-05-29T02:49:33Z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0x0101000A8B9466D1AA6A45A74E9C3B66677D89</vt:lpwstr>
  </property>
</Properties>
</file>