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6" r:id="rId2"/>
  </p:sldMasterIdLst>
  <p:notesMasterIdLst>
    <p:notesMasterId r:id="rId31"/>
  </p:notesMasterIdLst>
  <p:sldIdLst>
    <p:sldId id="256" r:id="rId3"/>
    <p:sldId id="259" r:id="rId4"/>
    <p:sldId id="271" r:id="rId5"/>
    <p:sldId id="257" r:id="rId6"/>
    <p:sldId id="258" r:id="rId7"/>
    <p:sldId id="260" r:id="rId8"/>
    <p:sldId id="261" r:id="rId9"/>
    <p:sldId id="269" r:id="rId10"/>
    <p:sldId id="270" r:id="rId11"/>
    <p:sldId id="263" r:id="rId12"/>
    <p:sldId id="265" r:id="rId13"/>
    <p:sldId id="266" r:id="rId14"/>
    <p:sldId id="264" r:id="rId15"/>
    <p:sldId id="267" r:id="rId16"/>
    <p:sldId id="268" r:id="rId17"/>
    <p:sldId id="280" r:id="rId18"/>
    <p:sldId id="272" r:id="rId19"/>
    <p:sldId id="277" r:id="rId20"/>
    <p:sldId id="276" r:id="rId21"/>
    <p:sldId id="279" r:id="rId22"/>
    <p:sldId id="281" r:id="rId23"/>
    <p:sldId id="282" r:id="rId24"/>
    <p:sldId id="284" r:id="rId25"/>
    <p:sldId id="286" r:id="rId26"/>
    <p:sldId id="285" r:id="rId27"/>
    <p:sldId id="287" r:id="rId28"/>
    <p:sldId id="288" r:id="rId29"/>
    <p:sldId id="289" r:id="rId3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9E4B28-21E9-40DF-8E1B-FBD9D8CD2632}" v="1417" dt="2025-11-28T06:50:56.5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788" autoAdjust="0"/>
  </p:normalViewPr>
  <p:slideViewPr>
    <p:cSldViewPr snapToGrid="0">
      <p:cViewPr varScale="1">
        <p:scale>
          <a:sx n="100" d="100"/>
          <a:sy n="100" d="100"/>
        </p:scale>
        <p:origin x="9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449313-7030-4210-A550-0400432F6A91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D822DC-5D9D-4C1E-9631-A3171A5A38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2783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為什麼從</a:t>
            </a:r>
            <a:r>
              <a:rPr lang="en-US" altLang="zh-TW" dirty="0"/>
              <a:t>100ms</a:t>
            </a:r>
            <a:r>
              <a:rPr lang="zh-TW" altLang="en-US" dirty="0"/>
              <a:t> 改成 </a:t>
            </a:r>
            <a:r>
              <a:rPr lang="en-US" altLang="zh-TW" dirty="0"/>
              <a:t>50ms </a:t>
            </a:r>
            <a:r>
              <a:rPr lang="zh-TW" altLang="en-US" dirty="0"/>
              <a:t>原因是過去交控使用我們的交換機 都是以這個數據當作告警要求</a:t>
            </a:r>
            <a:endParaRPr lang="en-US" altLang="zh-TW" dirty="0"/>
          </a:p>
          <a:p>
            <a:r>
              <a:rPr lang="zh-TW" altLang="en-US" dirty="0"/>
              <a:t>所以 換成 </a:t>
            </a:r>
            <a:r>
              <a:rPr lang="en-US" altLang="zh-TW" dirty="0" err="1"/>
              <a:t>nos</a:t>
            </a:r>
            <a:r>
              <a:rPr lang="en-US" altLang="zh-TW" dirty="0"/>
              <a:t> </a:t>
            </a:r>
            <a:r>
              <a:rPr lang="zh-TW" altLang="en-US" dirty="0"/>
              <a:t>後 也堅持 要維持 </a:t>
            </a:r>
            <a:endParaRPr lang="en-US" altLang="zh-TW" dirty="0"/>
          </a:p>
          <a:p>
            <a:r>
              <a:rPr lang="zh-TW" altLang="en-US" dirty="0"/>
              <a:t>如果偶爾出現超過</a:t>
            </a:r>
            <a:r>
              <a:rPr lang="en-US" altLang="zh-TW" dirty="0"/>
              <a:t>50ms </a:t>
            </a:r>
            <a:r>
              <a:rPr lang="zh-TW" altLang="en-US" dirty="0"/>
              <a:t>是可以接受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822DC-5D9D-4C1E-9631-A3171A5A388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4984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以</a:t>
            </a:r>
            <a:r>
              <a:rPr lang="en-US" altLang="zh-TW" dirty="0"/>
              <a:t>NOS 5.0 code base</a:t>
            </a:r>
            <a:r>
              <a:rPr lang="zh-TW" altLang="en-US" dirty="0"/>
              <a:t>，</a:t>
            </a:r>
            <a:r>
              <a:rPr lang="en-US" altLang="zh-TW" dirty="0"/>
              <a:t>default</a:t>
            </a:r>
            <a:r>
              <a:rPr lang="zh-TW" altLang="en-US" dirty="0"/>
              <a:t>狀態</a:t>
            </a:r>
            <a:r>
              <a:rPr lang="en-US" altLang="zh-TW" dirty="0" err="1"/>
              <a:t>snmpagent</a:t>
            </a:r>
            <a:r>
              <a:rPr lang="zh-TW" altLang="en-US" dirty="0"/>
              <a:t>是</a:t>
            </a:r>
            <a:r>
              <a:rPr lang="en-US" altLang="zh-TW" dirty="0"/>
              <a:t>enable</a:t>
            </a:r>
            <a:r>
              <a:rPr lang="zh-TW" altLang="en-US" dirty="0"/>
              <a:t>的。但仍無法在</a:t>
            </a:r>
            <a:r>
              <a:rPr lang="en-US" altLang="zh-TW" dirty="0"/>
              <a:t>shell</a:t>
            </a:r>
            <a:r>
              <a:rPr lang="zh-TW" altLang="en-US" dirty="0"/>
              <a:t>中，以</a:t>
            </a:r>
            <a:r>
              <a:rPr lang="en-US" altLang="zh-TW" dirty="0" err="1"/>
              <a:t>snmpd</a:t>
            </a:r>
            <a:r>
              <a:rPr lang="zh-TW" altLang="en-US" dirty="0"/>
              <a:t>的</a:t>
            </a:r>
            <a:r>
              <a:rPr lang="en-US" altLang="zh-TW" dirty="0"/>
              <a:t>command</a:t>
            </a:r>
            <a:r>
              <a:rPr lang="zh-TW" altLang="en-US" dirty="0"/>
              <a:t>直接向</a:t>
            </a:r>
            <a:r>
              <a:rPr lang="en-US" altLang="zh-TW" dirty="0"/>
              <a:t>ISS</a:t>
            </a:r>
            <a:r>
              <a:rPr lang="zh-TW" altLang="en-US" dirty="0"/>
              <a:t>存取</a:t>
            </a:r>
            <a:r>
              <a:rPr lang="en-US" altLang="zh-TW" dirty="0" err="1"/>
              <a:t>snmp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可先參考</a:t>
            </a:r>
            <a:r>
              <a:rPr lang="en-US" altLang="zh-TW" dirty="0"/>
              <a:t>https://jira-dc.moxa.com/browse/RDNOS-3253</a:t>
            </a:r>
            <a:r>
              <a:rPr lang="zh-TW" altLang="en-US" dirty="0"/>
              <a:t>的修改，使</a:t>
            </a:r>
            <a:r>
              <a:rPr lang="en-US" altLang="zh-TW" dirty="0"/>
              <a:t>ISS</a:t>
            </a:r>
            <a:r>
              <a:rPr lang="zh-TW" altLang="en-US" dirty="0"/>
              <a:t>在啟動時就可以直接</a:t>
            </a:r>
            <a:r>
              <a:rPr lang="en-US" altLang="zh-TW" dirty="0" err="1"/>
              <a:t>init</a:t>
            </a:r>
            <a:r>
              <a:rPr lang="en-US" altLang="zh-TW" dirty="0"/>
              <a:t> </a:t>
            </a:r>
            <a:r>
              <a:rPr lang="en-US" altLang="zh-TW" dirty="0" err="1"/>
              <a:t>snmpagent</a:t>
            </a:r>
            <a:r>
              <a:rPr lang="zh-TW" altLang="en-US" dirty="0"/>
              <a:t>在</a:t>
            </a:r>
            <a:r>
              <a:rPr lang="en-US" altLang="zh-TW" dirty="0"/>
              <a:t>port 6161</a:t>
            </a:r>
            <a:r>
              <a:rPr lang="zh-TW" altLang="en-US" dirty="0"/>
              <a:t>上。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822DC-5D9D-4C1E-9631-A3171A5A388E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5206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https://docs.lextudio.com/pysnmp/v7.1/docs/hlapi/v1arch/asyncio/manager/cmdgen/getcmd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822DC-5D9D-4C1E-9631-A3171A5A388E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3720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B4A60-BFE8-D565-F93C-4FD7A1785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E5283EA-6B89-5F46-4C21-ECBA22356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4FF29F7-9CB9-ABEF-9DD1-590EC994A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ifOperStatus</a:t>
            </a:r>
            <a:r>
              <a:rPr lang="zh-TW" altLang="en-US" dirty="0"/>
              <a:t> </a:t>
            </a:r>
            <a:r>
              <a:rPr lang="en-US" altLang="zh-TW" dirty="0"/>
              <a:t>Syntax INTEGER {up(1), down(2), testing(3), unknown(4), dormant(5), </a:t>
            </a:r>
            <a:r>
              <a:rPr lang="en-US" altLang="zh-TW" dirty="0" err="1"/>
              <a:t>notPresent</a:t>
            </a:r>
            <a:r>
              <a:rPr lang="en-US" altLang="zh-TW" dirty="0"/>
              <a:t>(6), </a:t>
            </a:r>
            <a:r>
              <a:rPr lang="en-US" altLang="zh-TW" dirty="0" err="1"/>
              <a:t>lowerLayerDown</a:t>
            </a:r>
            <a:r>
              <a:rPr lang="en-US" altLang="zh-TW" dirty="0"/>
              <a:t>(7) }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CC97D8-AFAE-2FE4-4BED-6AD9FEC8C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822DC-5D9D-4C1E-9631-A3171A5A388E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8430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7E9D1-1C75-F2CF-9E0F-D504EA20C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8CBE39A-635C-F42F-93F3-AC65B85C2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A21CC62-5ABA-685F-0210-99A709499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ifOperStatus</a:t>
            </a:r>
            <a:r>
              <a:rPr lang="zh-TW" altLang="en-US" dirty="0"/>
              <a:t> </a:t>
            </a:r>
            <a:r>
              <a:rPr lang="en-US" altLang="zh-TW" dirty="0"/>
              <a:t>Syntax INTEGER {up(1), down(2), testing(3), unknown(4), dormant(5), </a:t>
            </a:r>
            <a:r>
              <a:rPr lang="en-US" altLang="zh-TW" dirty="0" err="1"/>
              <a:t>notPresent</a:t>
            </a:r>
            <a:r>
              <a:rPr lang="en-US" altLang="zh-TW" dirty="0"/>
              <a:t>(6), </a:t>
            </a:r>
            <a:r>
              <a:rPr lang="en-US" altLang="zh-TW" dirty="0" err="1"/>
              <a:t>lowerLayerDown</a:t>
            </a:r>
            <a:r>
              <a:rPr lang="en-US" altLang="zh-TW" dirty="0"/>
              <a:t>(7) }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0CA346-A582-F864-1694-F04956F11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822DC-5D9D-4C1E-9631-A3171A5A388E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1124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822DC-5D9D-4C1E-9631-A3171A5A388E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7993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Debug flag</a:t>
            </a:r>
            <a:r>
              <a:rPr lang="zh-TW" altLang="en-US" dirty="0"/>
              <a:t>清單可參考 </a:t>
            </a:r>
            <a:r>
              <a:rPr lang="en-US" altLang="zh-TW" dirty="0"/>
              <a:t>https://net-snmp.sourceforge.io/wiki/index.php/Debug_tokens_5.7.2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822DC-5D9D-4C1E-9631-A3171A5A388E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5427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45A25-1CE5-2796-3A63-D93AF9A16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C5DB25-D3FE-EB41-4C6E-3C9F011B7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5FDB78D-7B29-1A18-A9B3-57ED8B4DA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Measurement item Definition: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zh-TW" dirty="0" err="1"/>
              <a:t>Snmp</a:t>
            </a:r>
            <a:r>
              <a:rPr lang="en-US" altLang="zh-TW" dirty="0"/>
              <a:t> </a:t>
            </a:r>
            <a:r>
              <a:rPr lang="en-US" altLang="zh-TW" dirty="0" err="1"/>
              <a:t>recv</a:t>
            </a:r>
            <a:r>
              <a:rPr lang="en-US" altLang="zh-TW" dirty="0"/>
              <a:t> time:</a:t>
            </a:r>
            <a:r>
              <a:rPr lang="zh-TW" altLang="en-US" dirty="0"/>
              <a:t> </a:t>
            </a:r>
            <a:r>
              <a:rPr lang="en-US" altLang="zh-TW" dirty="0"/>
              <a:t>“</a:t>
            </a:r>
            <a:r>
              <a:rPr lang="en-US" altLang="zh-TW" dirty="0" err="1"/>
              <a:t>transport:recv</a:t>
            </a:r>
            <a:r>
              <a:rPr lang="en-US" altLang="zh-TW" dirty="0"/>
              <a:t>” to “</a:t>
            </a:r>
            <a:r>
              <a:rPr lang="en-US" altLang="zh-TW" dirty="0" err="1"/>
              <a:t>snmp_agent</a:t>
            </a:r>
            <a:r>
              <a:rPr lang="en-US" altLang="zh-TW" dirty="0"/>
              <a:t>: </a:t>
            </a:r>
            <a:r>
              <a:rPr lang="en-US" altLang="zh-TW" dirty="0" err="1"/>
              <a:t>tp</a:t>
            </a:r>
            <a:r>
              <a:rPr lang="en-US" altLang="zh-TW" dirty="0"/>
              <a:t>-&gt;start”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zh-TW" sz="1200" dirty="0" err="1"/>
              <a:t>Porxy</a:t>
            </a:r>
            <a:r>
              <a:rPr lang="zh-TW" altLang="en-US" sz="1200" dirty="0"/>
              <a:t> </a:t>
            </a:r>
            <a:r>
              <a:rPr lang="en-US" altLang="zh-TW" sz="1200" dirty="0"/>
              <a:t>handle time:</a:t>
            </a:r>
            <a:r>
              <a:rPr lang="zh-TW" altLang="en-US" sz="1200" dirty="0"/>
              <a:t> </a:t>
            </a:r>
            <a:r>
              <a:rPr lang="en-US" altLang="zh-TW" sz="1200" dirty="0"/>
              <a:t>the first “proxy: proxy handler starting”</a:t>
            </a:r>
            <a:r>
              <a:rPr lang="zh-TW" altLang="en-US" sz="1200" dirty="0"/>
              <a:t> </a:t>
            </a:r>
            <a:r>
              <a:rPr lang="en-US" altLang="zh-TW" sz="1200" dirty="0"/>
              <a:t>to</a:t>
            </a:r>
            <a:r>
              <a:rPr lang="zh-TW" altLang="en-US" sz="1200" dirty="0"/>
              <a:t> </a:t>
            </a:r>
            <a:r>
              <a:rPr lang="en-US" altLang="zh-TW" sz="1200" dirty="0"/>
              <a:t>the last “proxy: got response...”</a:t>
            </a:r>
            <a:r>
              <a:rPr lang="en-US" altLang="zh-TW" dirty="0"/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zh-TW" dirty="0" err="1"/>
              <a:t>Snmp</a:t>
            </a:r>
            <a:r>
              <a:rPr lang="en-US" altLang="zh-TW" dirty="0"/>
              <a:t> send time:</a:t>
            </a:r>
            <a:r>
              <a:rPr lang="zh-TW" altLang="en-US" dirty="0"/>
              <a:t> </a:t>
            </a:r>
            <a:r>
              <a:rPr lang="en-US" altLang="zh-TW" dirty="0"/>
              <a:t>“</a:t>
            </a:r>
            <a:r>
              <a:rPr lang="en-US" altLang="zh-TW" dirty="0" err="1"/>
              <a:t>snmp_send</a:t>
            </a:r>
            <a:r>
              <a:rPr lang="en-US" altLang="zh-TW" dirty="0"/>
              <a:t>: Building SNMPv2 message” to “</a:t>
            </a:r>
            <a:r>
              <a:rPr lang="en-US" altLang="zh-TW" dirty="0" err="1"/>
              <a:t>transport:send</a:t>
            </a:r>
            <a:r>
              <a:rPr lang="en-US" altLang="zh-TW" dirty="0"/>
              <a:t>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zh-TW" dirty="0"/>
              <a:t>Total access time:</a:t>
            </a:r>
            <a:r>
              <a:rPr lang="zh-TW" altLang="en-US" dirty="0"/>
              <a:t> </a:t>
            </a:r>
            <a:r>
              <a:rPr lang="en-US" altLang="zh-TW" dirty="0"/>
              <a:t>“</a:t>
            </a:r>
            <a:r>
              <a:rPr lang="en-US" altLang="zh-TW" dirty="0" err="1"/>
              <a:t>transport:recv</a:t>
            </a:r>
            <a:r>
              <a:rPr lang="en-US" altLang="zh-TW" dirty="0"/>
              <a:t>”</a:t>
            </a:r>
            <a:r>
              <a:rPr lang="zh-TW" altLang="en-US" dirty="0"/>
              <a:t> </a:t>
            </a:r>
            <a:r>
              <a:rPr lang="en-US" altLang="zh-TW" dirty="0"/>
              <a:t>of the first port</a:t>
            </a:r>
            <a:r>
              <a:rPr lang="zh-TW" altLang="en-US" dirty="0"/>
              <a:t> </a:t>
            </a:r>
            <a:r>
              <a:rPr lang="en-US" altLang="zh-TW" dirty="0"/>
              <a:t>to</a:t>
            </a:r>
            <a:r>
              <a:rPr lang="zh-TW" altLang="en-US" dirty="0"/>
              <a:t> </a:t>
            </a:r>
            <a:r>
              <a:rPr lang="en-US" altLang="zh-TW" dirty="0"/>
              <a:t>“</a:t>
            </a:r>
            <a:r>
              <a:rPr lang="en-US" altLang="zh-TW" dirty="0" err="1"/>
              <a:t>transport:send</a:t>
            </a:r>
            <a:r>
              <a:rPr lang="en-US" altLang="zh-TW" dirty="0"/>
              <a:t>”</a:t>
            </a:r>
            <a:r>
              <a:rPr lang="zh-TW" altLang="en-US" dirty="0"/>
              <a:t> </a:t>
            </a:r>
            <a:r>
              <a:rPr lang="en-US" altLang="zh-TW" dirty="0"/>
              <a:t>of the first port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Measurement item Relationship: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zh-TW" dirty="0"/>
              <a:t>Measurement</a:t>
            </a:r>
            <a:r>
              <a:rPr lang="zh-TW" altLang="en-US" dirty="0"/>
              <a:t> </a:t>
            </a:r>
            <a:r>
              <a:rPr lang="en-US" altLang="zh-TW" dirty="0"/>
              <a:t>item</a:t>
            </a:r>
            <a:r>
              <a:rPr lang="zh-TW" altLang="en-US" dirty="0"/>
              <a:t>開頭數字為加總階層，如階層</a:t>
            </a:r>
            <a:r>
              <a:rPr lang="en-US" altLang="zh-TW" dirty="0"/>
              <a:t>0</a:t>
            </a:r>
            <a:r>
              <a:rPr lang="zh-TW" altLang="en-US" dirty="0"/>
              <a:t>為階層</a:t>
            </a:r>
            <a:r>
              <a:rPr lang="en-US" altLang="zh-TW" dirty="0"/>
              <a:t>1</a:t>
            </a:r>
            <a:r>
              <a:rPr lang="zh-TW" altLang="en-US" dirty="0"/>
              <a:t>的加總，階層</a:t>
            </a:r>
            <a:r>
              <a:rPr lang="en-US" altLang="zh-TW" dirty="0"/>
              <a:t>1</a:t>
            </a:r>
            <a:r>
              <a:rPr lang="zh-TW" altLang="en-US" dirty="0"/>
              <a:t>為階層</a:t>
            </a:r>
            <a:r>
              <a:rPr lang="en-US" altLang="zh-TW" dirty="0"/>
              <a:t>2</a:t>
            </a:r>
            <a:r>
              <a:rPr lang="zh-TW" altLang="en-US" dirty="0"/>
              <a:t>的加總，以此類推，以下示例。另外因為量測點安排因素，有可能出現加總值不等於上一階數值，以</a:t>
            </a:r>
            <a:r>
              <a:rPr lang="en-US" altLang="zh-TW" dirty="0"/>
              <a:t>others</a:t>
            </a:r>
            <a:r>
              <a:rPr lang="zh-TW" altLang="en-US" dirty="0"/>
              <a:t>表示。</a:t>
            </a:r>
            <a:endParaRPr lang="en-US" altLang="zh-TW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zh-TW" dirty="0"/>
              <a:t>0/Total access time = 1/</a:t>
            </a:r>
            <a:r>
              <a:rPr lang="en-US" altLang="zh-TW" dirty="0" err="1"/>
              <a:t>Snmp</a:t>
            </a:r>
            <a:r>
              <a:rPr lang="en-US" altLang="zh-TW" dirty="0"/>
              <a:t> </a:t>
            </a:r>
            <a:r>
              <a:rPr lang="en-US" altLang="zh-TW" dirty="0" err="1"/>
              <a:t>recv</a:t>
            </a:r>
            <a:r>
              <a:rPr lang="en-US" altLang="zh-TW" dirty="0"/>
              <a:t> time + 1/Proxy handle time</a:t>
            </a:r>
            <a:r>
              <a:rPr lang="zh-TW" altLang="en-US" dirty="0"/>
              <a:t> </a:t>
            </a:r>
            <a:r>
              <a:rPr lang="en-US" altLang="zh-TW" dirty="0"/>
              <a:t>+</a:t>
            </a:r>
            <a:r>
              <a:rPr lang="zh-TW" altLang="en-US" dirty="0"/>
              <a:t> </a:t>
            </a:r>
            <a:r>
              <a:rPr lang="en-US" altLang="zh-TW" dirty="0"/>
              <a:t>1/</a:t>
            </a:r>
            <a:r>
              <a:rPr lang="en-US" altLang="zh-TW" dirty="0" err="1"/>
              <a:t>Snmp</a:t>
            </a:r>
            <a:r>
              <a:rPr lang="en-US" altLang="zh-TW" dirty="0"/>
              <a:t> send time + others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Data source:</a:t>
            </a:r>
            <a:r>
              <a:rPr lang="zh-TW" altLang="en-US" dirty="0"/>
              <a:t> </a:t>
            </a:r>
            <a:r>
              <a:rPr lang="en-US" altLang="zh-TW" dirty="0"/>
              <a:t>basic_test_journal_2.log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F3F9B43-3263-B346-8FCF-B54479B80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822DC-5D9D-4C1E-9631-A3171A5A388E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3048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Measurement item Definition: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zh-TW" dirty="0" err="1"/>
              <a:t>Snmp</a:t>
            </a:r>
            <a:r>
              <a:rPr lang="en-US" altLang="zh-TW" dirty="0"/>
              <a:t> </a:t>
            </a:r>
            <a:r>
              <a:rPr lang="en-US" altLang="zh-TW" dirty="0" err="1"/>
              <a:t>recv</a:t>
            </a:r>
            <a:r>
              <a:rPr lang="en-US" altLang="zh-TW" dirty="0"/>
              <a:t> time:</a:t>
            </a:r>
            <a:r>
              <a:rPr lang="zh-TW" altLang="en-US" dirty="0"/>
              <a:t> </a:t>
            </a:r>
            <a:r>
              <a:rPr lang="en-US" altLang="zh-TW" dirty="0"/>
              <a:t>“</a:t>
            </a:r>
            <a:r>
              <a:rPr lang="en-US" altLang="zh-TW" dirty="0" err="1"/>
              <a:t>transport:recv</a:t>
            </a:r>
            <a:r>
              <a:rPr lang="en-US" altLang="zh-TW" dirty="0"/>
              <a:t>” to “</a:t>
            </a:r>
            <a:r>
              <a:rPr lang="en-US" altLang="zh-TW" dirty="0" err="1"/>
              <a:t>snmp_agent</a:t>
            </a:r>
            <a:r>
              <a:rPr lang="en-US" altLang="zh-TW" dirty="0"/>
              <a:t>: </a:t>
            </a:r>
            <a:r>
              <a:rPr lang="en-US" altLang="zh-TW" dirty="0" err="1"/>
              <a:t>tp</a:t>
            </a:r>
            <a:r>
              <a:rPr lang="en-US" altLang="zh-TW" dirty="0"/>
              <a:t>-&gt;start”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zh-TW" dirty="0"/>
              <a:t>Data prepare time:</a:t>
            </a:r>
            <a:r>
              <a:rPr lang="zh-TW" altLang="en-US" dirty="0"/>
              <a:t> </a:t>
            </a:r>
            <a:r>
              <a:rPr lang="en-US" altLang="zh-TW" dirty="0"/>
              <a:t>“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status: path: {path:?}” to</a:t>
            </a:r>
            <a:r>
              <a:rPr lang="zh-TW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“status: path: {path:?} value prepare done“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zh-TW" dirty="0"/>
              <a:t>Response time:</a:t>
            </a:r>
            <a:r>
              <a:rPr lang="zh-TW" altLang="en-US" dirty="0"/>
              <a:t> </a:t>
            </a:r>
            <a:r>
              <a:rPr lang="en-US" altLang="zh-TW" dirty="0"/>
              <a:t>the first “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status: path: {path:?} value prepare done“ to the last “status: path: {path:?} value response done”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zh-TW" dirty="0" err="1"/>
              <a:t>Snmp</a:t>
            </a:r>
            <a:r>
              <a:rPr lang="en-US" altLang="zh-TW" dirty="0"/>
              <a:t> send time:</a:t>
            </a:r>
            <a:r>
              <a:rPr lang="zh-TW" altLang="en-US" dirty="0"/>
              <a:t> </a:t>
            </a:r>
            <a:r>
              <a:rPr lang="en-US" altLang="zh-TW" dirty="0"/>
              <a:t>“</a:t>
            </a:r>
            <a:r>
              <a:rPr lang="en-US" altLang="zh-TW" dirty="0" err="1"/>
              <a:t>snmp_send</a:t>
            </a:r>
            <a:r>
              <a:rPr lang="en-US" altLang="zh-TW" dirty="0"/>
              <a:t>: Building SNMPv2 message” to “</a:t>
            </a:r>
            <a:r>
              <a:rPr lang="en-US" altLang="zh-TW" dirty="0" err="1"/>
              <a:t>transport:send</a:t>
            </a:r>
            <a:r>
              <a:rPr lang="en-US" altLang="zh-TW" dirty="0"/>
              <a:t>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zh-TW" dirty="0"/>
              <a:t>Total access time:</a:t>
            </a:r>
            <a:r>
              <a:rPr lang="zh-TW" altLang="en-US" dirty="0"/>
              <a:t> </a:t>
            </a:r>
            <a:r>
              <a:rPr lang="en-US" altLang="zh-TW" dirty="0"/>
              <a:t>“</a:t>
            </a:r>
            <a:r>
              <a:rPr lang="en-US" altLang="zh-TW" dirty="0" err="1"/>
              <a:t>transport:recv</a:t>
            </a:r>
            <a:r>
              <a:rPr lang="en-US" altLang="zh-TW" dirty="0"/>
              <a:t>”</a:t>
            </a:r>
            <a:r>
              <a:rPr lang="zh-TW" altLang="en-US" dirty="0"/>
              <a:t> </a:t>
            </a:r>
            <a:r>
              <a:rPr lang="en-US" altLang="zh-TW" dirty="0"/>
              <a:t>of the first port</a:t>
            </a:r>
            <a:r>
              <a:rPr lang="zh-TW" altLang="en-US" dirty="0"/>
              <a:t> </a:t>
            </a:r>
            <a:r>
              <a:rPr lang="en-US" altLang="zh-TW" dirty="0"/>
              <a:t>to</a:t>
            </a:r>
            <a:r>
              <a:rPr lang="zh-TW" altLang="en-US" dirty="0"/>
              <a:t> </a:t>
            </a:r>
            <a:r>
              <a:rPr lang="en-US" altLang="zh-TW" dirty="0"/>
              <a:t>“</a:t>
            </a:r>
            <a:r>
              <a:rPr lang="en-US" altLang="zh-TW" dirty="0" err="1"/>
              <a:t>transport:send</a:t>
            </a:r>
            <a:r>
              <a:rPr lang="en-US" altLang="zh-TW" dirty="0"/>
              <a:t>”</a:t>
            </a:r>
            <a:r>
              <a:rPr lang="zh-TW" altLang="en-US" dirty="0"/>
              <a:t> </a:t>
            </a:r>
            <a:r>
              <a:rPr lang="en-US" altLang="zh-TW" dirty="0"/>
              <a:t>of the first port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Measurement item Relationship: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zh-TW" dirty="0"/>
              <a:t>Measurement</a:t>
            </a:r>
            <a:r>
              <a:rPr lang="zh-TW" altLang="en-US" dirty="0"/>
              <a:t> </a:t>
            </a:r>
            <a:r>
              <a:rPr lang="en-US" altLang="zh-TW" dirty="0"/>
              <a:t>item</a:t>
            </a:r>
            <a:r>
              <a:rPr lang="zh-TW" altLang="en-US" dirty="0"/>
              <a:t>開頭數字為加總階層，如階層</a:t>
            </a:r>
            <a:r>
              <a:rPr lang="en-US" altLang="zh-TW" dirty="0"/>
              <a:t>0</a:t>
            </a:r>
            <a:r>
              <a:rPr lang="zh-TW" altLang="en-US" dirty="0"/>
              <a:t>為階層</a:t>
            </a:r>
            <a:r>
              <a:rPr lang="en-US" altLang="zh-TW" dirty="0"/>
              <a:t>1</a:t>
            </a:r>
            <a:r>
              <a:rPr lang="zh-TW" altLang="en-US" dirty="0"/>
              <a:t>的加總，階層</a:t>
            </a:r>
            <a:r>
              <a:rPr lang="en-US" altLang="zh-TW" dirty="0"/>
              <a:t>1</a:t>
            </a:r>
            <a:r>
              <a:rPr lang="zh-TW" altLang="en-US" dirty="0"/>
              <a:t>為階層</a:t>
            </a:r>
            <a:r>
              <a:rPr lang="en-US" altLang="zh-TW" dirty="0"/>
              <a:t>2</a:t>
            </a:r>
            <a:r>
              <a:rPr lang="zh-TW" altLang="en-US" dirty="0"/>
              <a:t>的加總，以此類推，以下示例。另外因為量測點安排因素，有可能出現加總值不等於上一階數值，以</a:t>
            </a:r>
            <a:r>
              <a:rPr lang="en-US" altLang="zh-TW" dirty="0"/>
              <a:t>others</a:t>
            </a:r>
            <a:r>
              <a:rPr lang="zh-TW" altLang="en-US" dirty="0"/>
              <a:t>表示。</a:t>
            </a:r>
            <a:endParaRPr lang="en-US" altLang="zh-TW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zh-TW" dirty="0"/>
              <a:t>0/Total access time = 1/</a:t>
            </a:r>
            <a:r>
              <a:rPr lang="en-US" altLang="zh-TW" dirty="0" err="1"/>
              <a:t>Snmp</a:t>
            </a:r>
            <a:r>
              <a:rPr lang="en-US" altLang="zh-TW" dirty="0"/>
              <a:t> </a:t>
            </a:r>
            <a:r>
              <a:rPr lang="en-US" altLang="zh-TW" dirty="0" err="1"/>
              <a:t>recv</a:t>
            </a:r>
            <a:r>
              <a:rPr lang="en-US" altLang="zh-TW" dirty="0"/>
              <a:t> time + 1/Data prepare time</a:t>
            </a:r>
            <a:r>
              <a:rPr lang="zh-TW" altLang="en-US" dirty="0"/>
              <a:t> </a:t>
            </a:r>
            <a:r>
              <a:rPr lang="en-US" altLang="zh-TW" dirty="0"/>
              <a:t>+</a:t>
            </a:r>
            <a:r>
              <a:rPr lang="zh-TW" altLang="en-US" dirty="0"/>
              <a:t> </a:t>
            </a:r>
            <a:r>
              <a:rPr lang="en-US" altLang="zh-TW" dirty="0"/>
              <a:t>1/</a:t>
            </a:r>
            <a:r>
              <a:rPr lang="en-US" altLang="zh-TW" sz="1200" dirty="0"/>
              <a:t>response time + 1/</a:t>
            </a:r>
            <a:r>
              <a:rPr lang="en-US" altLang="zh-TW" dirty="0" err="1"/>
              <a:t>Snmp</a:t>
            </a:r>
            <a:r>
              <a:rPr lang="en-US" altLang="zh-TW" dirty="0"/>
              <a:t> send time + others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zh-TW" dirty="0"/>
              <a:t>1/Data prepare time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sum of 2/RUST plugin + others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zh-TW" sz="1200" dirty="0"/>
              <a:t>2/Construct port table time</a:t>
            </a:r>
            <a:r>
              <a:rPr lang="zh-TW" altLang="en-US" sz="1200" dirty="0"/>
              <a:t> </a:t>
            </a:r>
            <a:r>
              <a:rPr lang="en-US" altLang="zh-TW" sz="1200" dirty="0"/>
              <a:t>=</a:t>
            </a:r>
            <a:r>
              <a:rPr lang="zh-TW" altLang="en-US" sz="1200" dirty="0"/>
              <a:t> </a:t>
            </a:r>
            <a:r>
              <a:rPr lang="en-US" altLang="zh-TW" sz="1200" dirty="0"/>
              <a:t>3/Load config time</a:t>
            </a:r>
            <a:r>
              <a:rPr lang="zh-TW" altLang="en-US" sz="1200" dirty="0"/>
              <a:t> </a:t>
            </a:r>
            <a:r>
              <a:rPr lang="en-US" altLang="zh-TW" sz="1200" dirty="0"/>
              <a:t>+ 3/check is </a:t>
            </a:r>
            <a:r>
              <a:rPr lang="en-US" altLang="zh-TW" sz="1200" dirty="0" err="1"/>
              <a:t>phr</a:t>
            </a:r>
            <a:r>
              <a:rPr lang="en-US" altLang="zh-TW" sz="1200" dirty="0"/>
              <a:t> time +</a:t>
            </a:r>
            <a:r>
              <a:rPr lang="zh-TW" altLang="en-US" sz="1200" dirty="0"/>
              <a:t> </a:t>
            </a:r>
            <a:r>
              <a:rPr lang="en-US" altLang="zh-TW" sz="1200" dirty="0"/>
              <a:t>others</a:t>
            </a:r>
            <a:endParaRPr lang="en-US" altLang="zh-TW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Data source:</a:t>
            </a:r>
            <a:r>
              <a:rPr lang="zh-TW" altLang="en-US" dirty="0"/>
              <a:t> </a:t>
            </a:r>
            <a:r>
              <a:rPr lang="en-US" altLang="zh-TW" dirty="0"/>
              <a:t>basic_test_journal_2.log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822DC-5D9D-4C1E-9631-A3171A5A388E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8631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err="1"/>
              <a:t>fiberCheckStatTxPower</a:t>
            </a:r>
            <a:r>
              <a:rPr lang="en-US" altLang="zh-TW" sz="1200" dirty="0"/>
              <a:t>, </a:t>
            </a:r>
            <a:r>
              <a:rPr lang="en-US" altLang="zh-CN" sz="1200" dirty="0" err="1"/>
              <a:t>fiberCheckStatRxPower</a:t>
            </a: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Data source:</a:t>
            </a:r>
            <a:r>
              <a:rPr lang="zh-TW" altLang="en-US" dirty="0"/>
              <a:t> </a:t>
            </a:r>
            <a:r>
              <a:rPr lang="en-US" altLang="zh-TW" dirty="0"/>
              <a:t>basic_test_journal_2.log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822DC-5D9D-4C1E-9631-A3171A5A388E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25597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此處</a:t>
            </a:r>
            <a:r>
              <a:rPr lang="en-US" altLang="zh-TW" dirty="0"/>
              <a:t>after</a:t>
            </a:r>
            <a:r>
              <a:rPr lang="zh-TW" altLang="en-US" dirty="0"/>
              <a:t>是已經移除</a:t>
            </a:r>
            <a:r>
              <a:rPr lang="en-US" altLang="zh-TW" dirty="0"/>
              <a:t>PHR check</a:t>
            </a:r>
            <a:r>
              <a:rPr lang="zh-TW" altLang="en-US" dirty="0"/>
              <a:t>和改為直接從</a:t>
            </a:r>
            <a:r>
              <a:rPr lang="en-US" altLang="zh-TW" dirty="0"/>
              <a:t>SHM</a:t>
            </a:r>
            <a:r>
              <a:rPr lang="zh-TW" altLang="en-US" dirty="0"/>
              <a:t>讀取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822DC-5D9D-4C1E-9631-A3171A5A388E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43307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3618B-F4E2-60B8-2247-E435B2474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53F282B-5FEC-8783-4A55-6477F349E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0B0AB62-FD5F-40C0-BB16-372814E04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Wireshark filter: </a:t>
            </a:r>
            <a:r>
              <a:rPr lang="en-US" altLang="zh-TW" dirty="0" err="1"/>
              <a:t>snmp</a:t>
            </a:r>
            <a:r>
              <a:rPr lang="en-US" altLang="zh-TW" dirty="0"/>
              <a:t> &amp;&amp; </a:t>
            </a:r>
            <a:r>
              <a:rPr lang="en-US" altLang="zh-TW" dirty="0" err="1"/>
              <a:t>snmp.version</a:t>
            </a:r>
            <a:r>
              <a:rPr lang="en-US" altLang="zh-TW" dirty="0"/>
              <a:t>==1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539D86-3CB0-D422-30C4-C94E2B60B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822DC-5D9D-4C1E-9631-A3171A5A388E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4919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com.tw/" TargetMode="Externa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服裝, 布, 水, 青綠色 的圖片&#10;&#10;自動產生的描述">
            <a:extLst>
              <a:ext uri="{FF2B5EF4-FFF2-40B4-BE49-F238E27FC236}">
                <a16:creationId xmlns:a16="http://schemas.microsoft.com/office/drawing/2014/main" id="{ECFE994D-0EF3-CF8F-99C4-3832D775B80E}"/>
              </a:ext>
            </a:extLst>
          </p:cNvPr>
          <p:cNvPicPr>
            <a:picLocks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8068" y="1"/>
            <a:ext cx="11275865" cy="4606183"/>
          </a:xfrm>
          <a:prstGeom prst="rect">
            <a:avLst/>
          </a:prstGeom>
        </p:spPr>
      </p:pic>
      <p:pic>
        <p:nvPicPr>
          <p:cNvPr id="7" name="圖形 6">
            <a:extLst>
              <a:ext uri="{FF2B5EF4-FFF2-40B4-BE49-F238E27FC236}">
                <a16:creationId xmlns:a16="http://schemas.microsoft.com/office/drawing/2014/main" id="{A4898908-9F47-F2B8-E4B2-6635BFFEF8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1350" y="6028720"/>
            <a:ext cx="2180503" cy="320400"/>
          </a:xfrm>
          <a:prstGeom prst="rect">
            <a:avLst/>
          </a:prstGeom>
        </p:spPr>
      </p:pic>
      <p:sp>
        <p:nvSpPr>
          <p:cNvPr id="2" name="文字版面配置區 4">
            <a:extLst>
              <a:ext uri="{FF2B5EF4-FFF2-40B4-BE49-F238E27FC236}">
                <a16:creationId xmlns:a16="http://schemas.microsoft.com/office/drawing/2014/main" id="{B0B77BC2-561F-3ED8-F753-8E3FCB257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871" y="4847759"/>
            <a:ext cx="5580923" cy="5742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lang="zh-TW" altLang="en-US" sz="2600" b="1" i="0" u="none" strike="noStrike" cap="none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lvl="0"/>
            <a:r>
              <a:rPr kumimoji="1" lang="en-US" altLang="zh-TW"/>
              <a:t>Click to add presenter’s name</a:t>
            </a:r>
            <a:endParaRPr kumimoji="1" lang="zh-TW" altLang="en-US"/>
          </a:p>
        </p:txBody>
      </p:sp>
      <p:sp>
        <p:nvSpPr>
          <p:cNvPr id="3" name="文字版面配置區 4">
            <a:extLst>
              <a:ext uri="{FF2B5EF4-FFF2-40B4-BE49-F238E27FC236}">
                <a16:creationId xmlns:a16="http://schemas.microsoft.com/office/drawing/2014/main" id="{20CBADB8-08CC-4720-BFDC-4886103E1F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076" y="5429155"/>
            <a:ext cx="5580923" cy="402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lang="zh-TW" altLang="en-US" sz="1800" b="0" i="0" u="none" strike="noStrike" cap="none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lvl="0"/>
            <a:r>
              <a:rPr kumimoji="1" lang="en-US" altLang="zh-TW"/>
              <a:t>Click to add presenter’s title</a:t>
            </a:r>
            <a:endParaRPr kumimoji="1" lang="zh-TW" altLang="en-US"/>
          </a:p>
        </p:txBody>
      </p:sp>
      <p:sp>
        <p:nvSpPr>
          <p:cNvPr id="4" name="文字版面配置區 4">
            <a:extLst>
              <a:ext uri="{FF2B5EF4-FFF2-40B4-BE49-F238E27FC236}">
                <a16:creationId xmlns:a16="http://schemas.microsoft.com/office/drawing/2014/main" id="{D699F600-EF47-92C8-63EE-1EEE57D760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871" y="6021288"/>
            <a:ext cx="5580923" cy="3342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lang="zh-TW" altLang="en-US" sz="1600" b="0" i="0" u="none" strike="noStrike" cap="none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lvl="0"/>
            <a:r>
              <a:rPr kumimoji="1" lang="en-US" altLang="zh-TW"/>
              <a:t>Click to add date (e.g. January 1, 2024)</a:t>
            </a:r>
            <a:endParaRPr kumimoji="1" lang="zh-TW" altLang="en-US"/>
          </a:p>
        </p:txBody>
      </p:sp>
      <p:sp>
        <p:nvSpPr>
          <p:cNvPr id="16" name="文字版面配置區 4">
            <a:extLst>
              <a:ext uri="{FF2B5EF4-FFF2-40B4-BE49-F238E27FC236}">
                <a16:creationId xmlns:a16="http://schemas.microsoft.com/office/drawing/2014/main" id="{BEC500C4-4FC7-6FF3-9852-CA4E8379E8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9678" y="1491442"/>
            <a:ext cx="10233338" cy="89691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lang="zh-TW" altLang="en-US" sz="4600" b="1" i="0" u="none" strike="noStrike" kern="1200" cap="none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  <a:sym typeface="Arial"/>
              </a:defRPr>
            </a:lvl1pPr>
          </a:lstStyle>
          <a:p>
            <a:pPr lvl="0"/>
            <a:r>
              <a:rPr lang="en-US" altLang="zh-TW" dirty="0"/>
              <a:t>Click to edit master title styles</a:t>
            </a:r>
            <a:endParaRPr kumimoji="1" lang="zh-TW" altLang="en-US" dirty="0"/>
          </a:p>
        </p:txBody>
      </p:sp>
      <p:sp>
        <p:nvSpPr>
          <p:cNvPr id="17" name="文字版面配置區 12">
            <a:extLst>
              <a:ext uri="{FF2B5EF4-FFF2-40B4-BE49-F238E27FC236}">
                <a16:creationId xmlns:a16="http://schemas.microsoft.com/office/drawing/2014/main" id="{B9837A9B-7429-820F-A4C5-1E3736B979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201" y="2390444"/>
            <a:ext cx="10233338" cy="734895"/>
          </a:xfrm>
        </p:spPr>
        <p:txBody>
          <a:bodyPr>
            <a:normAutofit/>
          </a:bodyPr>
          <a:lstStyle>
            <a:lvl1pPr marL="0" marR="0" indent="0" algn="l" defTabSz="91430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Tx/>
              <a:buFont typeface="Arial" panose="020B0604020202020204" pitchFamily="34" charset="0"/>
              <a:buNone/>
              <a:tabLst/>
              <a:defRPr lang="zh-TW" altLang="en-US" sz="2800" b="0" i="0" u="none" strike="noStrike" kern="1200" cap="none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  <a:sym typeface="Arial"/>
              </a:defRPr>
            </a:lvl1pPr>
          </a:lstStyle>
          <a:p>
            <a:pPr lvl="0"/>
            <a:r>
              <a:rPr kumimoji="1" lang="en-US" altLang="zh-TW" dirty="0"/>
              <a:t>Click to edit master subtitle styles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9612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CCDCB7F7-1BC9-126D-F62F-D7EE13E31F7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68" y="0"/>
            <a:ext cx="11275864" cy="46080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27FC470-F141-C9BB-493E-638B9F5377EF}"/>
              </a:ext>
            </a:extLst>
          </p:cNvPr>
          <p:cNvSpPr/>
          <p:nvPr/>
        </p:nvSpPr>
        <p:spPr>
          <a:xfrm>
            <a:off x="458067" y="0"/>
            <a:ext cx="8732711" cy="4608000"/>
          </a:xfrm>
          <a:prstGeom prst="rect">
            <a:avLst/>
          </a:prstGeom>
          <a:gradFill>
            <a:gsLst>
              <a:gs pos="32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1834E75B-44F2-6DB6-4FD4-87F9C93FF3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1350" y="6028720"/>
            <a:ext cx="2180503" cy="320400"/>
          </a:xfrm>
          <a:prstGeom prst="rect">
            <a:avLst/>
          </a:prstGeom>
        </p:spPr>
      </p:pic>
      <p:sp>
        <p:nvSpPr>
          <p:cNvPr id="9" name="文字版面配置區 4">
            <a:extLst>
              <a:ext uri="{FF2B5EF4-FFF2-40B4-BE49-F238E27FC236}">
                <a16:creationId xmlns:a16="http://schemas.microsoft.com/office/drawing/2014/main" id="{937B59BC-041B-068F-1245-1843B1BA1B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871" y="4847759"/>
            <a:ext cx="5580923" cy="5742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lang="zh-TW" altLang="en-US" sz="2600" b="1" i="0" u="none" strike="noStrike" cap="none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lvl="0"/>
            <a:r>
              <a:rPr kumimoji="1" lang="en-US" altLang="zh-TW"/>
              <a:t>Click to add presenter’s name</a:t>
            </a:r>
            <a:endParaRPr kumimoji="1" lang="zh-TW" altLang="en-US"/>
          </a:p>
        </p:txBody>
      </p:sp>
      <p:sp>
        <p:nvSpPr>
          <p:cNvPr id="17" name="文字版面配置區 4">
            <a:extLst>
              <a:ext uri="{FF2B5EF4-FFF2-40B4-BE49-F238E27FC236}">
                <a16:creationId xmlns:a16="http://schemas.microsoft.com/office/drawing/2014/main" id="{29CDE9E1-0114-BD26-4231-08C504A15D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076" y="5429155"/>
            <a:ext cx="5580923" cy="402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lang="zh-TW" altLang="en-US" sz="1800" b="0" i="0" u="none" strike="noStrike" cap="none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lvl="0"/>
            <a:r>
              <a:rPr kumimoji="1" lang="en-US" altLang="zh-TW"/>
              <a:t>Click to add presenter’s title</a:t>
            </a:r>
            <a:endParaRPr kumimoji="1" lang="zh-TW" altLang="en-US"/>
          </a:p>
        </p:txBody>
      </p:sp>
      <p:sp>
        <p:nvSpPr>
          <p:cNvPr id="18" name="文字版面配置區 4">
            <a:extLst>
              <a:ext uri="{FF2B5EF4-FFF2-40B4-BE49-F238E27FC236}">
                <a16:creationId xmlns:a16="http://schemas.microsoft.com/office/drawing/2014/main" id="{3A9E6C47-87B1-D509-3F4F-C5980E8CD9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871" y="6021288"/>
            <a:ext cx="5580923" cy="3342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lang="zh-TW" altLang="en-US" sz="1600" b="0" i="0" u="none" strike="noStrike" cap="none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lvl="0"/>
            <a:r>
              <a:rPr kumimoji="1" lang="en-US" altLang="zh-TW"/>
              <a:t>Click to add date (e.g. January 1, 2024)</a:t>
            </a:r>
            <a:endParaRPr kumimoji="1" lang="zh-TW" altLang="en-US"/>
          </a:p>
        </p:txBody>
      </p:sp>
      <p:sp>
        <p:nvSpPr>
          <p:cNvPr id="3" name="文字版面配置區 4">
            <a:extLst>
              <a:ext uri="{FF2B5EF4-FFF2-40B4-BE49-F238E27FC236}">
                <a16:creationId xmlns:a16="http://schemas.microsoft.com/office/drawing/2014/main" id="{821F4EAC-F1ED-1966-DEAD-3B939AF65F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9678" y="1491442"/>
            <a:ext cx="10233338" cy="89691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lang="zh-TW" altLang="en-US" sz="4600" b="1" i="0" u="none" strike="noStrike" kern="1200" cap="none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  <a:sym typeface="Arial"/>
              </a:defRPr>
            </a:lvl1pPr>
          </a:lstStyle>
          <a:p>
            <a:pPr lvl="0"/>
            <a:r>
              <a:rPr lang="en-US" altLang="zh-TW" dirty="0"/>
              <a:t>Click to edit master title styles</a:t>
            </a:r>
            <a:endParaRPr kumimoji="1" lang="zh-TW" altLang="en-US" dirty="0"/>
          </a:p>
        </p:txBody>
      </p:sp>
      <p:sp>
        <p:nvSpPr>
          <p:cNvPr id="4" name="文字版面配置區 12">
            <a:extLst>
              <a:ext uri="{FF2B5EF4-FFF2-40B4-BE49-F238E27FC236}">
                <a16:creationId xmlns:a16="http://schemas.microsoft.com/office/drawing/2014/main" id="{26F1737D-99C7-A157-8D3C-D3C7F5359D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5985" y="2390444"/>
            <a:ext cx="10233338" cy="734895"/>
          </a:xfrm>
        </p:spPr>
        <p:txBody>
          <a:bodyPr>
            <a:normAutofit/>
          </a:bodyPr>
          <a:lstStyle>
            <a:lvl1pPr marL="0" marR="0" indent="0" algn="l" defTabSz="91430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Tx/>
              <a:buFont typeface="Arial" panose="020B0604020202020204" pitchFamily="34" charset="0"/>
              <a:buNone/>
              <a:tabLst/>
              <a:defRPr lang="zh-TW" altLang="en-US" sz="2800" b="0" i="0" u="none" strike="noStrike" kern="1200" cap="none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  <a:sym typeface="Arial"/>
              </a:defRPr>
            </a:lvl1pPr>
          </a:lstStyle>
          <a:p>
            <a:pPr lvl="0"/>
            <a:r>
              <a:rPr kumimoji="1" lang="en-US" altLang="zh-TW" dirty="0"/>
              <a:t>Click to edit master subtitle styles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62694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06F8B60-DF12-8BE1-1D70-CD3A6E5CDE70}"/>
              </a:ext>
            </a:extLst>
          </p:cNvPr>
          <p:cNvSpPr/>
          <p:nvPr/>
        </p:nvSpPr>
        <p:spPr>
          <a:xfrm>
            <a:off x="794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手繪多邊形 2">
            <a:extLst>
              <a:ext uri="{FF2B5EF4-FFF2-40B4-BE49-F238E27FC236}">
                <a16:creationId xmlns:a16="http://schemas.microsoft.com/office/drawing/2014/main" id="{15BAE309-9C98-14BD-F5E4-35C32186910D}"/>
              </a:ext>
            </a:extLst>
          </p:cNvPr>
          <p:cNvSpPr/>
          <p:nvPr/>
        </p:nvSpPr>
        <p:spPr>
          <a:xfrm rot="10800000">
            <a:off x="6096795" y="0"/>
            <a:ext cx="5110317" cy="6858000"/>
          </a:xfrm>
          <a:custGeom>
            <a:avLst/>
            <a:gdLst>
              <a:gd name="connsiteX0" fmla="*/ 2878736 w 5110984"/>
              <a:gd name="connsiteY0" fmla="*/ 0 h 6858001"/>
              <a:gd name="connsiteX1" fmla="*/ 4399784 w 5110984"/>
              <a:gd name="connsiteY1" fmla="*/ 0 h 6858001"/>
              <a:gd name="connsiteX2" fmla="*/ 5110984 w 5110984"/>
              <a:gd name="connsiteY2" fmla="*/ 0 h 6858001"/>
              <a:gd name="connsiteX3" fmla="*/ 2232248 w 5110984"/>
              <a:gd name="connsiteY3" fmla="*/ 6858001 h 6858001"/>
              <a:gd name="connsiteX4" fmla="*/ 1521048 w 5110984"/>
              <a:gd name="connsiteY4" fmla="*/ 6858001 h 6858001"/>
              <a:gd name="connsiteX5" fmla="*/ 0 w 5110984"/>
              <a:gd name="connsiteY5" fmla="*/ 6858001 h 6858001"/>
              <a:gd name="connsiteX6" fmla="*/ 2878736 w 5110984"/>
              <a:gd name="connsiteY6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10984" h="6858001">
                <a:moveTo>
                  <a:pt x="2878736" y="0"/>
                </a:moveTo>
                <a:lnTo>
                  <a:pt x="4399784" y="0"/>
                </a:lnTo>
                <a:lnTo>
                  <a:pt x="5110984" y="0"/>
                </a:lnTo>
                <a:lnTo>
                  <a:pt x="2232248" y="6858001"/>
                </a:lnTo>
                <a:lnTo>
                  <a:pt x="1521048" y="6858001"/>
                </a:lnTo>
                <a:lnTo>
                  <a:pt x="0" y="6858001"/>
                </a:lnTo>
                <a:lnTo>
                  <a:pt x="2878736" y="0"/>
                </a:lnTo>
                <a:close/>
              </a:path>
            </a:pathLst>
          </a:custGeom>
          <a:solidFill>
            <a:schemeClr val="accent2">
              <a:alpha val="248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TW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手繪多邊形 3">
            <a:extLst>
              <a:ext uri="{FF2B5EF4-FFF2-40B4-BE49-F238E27FC236}">
                <a16:creationId xmlns:a16="http://schemas.microsoft.com/office/drawing/2014/main" id="{ED02A123-2BFA-8F7E-E9D3-4B7A68E8881A}"/>
              </a:ext>
            </a:extLst>
          </p:cNvPr>
          <p:cNvSpPr/>
          <p:nvPr/>
        </p:nvSpPr>
        <p:spPr>
          <a:xfrm>
            <a:off x="10252734" y="2237495"/>
            <a:ext cx="1939266" cy="4620509"/>
          </a:xfrm>
          <a:custGeom>
            <a:avLst/>
            <a:gdLst>
              <a:gd name="connsiteX0" fmla="*/ 1566987 w 1566987"/>
              <a:gd name="connsiteY0" fmla="*/ 0 h 3733027"/>
              <a:gd name="connsiteX1" fmla="*/ 1566987 w 1566987"/>
              <a:gd name="connsiteY1" fmla="*/ 3733027 h 3733027"/>
              <a:gd name="connsiteX2" fmla="*/ 0 w 1566987"/>
              <a:gd name="connsiteY2" fmla="*/ 3733027 h 3733027"/>
              <a:gd name="connsiteX3" fmla="*/ 1566987 w 1566987"/>
              <a:gd name="connsiteY3" fmla="*/ 0 h 3733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6987" h="3733027">
                <a:moveTo>
                  <a:pt x="1566987" y="0"/>
                </a:moveTo>
                <a:lnTo>
                  <a:pt x="1566987" y="3733027"/>
                </a:lnTo>
                <a:lnTo>
                  <a:pt x="0" y="3733027"/>
                </a:lnTo>
                <a:lnTo>
                  <a:pt x="1566987" y="0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TW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字版面配置區 4">
            <a:extLst>
              <a:ext uri="{FF2B5EF4-FFF2-40B4-BE49-F238E27FC236}">
                <a16:creationId xmlns:a16="http://schemas.microsoft.com/office/drawing/2014/main" id="{4594EBB3-20C9-DA42-BE2B-49796FFC4F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3789" y="3609475"/>
            <a:ext cx="5262398" cy="39850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Tx/>
              <a:buFont typeface="Arial" panose="020B0604020202020204" pitchFamily="34" charset="0"/>
              <a:buNone/>
              <a:tabLst/>
              <a:defRPr lang="en-US" altLang="zh-TW" sz="2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2000">
                <a:ea typeface="+mn-ea"/>
              </a:rPr>
              <a:t>Level: External Confidential</a:t>
            </a:r>
          </a:p>
        </p:txBody>
      </p:sp>
      <p:sp>
        <p:nvSpPr>
          <p:cNvPr id="6" name="文字版面配置區 4">
            <a:extLst>
              <a:ext uri="{FF2B5EF4-FFF2-40B4-BE49-F238E27FC236}">
                <a16:creationId xmlns:a16="http://schemas.microsoft.com/office/drawing/2014/main" id="{720BFDFF-41FB-9E3B-70F7-7CF117B80B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3789" y="4076729"/>
            <a:ext cx="5262398" cy="37388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lang="en-US" altLang="zh-TW" sz="20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zh-TW"/>
              <a:t>Version: v1.0</a:t>
            </a:r>
            <a:endParaRPr lang="zh-TW" altLang="en-US"/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479F0235-4B23-293F-5DA1-1A050862FDA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790" y="512670"/>
            <a:ext cx="1509806" cy="221849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42270E5E-A846-D907-8EFA-17F48861DA26}"/>
              </a:ext>
            </a:extLst>
          </p:cNvPr>
          <p:cNvSpPr txBox="1"/>
          <p:nvPr/>
        </p:nvSpPr>
        <p:spPr>
          <a:xfrm>
            <a:off x="553789" y="5835500"/>
            <a:ext cx="10325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kumimoji="1" lang="en-US" altLang="zh-TW" sz="1000" b="1" u="none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 Notes:</a:t>
            </a:r>
          </a:p>
          <a:p>
            <a:pPr marL="0" marR="0" lvl="0" indent="0" algn="l" defTabSz="91430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sz="1000" b="0" u="none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proprietary information contained in this file is confidential and disclosed only for Moxa Internal Usage. The receiving party has the obligation to protect the confidentiality of any</a:t>
            </a:r>
            <a:br>
              <a:rPr lang="en-US" altLang="zh-TW" sz="1000" b="0" u="none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en-US" altLang="zh-TW" sz="1000" b="0" u="none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and all information contained in this file. Any use of this material without specific permission form [Department Name] is strictly prohibited.</a:t>
            </a:r>
          </a:p>
        </p:txBody>
      </p:sp>
      <p:sp>
        <p:nvSpPr>
          <p:cNvPr id="11" name="文字版面配置區 4">
            <a:extLst>
              <a:ext uri="{FF2B5EF4-FFF2-40B4-BE49-F238E27FC236}">
                <a16:creationId xmlns:a16="http://schemas.microsoft.com/office/drawing/2014/main" id="{31B19B5F-9BEF-3925-D3F5-14BD9187A4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4171" y="1491442"/>
            <a:ext cx="10233338" cy="89691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lang="zh-TW" altLang="en-US" sz="4600" b="1" i="0" u="none" strike="noStrike" kern="1200" cap="none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  <a:sym typeface="Arial"/>
              </a:defRPr>
            </a:lvl1pPr>
          </a:lstStyle>
          <a:p>
            <a:pPr lvl="0"/>
            <a:r>
              <a:rPr lang="en-US" altLang="zh-TW" dirty="0"/>
              <a:t>Click to edit master title styles</a:t>
            </a:r>
            <a:endParaRPr kumimoji="1" lang="zh-TW" altLang="en-US" dirty="0"/>
          </a:p>
        </p:txBody>
      </p:sp>
      <p:sp>
        <p:nvSpPr>
          <p:cNvPr id="13" name="文字版面配置區 12">
            <a:extLst>
              <a:ext uri="{FF2B5EF4-FFF2-40B4-BE49-F238E27FC236}">
                <a16:creationId xmlns:a16="http://schemas.microsoft.com/office/drawing/2014/main" id="{FA29FC00-D331-075A-B1EA-113BF7D4289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4433" y="2390444"/>
            <a:ext cx="10229879" cy="734895"/>
          </a:xfrm>
        </p:spPr>
        <p:txBody>
          <a:bodyPr>
            <a:normAutofit/>
          </a:bodyPr>
          <a:lstStyle>
            <a:lvl1pPr marL="0" marR="0" indent="0" algn="l" defTabSz="91430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Tx/>
              <a:buFont typeface="Arial" panose="020B0604020202020204" pitchFamily="34" charset="0"/>
              <a:buNone/>
              <a:tabLst/>
              <a:defRPr lang="zh-TW" altLang="en-US" sz="2800" b="0" i="0" u="none" strike="noStrike" kern="1200" cap="none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  <a:sym typeface="Arial"/>
              </a:defRPr>
            </a:lvl1pPr>
          </a:lstStyle>
          <a:p>
            <a:pPr lvl="0"/>
            <a:r>
              <a:rPr kumimoji="1" lang="en-US" altLang="zh-TW" dirty="0"/>
              <a:t>Click to edit master subtitle styles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3217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4E4916F1-4268-DDE1-6026-A8EAC277B4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" y="2682173"/>
            <a:ext cx="8887591" cy="1278196"/>
          </a:xfrm>
          <a:prstGeom prst="rect">
            <a:avLst/>
          </a:prstGeom>
        </p:spPr>
        <p:txBody>
          <a:bodyPr anchor="t"/>
          <a:lstStyle>
            <a:lvl1pPr marR="0" algn="l" defTabSz="914309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 lang="zh-TW" altLang="en-US" sz="4600" b="1" i="0" u="none" strike="noStrike" kern="1200" cap="none" dirty="0">
                <a:solidFill>
                  <a:schemeClr val="l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/>
              </a:defRPr>
            </a:lvl1pPr>
          </a:lstStyle>
          <a:p>
            <a:r>
              <a:rPr kumimoji="1" lang="en-US" altLang="zh-TW" dirty="0"/>
              <a:t>Click to edit master title styles</a:t>
            </a:r>
            <a:endParaRPr kumimoji="1" lang="zh-TW" altLang="en-US" dirty="0"/>
          </a:p>
        </p:txBody>
      </p:sp>
      <p:pic>
        <p:nvPicPr>
          <p:cNvPr id="2" name="圖形 1">
            <a:extLst>
              <a:ext uri="{FF2B5EF4-FFF2-40B4-BE49-F238E27FC236}">
                <a16:creationId xmlns:a16="http://schemas.microsoft.com/office/drawing/2014/main" id="{1AAA49D3-8A3E-1576-0D05-F539A39EEC9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2797" y="6483973"/>
            <a:ext cx="1127001" cy="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2037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84A1A4B9-375C-6A69-F60C-E15D43C642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2200"/>
            <a:ext cx="10283700" cy="6855799"/>
          </a:xfrm>
          <a:prstGeom prst="rect">
            <a:avLst/>
          </a:prstGeom>
        </p:spPr>
      </p:pic>
      <p:sp>
        <p:nvSpPr>
          <p:cNvPr id="2" name="手繪多邊形 1">
            <a:extLst>
              <a:ext uri="{FF2B5EF4-FFF2-40B4-BE49-F238E27FC236}">
                <a16:creationId xmlns:a16="http://schemas.microsoft.com/office/drawing/2014/main" id="{1BC3D86C-9C1B-392F-C809-E9789469CF85}"/>
              </a:ext>
            </a:extLst>
          </p:cNvPr>
          <p:cNvSpPr/>
          <p:nvPr/>
        </p:nvSpPr>
        <p:spPr>
          <a:xfrm flipH="1" flipV="1">
            <a:off x="4400511" y="-1"/>
            <a:ext cx="7804220" cy="6858001"/>
          </a:xfrm>
          <a:custGeom>
            <a:avLst/>
            <a:gdLst>
              <a:gd name="connsiteX0" fmla="*/ 5335204 w 8213940"/>
              <a:gd name="connsiteY0" fmla="*/ 6858001 h 6858001"/>
              <a:gd name="connsiteX1" fmla="*/ 4624004 w 8213940"/>
              <a:gd name="connsiteY1" fmla="*/ 6858001 h 6858001"/>
              <a:gd name="connsiteX2" fmla="*/ 4351772 w 8213940"/>
              <a:gd name="connsiteY2" fmla="*/ 6858001 h 6858001"/>
              <a:gd name="connsiteX3" fmla="*/ 3950871 w 8213940"/>
              <a:gd name="connsiteY3" fmla="*/ 6858001 h 6858001"/>
              <a:gd name="connsiteX4" fmla="*/ 3640572 w 8213940"/>
              <a:gd name="connsiteY4" fmla="*/ 6858001 h 6858001"/>
              <a:gd name="connsiteX5" fmla="*/ 3239671 w 8213940"/>
              <a:gd name="connsiteY5" fmla="*/ 6858001 h 6858001"/>
              <a:gd name="connsiteX6" fmla="*/ 2967439 w 8213940"/>
              <a:gd name="connsiteY6" fmla="*/ 6858001 h 6858001"/>
              <a:gd name="connsiteX7" fmla="*/ 2256239 w 8213940"/>
              <a:gd name="connsiteY7" fmla="*/ 6858001 h 6858001"/>
              <a:gd name="connsiteX8" fmla="*/ 1384333 w 8213940"/>
              <a:gd name="connsiteY8" fmla="*/ 6858001 h 6858001"/>
              <a:gd name="connsiteX9" fmla="*/ 0 w 8213940"/>
              <a:gd name="connsiteY9" fmla="*/ 6858001 h 6858001"/>
              <a:gd name="connsiteX10" fmla="*/ 0 w 8213940"/>
              <a:gd name="connsiteY10" fmla="*/ 1 h 6858001"/>
              <a:gd name="connsiteX11" fmla="*/ 1384333 w 8213940"/>
              <a:gd name="connsiteY11" fmla="*/ 1 h 6858001"/>
              <a:gd name="connsiteX12" fmla="*/ 2256239 w 8213940"/>
              <a:gd name="connsiteY12" fmla="*/ 1 h 6858001"/>
              <a:gd name="connsiteX13" fmla="*/ 2256239 w 8213940"/>
              <a:gd name="connsiteY13" fmla="*/ 0 h 6858001"/>
              <a:gd name="connsiteX14" fmla="*/ 2967439 w 8213940"/>
              <a:gd name="connsiteY14" fmla="*/ 0 h 6858001"/>
              <a:gd name="connsiteX15" fmla="*/ 3239671 w 8213940"/>
              <a:gd name="connsiteY15" fmla="*/ 0 h 6858001"/>
              <a:gd name="connsiteX16" fmla="*/ 3640572 w 8213940"/>
              <a:gd name="connsiteY16" fmla="*/ 0 h 6858001"/>
              <a:gd name="connsiteX17" fmla="*/ 3950871 w 8213940"/>
              <a:gd name="connsiteY17" fmla="*/ 0 h 6858001"/>
              <a:gd name="connsiteX18" fmla="*/ 4351772 w 8213940"/>
              <a:gd name="connsiteY18" fmla="*/ 0 h 6858001"/>
              <a:gd name="connsiteX19" fmla="*/ 4624004 w 8213940"/>
              <a:gd name="connsiteY19" fmla="*/ 0 h 6858001"/>
              <a:gd name="connsiteX20" fmla="*/ 5134975 w 8213940"/>
              <a:gd name="connsiteY20" fmla="*/ 0 h 6858001"/>
              <a:gd name="connsiteX21" fmla="*/ 5335204 w 8213940"/>
              <a:gd name="connsiteY21" fmla="*/ 0 h 6858001"/>
              <a:gd name="connsiteX22" fmla="*/ 5846175 w 8213940"/>
              <a:gd name="connsiteY22" fmla="*/ 0 h 6858001"/>
              <a:gd name="connsiteX23" fmla="*/ 6118407 w 8213940"/>
              <a:gd name="connsiteY23" fmla="*/ 0 h 6858001"/>
              <a:gd name="connsiteX24" fmla="*/ 6519308 w 8213940"/>
              <a:gd name="connsiteY24" fmla="*/ 0 h 6858001"/>
              <a:gd name="connsiteX25" fmla="*/ 6829607 w 8213940"/>
              <a:gd name="connsiteY25" fmla="*/ 0 h 6858001"/>
              <a:gd name="connsiteX26" fmla="*/ 7230508 w 8213940"/>
              <a:gd name="connsiteY26" fmla="*/ 0 h 6858001"/>
              <a:gd name="connsiteX27" fmla="*/ 7502740 w 8213940"/>
              <a:gd name="connsiteY27" fmla="*/ 0 h 6858001"/>
              <a:gd name="connsiteX28" fmla="*/ 8213940 w 8213940"/>
              <a:gd name="connsiteY28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213940" h="6858001">
                <a:moveTo>
                  <a:pt x="5335204" y="6858001"/>
                </a:moveTo>
                <a:lnTo>
                  <a:pt x="4624004" y="6858001"/>
                </a:lnTo>
                <a:lnTo>
                  <a:pt x="4351772" y="6858001"/>
                </a:lnTo>
                <a:lnTo>
                  <a:pt x="3950871" y="6858001"/>
                </a:lnTo>
                <a:lnTo>
                  <a:pt x="3640572" y="6858001"/>
                </a:lnTo>
                <a:lnTo>
                  <a:pt x="3239671" y="6858001"/>
                </a:lnTo>
                <a:lnTo>
                  <a:pt x="2967439" y="6858001"/>
                </a:lnTo>
                <a:lnTo>
                  <a:pt x="2256239" y="6858001"/>
                </a:lnTo>
                <a:lnTo>
                  <a:pt x="1384333" y="6858001"/>
                </a:lnTo>
                <a:lnTo>
                  <a:pt x="0" y="6858001"/>
                </a:lnTo>
                <a:lnTo>
                  <a:pt x="0" y="1"/>
                </a:lnTo>
                <a:lnTo>
                  <a:pt x="1384333" y="1"/>
                </a:lnTo>
                <a:lnTo>
                  <a:pt x="2256239" y="1"/>
                </a:lnTo>
                <a:lnTo>
                  <a:pt x="2256239" y="0"/>
                </a:lnTo>
                <a:lnTo>
                  <a:pt x="2967439" y="0"/>
                </a:lnTo>
                <a:lnTo>
                  <a:pt x="3239671" y="0"/>
                </a:lnTo>
                <a:lnTo>
                  <a:pt x="3640572" y="0"/>
                </a:lnTo>
                <a:lnTo>
                  <a:pt x="3950871" y="0"/>
                </a:lnTo>
                <a:lnTo>
                  <a:pt x="4351772" y="0"/>
                </a:lnTo>
                <a:lnTo>
                  <a:pt x="4624004" y="0"/>
                </a:lnTo>
                <a:lnTo>
                  <a:pt x="5134975" y="0"/>
                </a:lnTo>
                <a:lnTo>
                  <a:pt x="5335204" y="0"/>
                </a:lnTo>
                <a:lnTo>
                  <a:pt x="5846175" y="0"/>
                </a:lnTo>
                <a:lnTo>
                  <a:pt x="6118407" y="0"/>
                </a:lnTo>
                <a:lnTo>
                  <a:pt x="6519308" y="0"/>
                </a:lnTo>
                <a:lnTo>
                  <a:pt x="6829607" y="0"/>
                </a:lnTo>
                <a:lnTo>
                  <a:pt x="7230508" y="0"/>
                </a:lnTo>
                <a:lnTo>
                  <a:pt x="7502740" y="0"/>
                </a:lnTo>
                <a:lnTo>
                  <a:pt x="821394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TW" altLang="en-US" sz="1800"/>
          </a:p>
        </p:txBody>
      </p:sp>
      <p:pic>
        <p:nvPicPr>
          <p:cNvPr id="4" name="圖形 3">
            <a:extLst>
              <a:ext uri="{FF2B5EF4-FFF2-40B4-BE49-F238E27FC236}">
                <a16:creationId xmlns:a16="http://schemas.microsoft.com/office/drawing/2014/main" id="{645A4185-9C1B-AB4E-CD78-20EE99A9DF7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2797" y="6483973"/>
            <a:ext cx="1127001" cy="165600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3D76AE74-F0F1-8FC1-E6EC-33D38567B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58843" y="2725753"/>
            <a:ext cx="5154734" cy="1819261"/>
          </a:xfrm>
          <a:prstGeom prst="rect">
            <a:avLst/>
          </a:prstGeom>
        </p:spPr>
        <p:txBody>
          <a:bodyPr anchor="t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zh-TW" altLang="en-US" sz="4600" b="1" i="0" u="none" strike="noStrike" cap="none" baseline="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r>
              <a:rPr kumimoji="1" lang="en-US" altLang="zh-TW" dirty="0"/>
              <a:t>Click to edit master title styles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19511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手繪多邊形 7">
            <a:extLst>
              <a:ext uri="{FF2B5EF4-FFF2-40B4-BE49-F238E27FC236}">
                <a16:creationId xmlns:a16="http://schemas.microsoft.com/office/drawing/2014/main" id="{B858E2D4-61A0-656D-4AF7-B7302422D56F}"/>
              </a:ext>
            </a:extLst>
          </p:cNvPr>
          <p:cNvSpPr/>
          <p:nvPr/>
        </p:nvSpPr>
        <p:spPr>
          <a:xfrm>
            <a:off x="0" y="-1"/>
            <a:ext cx="5111882" cy="6858001"/>
          </a:xfrm>
          <a:custGeom>
            <a:avLst/>
            <a:gdLst>
              <a:gd name="connsiteX0" fmla="*/ 1522612 w 5112548"/>
              <a:gd name="connsiteY0" fmla="*/ 0 h 6858001"/>
              <a:gd name="connsiteX1" fmla="*/ 2233812 w 5112548"/>
              <a:gd name="connsiteY1" fmla="*/ 0 h 6858001"/>
              <a:gd name="connsiteX2" fmla="*/ 4401348 w 5112548"/>
              <a:gd name="connsiteY2" fmla="*/ 0 h 6858001"/>
              <a:gd name="connsiteX3" fmla="*/ 5112548 w 5112548"/>
              <a:gd name="connsiteY3" fmla="*/ 0 h 6858001"/>
              <a:gd name="connsiteX4" fmla="*/ 2233812 w 5112548"/>
              <a:gd name="connsiteY4" fmla="*/ 6858001 h 6858001"/>
              <a:gd name="connsiteX5" fmla="*/ 1522612 w 5112548"/>
              <a:gd name="connsiteY5" fmla="*/ 6858001 h 6858001"/>
              <a:gd name="connsiteX6" fmla="*/ 0 w 5112548"/>
              <a:gd name="connsiteY6" fmla="*/ 6858001 h 6858001"/>
              <a:gd name="connsiteX7" fmla="*/ 0 w 5112548"/>
              <a:gd name="connsiteY7" fmla="*/ 1 h 6858001"/>
              <a:gd name="connsiteX8" fmla="*/ 1522612 w 5112548"/>
              <a:gd name="connsiteY8" fmla="*/ 1 h 6858001"/>
              <a:gd name="connsiteX9" fmla="*/ 1522612 w 5112548"/>
              <a:gd name="connsiteY9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12548" h="6858001">
                <a:moveTo>
                  <a:pt x="1522612" y="0"/>
                </a:moveTo>
                <a:lnTo>
                  <a:pt x="2233812" y="0"/>
                </a:lnTo>
                <a:lnTo>
                  <a:pt x="4401348" y="0"/>
                </a:lnTo>
                <a:lnTo>
                  <a:pt x="5112548" y="0"/>
                </a:lnTo>
                <a:lnTo>
                  <a:pt x="2233812" y="6858001"/>
                </a:lnTo>
                <a:lnTo>
                  <a:pt x="1522612" y="6858001"/>
                </a:lnTo>
                <a:lnTo>
                  <a:pt x="0" y="6858001"/>
                </a:lnTo>
                <a:lnTo>
                  <a:pt x="0" y="1"/>
                </a:lnTo>
                <a:lnTo>
                  <a:pt x="1522612" y="1"/>
                </a:lnTo>
                <a:lnTo>
                  <a:pt x="1522612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TW" altLang="en-US" sz="1800" b="1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D76AE74-F0F1-8FC1-E6EC-33D38567B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727" y="1409700"/>
            <a:ext cx="3724521" cy="2346513"/>
          </a:xfrm>
          <a:prstGeom prst="rect">
            <a:avLst/>
          </a:prstGeom>
        </p:spPr>
        <p:txBody>
          <a:bodyPr anchor="t"/>
          <a:lstStyle>
            <a:lvl1pPr marL="0" marR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lang="zh-TW" altLang="en-US" sz="46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zh-TW" dirty="0"/>
              <a:t>Click to edit master title styles</a:t>
            </a:r>
            <a:br>
              <a:rPr kumimoji="1" lang="zh-TW" altLang="en-US" dirty="0"/>
            </a:br>
            <a:endParaRPr kumimoji="1" lang="zh-TW" alt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5CA76627-6548-F3E1-C440-B04AC02DFCEA}"/>
              </a:ext>
            </a:extLst>
          </p:cNvPr>
          <p:cNvSpPr txBox="1">
            <a:spLocks/>
          </p:cNvSpPr>
          <p:nvPr/>
        </p:nvSpPr>
        <p:spPr>
          <a:xfrm>
            <a:off x="6204730" y="512763"/>
            <a:ext cx="5471399" cy="5832475"/>
          </a:xfrm>
          <a:prstGeom prst="rect">
            <a:avLst/>
          </a:prstGeom>
        </p:spPr>
        <p:txBody>
          <a:bodyPr anchor="ctr"/>
          <a:lstStyle>
            <a:lvl1pPr marR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zh-TW" altLang="en-US" sz="4200" b="0" i="0" u="none" strike="noStrike" kern="1200" cap="none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algn="l">
              <a:lnSpc>
                <a:spcPct val="150000"/>
              </a:lnSpc>
            </a:pPr>
            <a:endParaRPr lang="en-US" altLang="zh-TW" sz="2200" b="0" i="0" u="none" strike="noStrike" kern="1200" cap="none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文字版面配置區 4">
            <a:extLst>
              <a:ext uri="{FF2B5EF4-FFF2-40B4-BE49-F238E27FC236}">
                <a16:creationId xmlns:a16="http://schemas.microsoft.com/office/drawing/2014/main" id="{01C22953-92C7-BB83-BE06-C1BCBA0DBA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03767" y="512763"/>
            <a:ext cx="6473883" cy="5832475"/>
          </a:xfrm>
          <a:prstGeom prst="rect">
            <a:avLst/>
          </a:prstGeom>
        </p:spPr>
        <p:txBody>
          <a:bodyPr anchor="ctr"/>
          <a:lstStyle>
            <a:lvl1pPr marL="457200" indent="-457200" algn="l">
              <a:lnSpc>
                <a:spcPct val="18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lang="zh-TW" altLang="en-US" sz="2200" b="1" i="0" u="none" strike="noStrike" kern="1200" cap="none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defRPr>
            </a:lvl1pPr>
          </a:lstStyle>
          <a:p>
            <a:pPr marL="457200" marR="0" lvl="0" indent="-457200" algn="l" defTabSz="914309" rtl="0" eaLnBrk="1" fontAlgn="auto" latinLnBrk="0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+mj-lt"/>
              <a:buAutoNum type="arabicPeriod"/>
              <a:tabLst/>
              <a:defRPr/>
            </a:pPr>
            <a:r>
              <a:rPr lang="en-US" altLang="zh-TW" dirty="0"/>
              <a:t>Click to edit text styles</a:t>
            </a:r>
            <a:endParaRPr kumimoji="1" lang="zh-TW" altLang="en-US" dirty="0"/>
          </a:p>
          <a:p>
            <a:pPr lvl="0"/>
            <a:endParaRPr kumimoji="1" lang="en-US" altLang="zh-TW" dirty="0"/>
          </a:p>
          <a:p>
            <a:pPr lvl="0"/>
            <a:endParaRPr kumimoji="1" lang="zh-TW" altLang="en-US" dirty="0"/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A0F1EF7C-462E-7E64-3E5D-EA32D32CCA5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2797" y="6483973"/>
            <a:ext cx="1127001" cy="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193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Title + 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0C7CFC0A-1B27-B05C-95A9-F6AE2CCC606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788115"/>
            <a:ext cx="12192000" cy="69887"/>
          </a:xfrm>
          <a:prstGeom prst="rect">
            <a:avLst/>
          </a:prstGeom>
        </p:spPr>
      </p:pic>
      <p:pic>
        <p:nvPicPr>
          <p:cNvPr id="2" name="圖形 1">
            <a:extLst>
              <a:ext uri="{FF2B5EF4-FFF2-40B4-BE49-F238E27FC236}">
                <a16:creationId xmlns:a16="http://schemas.microsoft.com/office/drawing/2014/main" id="{ACD61131-BBF7-2FCE-10EE-DF378B5A911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2797" y="6483973"/>
            <a:ext cx="1127001" cy="165600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7A9BC91A-8991-8E11-AC93-25710760A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710" y="417523"/>
            <a:ext cx="11158565" cy="777116"/>
          </a:xfrm>
          <a:prstGeom prst="rect">
            <a:avLst/>
          </a:prstGeom>
        </p:spPr>
        <p:txBody>
          <a:bodyPr anchor="t"/>
          <a:lstStyle>
            <a:lvl1pPr marL="0" marR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lang="zh-TW" altLang="en-US" sz="3600" b="1" i="0" u="none" strike="noStrike" cap="none">
                <a:solidFill>
                  <a:srgbClr val="00878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zh-TW" dirty="0"/>
              <a:t>Click to edit master title styles</a:t>
            </a:r>
            <a:endParaRPr kumimoji="1" lang="zh-TW" altLang="en-US" dirty="0"/>
          </a:p>
        </p:txBody>
      </p:sp>
      <p:sp>
        <p:nvSpPr>
          <p:cNvPr id="3" name="文字版面配置區 7">
            <a:extLst>
              <a:ext uri="{FF2B5EF4-FFF2-40B4-BE49-F238E27FC236}">
                <a16:creationId xmlns:a16="http://schemas.microsoft.com/office/drawing/2014/main" id="{ECFFFF73-C3E6-FF3F-5FE0-76410B99083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641" y="1571105"/>
            <a:ext cx="11152885" cy="4763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66" indent="-342866">
              <a:buFont typeface="Arial" panose="020B0604020202020204" pitchFamily="34" charset="0"/>
              <a:buChar char="●"/>
              <a:defRPr/>
            </a:lvl1pPr>
            <a:lvl3pPr>
              <a:defRPr/>
            </a:lvl3pPr>
            <a:lvl4pPr>
              <a:buClr>
                <a:schemeClr val="tx1"/>
              </a:buClr>
              <a:defRPr/>
            </a:lvl4pPr>
            <a:lvl5pPr>
              <a:defRPr/>
            </a:lvl5pPr>
          </a:lstStyle>
          <a:p>
            <a:pPr marL="228577" marR="0" lvl="0" indent="-228577" algn="l" defTabSz="914309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Click to edit master text styles</a:t>
            </a:r>
            <a:endParaRPr kumimoji="1"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kumimoji="1" lang="en-US" altLang="zh-TW" dirty="0"/>
              <a:t>Fourth level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231049C-EE81-08B5-B109-47B4FA745ABD}"/>
              </a:ext>
            </a:extLst>
          </p:cNvPr>
          <p:cNvSpPr txBox="1"/>
          <p:nvPr/>
        </p:nvSpPr>
        <p:spPr>
          <a:xfrm>
            <a:off x="523244" y="6427695"/>
            <a:ext cx="2238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914309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2">
                  <a:lumMod val="25000"/>
                </a:schemeClr>
              </a:buClr>
              <a:buFont typeface="Arial" panose="020B0604020202020204" pitchFamily="34" charset="0"/>
              <a:buNone/>
            </a:pPr>
            <a:r>
              <a:rPr kumimoji="1" lang="en-US" altLang="zh-TW" sz="1200" b="1" i="0" u="none" strike="noStrike" kern="1200" cap="none" dirty="0">
                <a:solidFill>
                  <a:srgbClr val="767171"/>
                </a:solidFill>
                <a:latin typeface="Arial"/>
                <a:cs typeface="Arial"/>
                <a:sym typeface="Arial"/>
              </a:rPr>
              <a:t>Confidential</a:t>
            </a:r>
            <a:endParaRPr kumimoji="1" lang="zh-TW" altLang="en-US" sz="1200" b="1" i="0" u="none" strike="noStrike" kern="1200" cap="none" dirty="0">
              <a:solidFill>
                <a:srgbClr val="767171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176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0C7CFC0A-1B27-B05C-95A9-F6AE2CCC606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788115"/>
            <a:ext cx="12192000" cy="69887"/>
          </a:xfrm>
          <a:prstGeom prst="rect">
            <a:avLst/>
          </a:prstGeom>
        </p:spPr>
      </p:pic>
      <p:pic>
        <p:nvPicPr>
          <p:cNvPr id="2" name="圖形 1">
            <a:extLst>
              <a:ext uri="{FF2B5EF4-FFF2-40B4-BE49-F238E27FC236}">
                <a16:creationId xmlns:a16="http://schemas.microsoft.com/office/drawing/2014/main" id="{ACD61131-BBF7-2FCE-10EE-DF378B5A911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2797" y="6483973"/>
            <a:ext cx="1127001" cy="165600"/>
          </a:xfrm>
          <a:prstGeom prst="rect">
            <a:avLst/>
          </a:prstGeom>
        </p:spPr>
      </p:pic>
      <p:sp>
        <p:nvSpPr>
          <p:cNvPr id="10" name="標題 1">
            <a:extLst>
              <a:ext uri="{FF2B5EF4-FFF2-40B4-BE49-F238E27FC236}">
                <a16:creationId xmlns:a16="http://schemas.microsoft.com/office/drawing/2014/main" id="{7A9BC91A-8991-8E11-AC93-25710760A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710" y="417523"/>
            <a:ext cx="11158565" cy="766426"/>
          </a:xfrm>
          <a:prstGeom prst="rect">
            <a:avLst/>
          </a:prstGeom>
        </p:spPr>
        <p:txBody>
          <a:bodyPr anchor="t"/>
          <a:lstStyle>
            <a:lvl1pPr marL="0" marR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lang="zh-TW" altLang="en-US" sz="3600" b="1" i="0" u="none" strike="noStrike" cap="none">
                <a:solidFill>
                  <a:srgbClr val="00878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zh-TW" dirty="0"/>
              <a:t>Click to edit master title styles</a:t>
            </a:r>
            <a:endParaRPr kumimoji="1" lang="zh-TW" altLang="en-US" dirty="0"/>
          </a:p>
        </p:txBody>
      </p:sp>
      <p:sp>
        <p:nvSpPr>
          <p:cNvPr id="12" name="文字版面配置區 24">
            <a:extLst>
              <a:ext uri="{FF2B5EF4-FFF2-40B4-BE49-F238E27FC236}">
                <a16:creationId xmlns:a16="http://schemas.microsoft.com/office/drawing/2014/main" id="{4D2FC662-2409-6C55-7139-BDECE5E0E6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6641" y="1193987"/>
            <a:ext cx="11160275" cy="5040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kumimoji="1" lang="zh-TW" altLang="en-US" sz="2400" b="1" i="0" u="none" strike="noStrike" kern="1200" cap="none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zh-TW" dirty="0"/>
              <a:t>Click to edit master subtitle styles</a:t>
            </a:r>
            <a:endParaRPr kumimoji="1" lang="zh-TW" altLang="en-US" dirty="0"/>
          </a:p>
        </p:txBody>
      </p:sp>
      <p:sp>
        <p:nvSpPr>
          <p:cNvPr id="13" name="文字版面配置區 7">
            <a:extLst>
              <a:ext uri="{FF2B5EF4-FFF2-40B4-BE49-F238E27FC236}">
                <a16:creationId xmlns:a16="http://schemas.microsoft.com/office/drawing/2014/main" id="{FF743F74-3896-CB67-E3D0-3AEA71FEA4D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641" y="2087527"/>
            <a:ext cx="11152885" cy="4246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66" indent="-342866">
              <a:buFont typeface="Arial" panose="020B0604020202020204" pitchFamily="34" charset="0"/>
              <a:buChar char="●"/>
              <a:defRPr/>
            </a:lvl1pPr>
            <a:lvl3pPr>
              <a:defRPr/>
            </a:lvl3pPr>
            <a:lvl4pPr>
              <a:buClr>
                <a:schemeClr val="tx1"/>
              </a:buClr>
              <a:defRPr/>
            </a:lvl4pPr>
            <a:lvl5pPr>
              <a:defRPr/>
            </a:lvl5pPr>
          </a:lstStyle>
          <a:p>
            <a:pPr marL="228577" marR="0" lvl="0" indent="-228577" algn="l" defTabSz="914309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Click to edit master text styles</a:t>
            </a:r>
            <a:endParaRPr kumimoji="1"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kumimoji="1" lang="en-US" altLang="zh-TW" dirty="0"/>
              <a:t>Fourth level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BCD1A42-0476-3D94-EC18-53036FC0DB69}"/>
              </a:ext>
            </a:extLst>
          </p:cNvPr>
          <p:cNvSpPr txBox="1"/>
          <p:nvPr/>
        </p:nvSpPr>
        <p:spPr>
          <a:xfrm>
            <a:off x="523244" y="6427695"/>
            <a:ext cx="2238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914309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2">
                  <a:lumMod val="25000"/>
                </a:schemeClr>
              </a:buClr>
              <a:buFont typeface="Arial" panose="020B0604020202020204" pitchFamily="34" charset="0"/>
              <a:buNone/>
            </a:pPr>
            <a:r>
              <a:rPr kumimoji="1" lang="en-US" altLang="zh-TW" sz="1200" b="1" i="0" u="none" strike="noStrike" kern="1200" cap="none" dirty="0">
                <a:solidFill>
                  <a:srgbClr val="767171"/>
                </a:solidFill>
                <a:latin typeface="Arial"/>
                <a:cs typeface="Arial"/>
                <a:sym typeface="Arial"/>
              </a:rPr>
              <a:t>Confidential</a:t>
            </a:r>
            <a:endParaRPr kumimoji="1" lang="zh-TW" altLang="en-US" sz="1200" b="1" i="0" u="none" strike="noStrike" kern="1200" cap="none" dirty="0">
              <a:solidFill>
                <a:srgbClr val="767171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3304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Four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字版面配置區 17">
            <a:extLst>
              <a:ext uri="{FF2B5EF4-FFF2-40B4-BE49-F238E27FC236}">
                <a16:creationId xmlns:a16="http://schemas.microsoft.com/office/drawing/2014/main" id="{5BEF15B3-F71C-FF68-63CB-FB7051667B2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07784" y="5009404"/>
            <a:ext cx="4799048" cy="987476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kumimoji="1" lang="en-US" altLang="zh-TW" dirty="0"/>
              <a:t>Click to edit text styles</a:t>
            </a:r>
            <a:endParaRPr kumimoji="1" lang="zh-TW" altLang="en-US" dirty="0"/>
          </a:p>
        </p:txBody>
      </p:sp>
      <p:sp>
        <p:nvSpPr>
          <p:cNvPr id="19" name="文字版面配置區 17">
            <a:extLst>
              <a:ext uri="{FF2B5EF4-FFF2-40B4-BE49-F238E27FC236}">
                <a16:creationId xmlns:a16="http://schemas.microsoft.com/office/drawing/2014/main" id="{F9E40094-AF22-704B-27B1-8C13BC5790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1088" y="2299215"/>
            <a:ext cx="4838505" cy="987476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kumimoji="1" lang="en-US" altLang="zh-TW" dirty="0"/>
              <a:t>Click to edit text styles</a:t>
            </a:r>
            <a:endParaRPr kumimoji="1" lang="zh-TW" altLang="en-US" dirty="0"/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BE466DFE-A8D0-47DE-CD03-76F67DFADA8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57469" y="944120"/>
            <a:ext cx="4782412" cy="987476"/>
          </a:xfrm>
        </p:spPr>
        <p:txBody>
          <a:bodyPr>
            <a:normAutofit/>
          </a:bodyPr>
          <a:lstStyle>
            <a:lvl1pPr marL="0" indent="0">
              <a:buNone/>
              <a:defRPr sz="2200" baseline="0"/>
            </a:lvl1pPr>
          </a:lstStyle>
          <a:p>
            <a:pPr lvl="0"/>
            <a:r>
              <a:rPr kumimoji="1" lang="en-US" altLang="zh-TW" dirty="0"/>
              <a:t>Click to edit text styles</a:t>
            </a:r>
            <a:endParaRPr kumimoji="1" lang="zh-TW" altLang="en-US" dirty="0"/>
          </a:p>
        </p:txBody>
      </p:sp>
      <p:sp>
        <p:nvSpPr>
          <p:cNvPr id="11" name="手繪多邊形 10">
            <a:extLst>
              <a:ext uri="{FF2B5EF4-FFF2-40B4-BE49-F238E27FC236}">
                <a16:creationId xmlns:a16="http://schemas.microsoft.com/office/drawing/2014/main" id="{3016B66C-75D0-FC76-8A56-02F5D3F54CF7}"/>
              </a:ext>
            </a:extLst>
          </p:cNvPr>
          <p:cNvSpPr/>
          <p:nvPr/>
        </p:nvSpPr>
        <p:spPr>
          <a:xfrm>
            <a:off x="0" y="0"/>
            <a:ext cx="6904804" cy="6345238"/>
          </a:xfrm>
          <a:custGeom>
            <a:avLst/>
            <a:gdLst>
              <a:gd name="connsiteX0" fmla="*/ 0 w 6905703"/>
              <a:gd name="connsiteY0" fmla="*/ 0 h 6345238"/>
              <a:gd name="connsiteX1" fmla="*/ 1159967 w 6905703"/>
              <a:gd name="connsiteY1" fmla="*/ 0 h 6345238"/>
              <a:gd name="connsiteX2" fmla="*/ 1159967 w 6905703"/>
              <a:gd name="connsiteY2" fmla="*/ 3 h 6345238"/>
              <a:gd name="connsiteX3" fmla="*/ 4026967 w 6905703"/>
              <a:gd name="connsiteY3" fmla="*/ 3 h 6345238"/>
              <a:gd name="connsiteX4" fmla="*/ 4026967 w 6905703"/>
              <a:gd name="connsiteY4" fmla="*/ 1 h 6345238"/>
              <a:gd name="connsiteX5" fmla="*/ 6905703 w 6905703"/>
              <a:gd name="connsiteY5" fmla="*/ 1 h 6345238"/>
              <a:gd name="connsiteX6" fmla="*/ 4242207 w 6905703"/>
              <a:gd name="connsiteY6" fmla="*/ 6345238 h 6345238"/>
              <a:gd name="connsiteX7" fmla="*/ 0 w 6905703"/>
              <a:gd name="connsiteY7" fmla="*/ 6345238 h 6345238"/>
              <a:gd name="connsiteX8" fmla="*/ 0 w 6905703"/>
              <a:gd name="connsiteY8" fmla="*/ 0 h 6345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05703" h="6345238">
                <a:moveTo>
                  <a:pt x="0" y="0"/>
                </a:moveTo>
                <a:lnTo>
                  <a:pt x="1159967" y="0"/>
                </a:lnTo>
                <a:lnTo>
                  <a:pt x="1159967" y="3"/>
                </a:lnTo>
                <a:lnTo>
                  <a:pt x="4026967" y="3"/>
                </a:lnTo>
                <a:lnTo>
                  <a:pt x="4026967" y="1"/>
                </a:lnTo>
                <a:lnTo>
                  <a:pt x="6905703" y="1"/>
                </a:lnTo>
                <a:lnTo>
                  <a:pt x="4242207" y="6345238"/>
                </a:lnTo>
                <a:lnTo>
                  <a:pt x="0" y="6345238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TW" altLang="en-US" sz="1800"/>
          </a:p>
        </p:txBody>
      </p:sp>
      <p:sp>
        <p:nvSpPr>
          <p:cNvPr id="4" name="文字版面配置區 4">
            <a:extLst>
              <a:ext uri="{FF2B5EF4-FFF2-40B4-BE49-F238E27FC236}">
                <a16:creationId xmlns:a16="http://schemas.microsoft.com/office/drawing/2014/main" id="{1F9F108D-2AF7-B57D-CE24-5305F1BBEA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0832" y="2073783"/>
            <a:ext cx="4080845" cy="327643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lang="zh-TW" altLang="en-US" sz="2200" b="1" i="0" u="none" strike="noStrike" cap="none" baseline="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marR="0" lvl="0" indent="0" algn="l" defTabSz="914309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TW" dirty="0"/>
              <a:t>Click to edit text styles</a:t>
            </a:r>
            <a:endParaRPr kumimoji="1" lang="zh-TW" altLang="en-US" dirty="0"/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F2A0A008-EB98-50D4-C18B-F674176AD58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2797" y="6483973"/>
            <a:ext cx="1127001" cy="165600"/>
          </a:xfrm>
          <a:prstGeom prst="rect">
            <a:avLst/>
          </a:prstGeom>
        </p:spPr>
      </p:pic>
      <p:sp>
        <p:nvSpPr>
          <p:cNvPr id="12" name="文字版面配置區 24">
            <a:extLst>
              <a:ext uri="{FF2B5EF4-FFF2-40B4-BE49-F238E27FC236}">
                <a16:creationId xmlns:a16="http://schemas.microsoft.com/office/drawing/2014/main" id="{38122468-0F77-369C-4F7D-7C9D09891B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3695" y="1175266"/>
            <a:ext cx="5601219" cy="5040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30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kumimoji="1" lang="zh-TW" altLang="en-US" sz="2400" b="1" i="0" u="none" strike="noStrike" kern="1200" cap="none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lvl="0"/>
            <a:r>
              <a:rPr kumimoji="1" lang="en-US" altLang="zh-TW" dirty="0"/>
              <a:t>Click to edit master subtitle styles </a:t>
            </a:r>
            <a:endParaRPr kumimoji="1" lang="zh-TW" altLang="en-US" dirty="0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E3E4CD94-5DAF-D468-A744-58D77C9E65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8367" y="414664"/>
            <a:ext cx="5647633" cy="727584"/>
          </a:xfrm>
          <a:prstGeom prst="rect">
            <a:avLst/>
          </a:prstGeom>
        </p:spPr>
        <p:txBody>
          <a:bodyPr anchor="t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zh-TW" altLang="en-US" sz="3600" b="1" i="0" u="none" strike="noStrike" cap="none" baseline="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1" lang="en-US" altLang="zh-TW" dirty="0"/>
              <a:t>Click to edit title styles</a:t>
            </a:r>
            <a:endParaRPr kumimoji="1" lang="zh-TW" altLang="en-US" dirty="0"/>
          </a:p>
        </p:txBody>
      </p:sp>
      <p:sp>
        <p:nvSpPr>
          <p:cNvPr id="7" name="文字版面配置區 17">
            <a:extLst>
              <a:ext uri="{FF2B5EF4-FFF2-40B4-BE49-F238E27FC236}">
                <a16:creationId xmlns:a16="http://schemas.microsoft.com/office/drawing/2014/main" id="{0107C00C-741B-75B8-94C4-BFF894EAB67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64708" y="3654310"/>
            <a:ext cx="4838505" cy="987476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kumimoji="1" lang="en-US" altLang="zh-TW" dirty="0"/>
              <a:t>Click to edit text styles</a:t>
            </a:r>
            <a:endParaRPr kumimoji="1" lang="zh-TW" altLang="en-US" dirty="0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7260F033-3666-0B61-B392-FF3491F0EE76}"/>
              </a:ext>
            </a:extLst>
          </p:cNvPr>
          <p:cNvSpPr>
            <a:spLocks/>
          </p:cNvSpPr>
          <p:nvPr/>
        </p:nvSpPr>
        <p:spPr>
          <a:xfrm>
            <a:off x="6044915" y="1232211"/>
            <a:ext cx="411243" cy="411297"/>
          </a:xfrm>
          <a:prstGeom prst="ellipse">
            <a:avLst/>
          </a:prstGeom>
          <a:solidFill>
            <a:srgbClr val="FA94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1</a:t>
            </a:r>
            <a:endParaRPr kumimoji="1" lang="zh-TW" altLang="en-US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F5BFDECD-6821-3F5D-34E7-10CC7AAB4593}"/>
              </a:ext>
            </a:extLst>
          </p:cNvPr>
          <p:cNvSpPr>
            <a:spLocks/>
          </p:cNvSpPr>
          <p:nvPr/>
        </p:nvSpPr>
        <p:spPr>
          <a:xfrm>
            <a:off x="5463404" y="2596778"/>
            <a:ext cx="411243" cy="411297"/>
          </a:xfrm>
          <a:prstGeom prst="ellipse">
            <a:avLst/>
          </a:prstGeom>
          <a:solidFill>
            <a:srgbClr val="FA94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2</a:t>
            </a:r>
            <a:endParaRPr kumimoji="1" lang="zh-TW" altLang="en-US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720F10DE-CA9D-26A7-1140-A98655457682}"/>
              </a:ext>
            </a:extLst>
          </p:cNvPr>
          <p:cNvSpPr>
            <a:spLocks/>
          </p:cNvSpPr>
          <p:nvPr/>
        </p:nvSpPr>
        <p:spPr>
          <a:xfrm>
            <a:off x="4333323" y="5311843"/>
            <a:ext cx="411243" cy="411297"/>
          </a:xfrm>
          <a:prstGeom prst="ellipse">
            <a:avLst/>
          </a:prstGeom>
          <a:solidFill>
            <a:srgbClr val="FA94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4</a:t>
            </a:r>
            <a:endParaRPr kumimoji="1" lang="zh-TW" altLang="en-US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1F55E8A0-EE91-B319-4E4F-46AA9BC89FF5}"/>
              </a:ext>
            </a:extLst>
          </p:cNvPr>
          <p:cNvSpPr>
            <a:spLocks/>
          </p:cNvSpPr>
          <p:nvPr/>
        </p:nvSpPr>
        <p:spPr>
          <a:xfrm>
            <a:off x="4876959" y="3919140"/>
            <a:ext cx="411243" cy="411297"/>
          </a:xfrm>
          <a:prstGeom prst="ellipse">
            <a:avLst/>
          </a:prstGeom>
          <a:solidFill>
            <a:srgbClr val="FA94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3</a:t>
            </a:r>
            <a:endParaRPr kumimoji="1" lang="zh-TW" altLang="en-US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9B470CD-01AB-30E6-0F74-4109AAB84A08}"/>
              </a:ext>
            </a:extLst>
          </p:cNvPr>
          <p:cNvSpPr txBox="1"/>
          <p:nvPr/>
        </p:nvSpPr>
        <p:spPr>
          <a:xfrm>
            <a:off x="523244" y="6427695"/>
            <a:ext cx="2238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914309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2">
                  <a:lumMod val="25000"/>
                </a:schemeClr>
              </a:buClr>
              <a:buFont typeface="Arial" panose="020B0604020202020204" pitchFamily="34" charset="0"/>
              <a:buNone/>
            </a:pPr>
            <a:r>
              <a:rPr kumimoji="1" lang="en-US" altLang="zh-TW" sz="1200" b="1" i="0" u="none" strike="noStrike" kern="1200" cap="none" dirty="0">
                <a:solidFill>
                  <a:srgbClr val="767171"/>
                </a:solidFill>
                <a:latin typeface="Arial"/>
                <a:cs typeface="Arial"/>
                <a:sym typeface="Arial"/>
              </a:rPr>
              <a:t>Confidential</a:t>
            </a:r>
            <a:endParaRPr kumimoji="1" lang="zh-TW" altLang="en-US" sz="1200" b="1" i="0" u="none" strike="noStrike" kern="1200" cap="none" dirty="0">
              <a:solidFill>
                <a:srgbClr val="767171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2218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手繪多邊形 10">
            <a:extLst>
              <a:ext uri="{FF2B5EF4-FFF2-40B4-BE49-F238E27FC236}">
                <a16:creationId xmlns:a16="http://schemas.microsoft.com/office/drawing/2014/main" id="{491751A6-3759-AB68-3DDE-258F9A21E907}"/>
              </a:ext>
            </a:extLst>
          </p:cNvPr>
          <p:cNvSpPr/>
          <p:nvPr/>
        </p:nvSpPr>
        <p:spPr>
          <a:xfrm>
            <a:off x="0" y="-1"/>
            <a:ext cx="4763639" cy="6345238"/>
          </a:xfrm>
          <a:custGeom>
            <a:avLst/>
            <a:gdLst>
              <a:gd name="connsiteX0" fmla="*/ 1174323 w 4764259"/>
              <a:gd name="connsiteY0" fmla="*/ 0 h 6345238"/>
              <a:gd name="connsiteX1" fmla="*/ 1885523 w 4764259"/>
              <a:gd name="connsiteY1" fmla="*/ 0 h 6345238"/>
              <a:gd name="connsiteX2" fmla="*/ 4053059 w 4764259"/>
              <a:gd name="connsiteY2" fmla="*/ 0 h 6345238"/>
              <a:gd name="connsiteX3" fmla="*/ 4764259 w 4764259"/>
              <a:gd name="connsiteY3" fmla="*/ 0 h 6345238"/>
              <a:gd name="connsiteX4" fmla="*/ 2100762 w 4764259"/>
              <a:gd name="connsiteY4" fmla="*/ 6345238 h 6345238"/>
              <a:gd name="connsiteX5" fmla="*/ 0 w 4764259"/>
              <a:gd name="connsiteY5" fmla="*/ 6345238 h 6345238"/>
              <a:gd name="connsiteX6" fmla="*/ 0 w 4764259"/>
              <a:gd name="connsiteY6" fmla="*/ 1 h 6345238"/>
              <a:gd name="connsiteX7" fmla="*/ 1174323 w 4764259"/>
              <a:gd name="connsiteY7" fmla="*/ 1 h 6345238"/>
              <a:gd name="connsiteX8" fmla="*/ 1174323 w 4764259"/>
              <a:gd name="connsiteY8" fmla="*/ 0 h 6345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64259" h="6345238">
                <a:moveTo>
                  <a:pt x="1174323" y="0"/>
                </a:moveTo>
                <a:lnTo>
                  <a:pt x="1885523" y="0"/>
                </a:lnTo>
                <a:lnTo>
                  <a:pt x="4053059" y="0"/>
                </a:lnTo>
                <a:lnTo>
                  <a:pt x="4764259" y="0"/>
                </a:lnTo>
                <a:lnTo>
                  <a:pt x="2100762" y="6345238"/>
                </a:lnTo>
                <a:lnTo>
                  <a:pt x="0" y="6345238"/>
                </a:lnTo>
                <a:lnTo>
                  <a:pt x="0" y="1"/>
                </a:lnTo>
                <a:lnTo>
                  <a:pt x="1174323" y="1"/>
                </a:lnTo>
                <a:lnTo>
                  <a:pt x="117432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TW" altLang="en-US" sz="1800"/>
          </a:p>
        </p:txBody>
      </p:sp>
      <p:sp>
        <p:nvSpPr>
          <p:cNvPr id="8" name="圖片版面配置區 2">
            <a:extLst>
              <a:ext uri="{FF2B5EF4-FFF2-40B4-BE49-F238E27FC236}">
                <a16:creationId xmlns:a16="http://schemas.microsoft.com/office/drawing/2014/main" id="{E408DC88-E9F1-B541-963A-F6D12855621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0947" y="735654"/>
            <a:ext cx="4031475" cy="50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marL="126984" indent="0" algn="ctr" defTabSz="1219048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None/>
              <a:defRPr kumimoji="1" lang="en-US" altLang="zh-TW" sz="1800" kern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kumimoji="1" lang="en-US" altLang="zh-TW"/>
              <a:t>Click icon to insert an image</a:t>
            </a:r>
          </a:p>
        </p:txBody>
      </p:sp>
      <p:pic>
        <p:nvPicPr>
          <p:cNvPr id="2" name="圖形 1">
            <a:extLst>
              <a:ext uri="{FF2B5EF4-FFF2-40B4-BE49-F238E27FC236}">
                <a16:creationId xmlns:a16="http://schemas.microsoft.com/office/drawing/2014/main" id="{2C28EB22-5BAC-A7E2-E6BB-77034B4DD78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2797" y="6483973"/>
            <a:ext cx="1127001" cy="165600"/>
          </a:xfrm>
          <a:prstGeom prst="rect">
            <a:avLst/>
          </a:prstGeom>
        </p:spPr>
      </p:pic>
      <p:sp>
        <p:nvSpPr>
          <p:cNvPr id="16" name="標題 1">
            <a:extLst>
              <a:ext uri="{FF2B5EF4-FFF2-40B4-BE49-F238E27FC236}">
                <a16:creationId xmlns:a16="http://schemas.microsoft.com/office/drawing/2014/main" id="{7A9BC91A-8991-8E11-AC93-25710760A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5443" y="400475"/>
            <a:ext cx="6090397" cy="777116"/>
          </a:xfrm>
          <a:prstGeom prst="rect">
            <a:avLst/>
          </a:prstGeom>
        </p:spPr>
        <p:txBody>
          <a:bodyPr anchor="t"/>
          <a:lstStyle>
            <a:lvl1pPr marL="0" marR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lang="zh-TW" altLang="en-US" sz="3600" b="1" i="0" u="none" strike="noStrike" cap="none">
                <a:solidFill>
                  <a:srgbClr val="00878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zh-TW" dirty="0"/>
              <a:t>Click to edit title styles</a:t>
            </a:r>
            <a:br>
              <a:rPr kumimoji="1" lang="en-US" altLang="zh-TW" dirty="0"/>
            </a:br>
            <a:r>
              <a:rPr kumimoji="1" lang="en-US" altLang="zh-TW" dirty="0"/>
              <a:t> </a:t>
            </a:r>
            <a:endParaRPr kumimoji="1" lang="zh-TW" altLang="en-US" dirty="0"/>
          </a:p>
        </p:txBody>
      </p:sp>
      <p:sp>
        <p:nvSpPr>
          <p:cNvPr id="17" name="文字版面配置區 24">
            <a:extLst>
              <a:ext uri="{FF2B5EF4-FFF2-40B4-BE49-F238E27FC236}">
                <a16:creationId xmlns:a16="http://schemas.microsoft.com/office/drawing/2014/main" id="{4D2FC662-2409-6C55-7139-BDECE5E0E6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34585" y="1177591"/>
            <a:ext cx="6091254" cy="5040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kumimoji="1" lang="zh-TW" altLang="en-US" sz="2400" b="1" i="0" u="none" strike="noStrike" kern="1200" cap="none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zh-TW" dirty="0"/>
              <a:t>Click to edit master subtitle styles</a:t>
            </a:r>
            <a:endParaRPr kumimoji="1" lang="zh-TW" altLang="en-US" dirty="0"/>
          </a:p>
        </p:txBody>
      </p:sp>
      <p:sp>
        <p:nvSpPr>
          <p:cNvPr id="10" name="文字版面配置區 7">
            <a:extLst>
              <a:ext uri="{FF2B5EF4-FFF2-40B4-BE49-F238E27FC236}">
                <a16:creationId xmlns:a16="http://schemas.microsoft.com/office/drawing/2014/main" id="{FF743F74-3896-CB67-E3D0-3AEA71FEA4D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34586" y="2073767"/>
            <a:ext cx="6091253" cy="3940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3pPr>
              <a:defRPr/>
            </a:lvl3pPr>
            <a:lvl4pPr>
              <a:defRPr sz="1400"/>
            </a:lvl4pPr>
            <a:lvl5pPr>
              <a:defRPr sz="1200"/>
            </a:lvl5pPr>
          </a:lstStyle>
          <a:p>
            <a:pPr marL="228577" marR="0" lvl="0" indent="-228577" algn="l" defTabSz="914309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Click to edit master text styles</a:t>
            </a:r>
            <a:endParaRPr kumimoji="1" lang="zh-TW" altLang="en-US" dirty="0"/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AFD291F-A40A-552D-9CA8-9EB841D582E0}"/>
              </a:ext>
            </a:extLst>
          </p:cNvPr>
          <p:cNvSpPr txBox="1"/>
          <p:nvPr/>
        </p:nvSpPr>
        <p:spPr>
          <a:xfrm>
            <a:off x="523244" y="6427695"/>
            <a:ext cx="2238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914309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2">
                  <a:lumMod val="25000"/>
                </a:schemeClr>
              </a:buClr>
              <a:buFont typeface="Arial" panose="020B0604020202020204" pitchFamily="34" charset="0"/>
              <a:buNone/>
            </a:pPr>
            <a:r>
              <a:rPr kumimoji="1" lang="en-US" altLang="zh-TW" sz="1200" b="1" i="0" u="none" strike="noStrike" kern="1200" cap="none" dirty="0">
                <a:solidFill>
                  <a:srgbClr val="767171"/>
                </a:solidFill>
                <a:latin typeface="Arial"/>
                <a:cs typeface="Arial"/>
                <a:sym typeface="Arial"/>
              </a:rPr>
              <a:t>Confidential</a:t>
            </a:r>
            <a:endParaRPr kumimoji="1" lang="zh-TW" altLang="en-US" sz="1200" b="1" i="0" u="none" strike="noStrike" kern="1200" cap="none" dirty="0">
              <a:solidFill>
                <a:srgbClr val="767171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8083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手繪多邊形 13">
            <a:extLst>
              <a:ext uri="{FF2B5EF4-FFF2-40B4-BE49-F238E27FC236}">
                <a16:creationId xmlns:a16="http://schemas.microsoft.com/office/drawing/2014/main" id="{A3505392-EE2A-804E-B4FF-35CF456D5550}"/>
              </a:ext>
            </a:extLst>
          </p:cNvPr>
          <p:cNvSpPr/>
          <p:nvPr/>
        </p:nvSpPr>
        <p:spPr>
          <a:xfrm>
            <a:off x="5512997" y="1637"/>
            <a:ext cx="6679003" cy="6858001"/>
          </a:xfrm>
          <a:custGeom>
            <a:avLst/>
            <a:gdLst>
              <a:gd name="connsiteX0" fmla="*/ 2013723 w 5009252"/>
              <a:gd name="connsiteY0" fmla="*/ 0 h 5143501"/>
              <a:gd name="connsiteX1" fmla="*/ 5009252 w 5009252"/>
              <a:gd name="connsiteY1" fmla="*/ 0 h 5143501"/>
              <a:gd name="connsiteX2" fmla="*/ 5009252 w 5009252"/>
              <a:gd name="connsiteY2" fmla="*/ 5143500 h 5143501"/>
              <a:gd name="connsiteX3" fmla="*/ 2013723 w 5009252"/>
              <a:gd name="connsiteY3" fmla="*/ 5143500 h 5143501"/>
              <a:gd name="connsiteX4" fmla="*/ 2013723 w 5009252"/>
              <a:gd name="connsiteY4" fmla="*/ 5143501 h 5143501"/>
              <a:gd name="connsiteX5" fmla="*/ 0 w 5009252"/>
              <a:gd name="connsiteY5" fmla="*/ 5143501 h 5143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09252" h="5143501">
                <a:moveTo>
                  <a:pt x="2013723" y="0"/>
                </a:moveTo>
                <a:lnTo>
                  <a:pt x="5009252" y="0"/>
                </a:lnTo>
                <a:lnTo>
                  <a:pt x="5009252" y="5143500"/>
                </a:lnTo>
                <a:lnTo>
                  <a:pt x="2013723" y="5143500"/>
                </a:lnTo>
                <a:lnTo>
                  <a:pt x="2013723" y="5143501"/>
                </a:lnTo>
                <a:lnTo>
                  <a:pt x="0" y="5143501"/>
                </a:lnTo>
                <a:close/>
              </a:path>
            </a:pathLst>
          </a:custGeom>
          <a:solidFill>
            <a:srgbClr val="F2F7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TW" altLang="en-US" sz="2489"/>
          </a:p>
        </p:txBody>
      </p:sp>
      <p:sp>
        <p:nvSpPr>
          <p:cNvPr id="32" name="文字版面配置區 4">
            <a:extLst>
              <a:ext uri="{FF2B5EF4-FFF2-40B4-BE49-F238E27FC236}">
                <a16:creationId xmlns:a16="http://schemas.microsoft.com/office/drawing/2014/main" id="{304A77A0-8C37-A787-933E-6A0700EFBE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853" y="4383075"/>
            <a:ext cx="3311586" cy="800578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lang="zh-TW" altLang="en-US" sz="2000" b="1" i="0" u="none" strike="noStrike" cap="none" baseline="0" dirty="0">
                <a:solidFill>
                  <a:srgbClr val="00888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lvl="0"/>
            <a:r>
              <a:rPr kumimoji="1" lang="en-US" altLang="zh-TW"/>
              <a:t>Click to edit text styles</a:t>
            </a:r>
            <a:endParaRPr kumimoji="1" lang="zh-TW" altLang="en-US"/>
          </a:p>
        </p:txBody>
      </p:sp>
      <p:sp>
        <p:nvSpPr>
          <p:cNvPr id="31" name="文字版面配置區 4">
            <a:extLst>
              <a:ext uri="{FF2B5EF4-FFF2-40B4-BE49-F238E27FC236}">
                <a16:creationId xmlns:a16="http://schemas.microsoft.com/office/drawing/2014/main" id="{4FC3D670-28AD-2E34-6B21-FFDC020C72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852" y="5200064"/>
            <a:ext cx="3311586" cy="10793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lang="zh-TW" altLang="en-US" sz="1800" b="0" i="0" u="none" strike="noStrike" kern="1200" cap="none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lvl="0"/>
            <a:r>
              <a:rPr kumimoji="1" lang="en-US" altLang="zh-TW"/>
              <a:t>Click to edit text styles</a:t>
            </a:r>
            <a:endParaRPr kumimoji="1" lang="zh-TW" altLang="en-US"/>
          </a:p>
        </p:txBody>
      </p:sp>
      <p:sp>
        <p:nvSpPr>
          <p:cNvPr id="15" name="圖片版面配置區 2">
            <a:extLst>
              <a:ext uri="{FF2B5EF4-FFF2-40B4-BE49-F238E27FC236}">
                <a16:creationId xmlns:a16="http://schemas.microsoft.com/office/drawing/2014/main" id="{12B370E3-4F1B-E740-90EB-CB381BAF4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870" y="2102761"/>
            <a:ext cx="3311569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marL="126984" indent="0">
              <a:buNone/>
              <a:defRPr kumimoji="1" lang="en-US" altLang="zh-TW" sz="1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TW" dirty="0"/>
              <a:t>Click icon to insert image</a:t>
            </a:r>
          </a:p>
        </p:txBody>
      </p:sp>
      <p:sp>
        <p:nvSpPr>
          <p:cNvPr id="16" name="圖片版面配置區 2">
            <a:extLst>
              <a:ext uri="{FF2B5EF4-FFF2-40B4-BE49-F238E27FC236}">
                <a16:creationId xmlns:a16="http://schemas.microsoft.com/office/drawing/2014/main" id="{0F3F3CBB-B1A6-3342-9522-DB399BA9850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40215" y="2102761"/>
            <a:ext cx="3311569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marL="126984" indent="0">
              <a:buNone/>
              <a:defRPr kumimoji="1" lang="en-US" altLang="zh-TW" sz="1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TW"/>
              <a:t>Click icon to insert image</a:t>
            </a:r>
          </a:p>
        </p:txBody>
      </p:sp>
      <p:sp>
        <p:nvSpPr>
          <p:cNvPr id="17" name="圖片版面配置區 2">
            <a:extLst>
              <a:ext uri="{FF2B5EF4-FFF2-40B4-BE49-F238E27FC236}">
                <a16:creationId xmlns:a16="http://schemas.microsoft.com/office/drawing/2014/main" id="{E99AC63A-E3E9-5444-8B12-F6479F97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364560" y="2102761"/>
            <a:ext cx="3311569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marL="126984" indent="0">
              <a:buNone/>
              <a:defRPr kumimoji="1" lang="en-US" altLang="zh-TW" sz="1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TW"/>
              <a:t>Click icon to insert image</a:t>
            </a:r>
          </a:p>
        </p:txBody>
      </p:sp>
      <p:sp>
        <p:nvSpPr>
          <p:cNvPr id="33" name="文字版面配置區 4">
            <a:extLst>
              <a:ext uri="{FF2B5EF4-FFF2-40B4-BE49-F238E27FC236}">
                <a16:creationId xmlns:a16="http://schemas.microsoft.com/office/drawing/2014/main" id="{7BB28713-1FDF-1FF9-2677-43D0DA990C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40215" y="4383076"/>
            <a:ext cx="3311569" cy="80057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lang="zh-TW" altLang="en-US" sz="2000" b="1" i="0" u="none" strike="noStrike" cap="none" dirty="0">
                <a:solidFill>
                  <a:srgbClr val="00888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lvl="0"/>
            <a:r>
              <a:rPr kumimoji="1" lang="en-US" altLang="zh-TW"/>
              <a:t>Click to edit text styles</a:t>
            </a:r>
            <a:endParaRPr kumimoji="1" lang="zh-TW" altLang="en-US"/>
          </a:p>
        </p:txBody>
      </p:sp>
      <p:sp>
        <p:nvSpPr>
          <p:cNvPr id="34" name="文字版面配置區 4">
            <a:extLst>
              <a:ext uri="{FF2B5EF4-FFF2-40B4-BE49-F238E27FC236}">
                <a16:creationId xmlns:a16="http://schemas.microsoft.com/office/drawing/2014/main" id="{947C703F-8310-1FFE-7D46-38EAD3BDFE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40213" y="5183653"/>
            <a:ext cx="3402690" cy="109576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l" defTabSz="914309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Tx/>
              <a:buFont typeface="Arial" panose="020B0604020202020204" pitchFamily="34" charset="0"/>
              <a:buNone/>
              <a:tabLst/>
              <a:defRPr lang="zh-TW" altLang="en-US" sz="1800" b="0" i="0" u="none" strike="noStrike" kern="1200" cap="none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marR="0" lvl="0" indent="0" algn="l" defTabSz="914309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TW"/>
              <a:t>Click to edit text styles</a:t>
            </a:r>
            <a:endParaRPr kumimoji="1" lang="zh-TW" altLang="en-US"/>
          </a:p>
          <a:p>
            <a:pPr lvl="0"/>
            <a:endParaRPr kumimoji="1" lang="zh-TW" altLang="en-US"/>
          </a:p>
        </p:txBody>
      </p:sp>
      <p:sp>
        <p:nvSpPr>
          <p:cNvPr id="35" name="文字版面配置區 4">
            <a:extLst>
              <a:ext uri="{FF2B5EF4-FFF2-40B4-BE49-F238E27FC236}">
                <a16:creationId xmlns:a16="http://schemas.microsoft.com/office/drawing/2014/main" id="{9AF02251-250A-00F2-96C9-F3EF9569A54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64559" y="4383076"/>
            <a:ext cx="3310715" cy="71181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l" defTabSz="914309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Tx/>
              <a:buFont typeface="Arial" panose="020B0604020202020204" pitchFamily="34" charset="0"/>
              <a:buNone/>
              <a:tabLst/>
              <a:defRPr lang="zh-TW" altLang="en-US" sz="2000" b="1" i="0" u="none" strike="noStrike" cap="none" dirty="0">
                <a:solidFill>
                  <a:srgbClr val="00888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marR="0" lvl="0" indent="0" algn="l" defTabSz="914309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TW"/>
              <a:t>Click to edit text styles</a:t>
            </a:r>
            <a:endParaRPr kumimoji="1" lang="zh-TW" altLang="en-US"/>
          </a:p>
          <a:p>
            <a:pPr lvl="0"/>
            <a:endParaRPr kumimoji="1" lang="zh-TW" altLang="en-US"/>
          </a:p>
        </p:txBody>
      </p:sp>
      <p:sp>
        <p:nvSpPr>
          <p:cNvPr id="36" name="文字版面配置區 4">
            <a:extLst>
              <a:ext uri="{FF2B5EF4-FFF2-40B4-BE49-F238E27FC236}">
                <a16:creationId xmlns:a16="http://schemas.microsoft.com/office/drawing/2014/main" id="{26536400-B4FF-8174-1AAF-579A2752241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4559" y="5099866"/>
            <a:ext cx="3310715" cy="116622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l" defTabSz="914309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Tx/>
              <a:buFont typeface="Arial" panose="020B0604020202020204" pitchFamily="34" charset="0"/>
              <a:buNone/>
              <a:tabLst/>
              <a:defRPr lang="zh-TW" altLang="en-US" sz="1800" b="0" i="0" u="none" strike="noStrike" kern="1200" cap="none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marR="0" lvl="0" indent="0" algn="l" defTabSz="914309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TW"/>
              <a:t>Click to edit text styles</a:t>
            </a:r>
            <a:endParaRPr kumimoji="1" lang="zh-TW" altLang="en-US"/>
          </a:p>
          <a:p>
            <a:pPr lvl="0"/>
            <a:endParaRPr kumimoji="1" lang="zh-TW" altLang="en-US"/>
          </a:p>
        </p:txBody>
      </p:sp>
      <p:pic>
        <p:nvPicPr>
          <p:cNvPr id="2" name="圖形 1">
            <a:extLst>
              <a:ext uri="{FF2B5EF4-FFF2-40B4-BE49-F238E27FC236}">
                <a16:creationId xmlns:a16="http://schemas.microsoft.com/office/drawing/2014/main" id="{2AA4D69E-9FA0-9157-893B-EE7C69C8607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2797" y="6483973"/>
            <a:ext cx="1127001" cy="165600"/>
          </a:xfrm>
          <a:prstGeom prst="rect">
            <a:avLst/>
          </a:prstGeom>
        </p:spPr>
      </p:pic>
      <p:sp>
        <p:nvSpPr>
          <p:cNvPr id="22" name="標題 1">
            <a:extLst>
              <a:ext uri="{FF2B5EF4-FFF2-40B4-BE49-F238E27FC236}">
                <a16:creationId xmlns:a16="http://schemas.microsoft.com/office/drawing/2014/main" id="{7A9BC91A-8991-8E11-AC93-25710760A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710" y="417523"/>
            <a:ext cx="11158565" cy="777116"/>
          </a:xfrm>
          <a:prstGeom prst="rect">
            <a:avLst/>
          </a:prstGeom>
        </p:spPr>
        <p:txBody>
          <a:bodyPr anchor="t"/>
          <a:lstStyle>
            <a:lvl1pPr marL="0" marR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lang="zh-TW" altLang="en-US" sz="3600" b="1" i="0" u="none" strike="noStrike" cap="none">
                <a:solidFill>
                  <a:srgbClr val="00878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zh-TW" dirty="0"/>
              <a:t>Click to edit master title styles</a:t>
            </a:r>
            <a:br>
              <a:rPr kumimoji="1" lang="en-US" altLang="zh-TW" dirty="0"/>
            </a:br>
            <a:r>
              <a:rPr kumimoji="1" lang="en-US" altLang="zh-TW" dirty="0"/>
              <a:t> </a:t>
            </a:r>
            <a:endParaRPr kumimoji="1" lang="zh-TW" altLang="en-US" dirty="0"/>
          </a:p>
        </p:txBody>
      </p:sp>
      <p:sp>
        <p:nvSpPr>
          <p:cNvPr id="4" name="文字版面配置區 24">
            <a:extLst>
              <a:ext uri="{FF2B5EF4-FFF2-40B4-BE49-F238E27FC236}">
                <a16:creationId xmlns:a16="http://schemas.microsoft.com/office/drawing/2014/main" id="{23448BA2-D59E-CE7B-BC1A-36B2EABEEE9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5854" y="1192988"/>
            <a:ext cx="11160275" cy="49176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kumimoji="1" lang="zh-TW" altLang="en-US" sz="2400" b="1" i="0" u="none" strike="noStrike" kern="1200" cap="none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zh-TW" dirty="0"/>
              <a:t>Click to edit master subtitle styles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490A559-BEE6-C61A-6DAE-D2254C0526F3}"/>
              </a:ext>
            </a:extLst>
          </p:cNvPr>
          <p:cNvSpPr txBox="1"/>
          <p:nvPr/>
        </p:nvSpPr>
        <p:spPr>
          <a:xfrm>
            <a:off x="523244" y="6427695"/>
            <a:ext cx="2238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914309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2">
                  <a:lumMod val="25000"/>
                </a:schemeClr>
              </a:buClr>
              <a:buFont typeface="Arial" panose="020B0604020202020204" pitchFamily="34" charset="0"/>
              <a:buNone/>
            </a:pPr>
            <a:r>
              <a:rPr kumimoji="1" lang="en-US" altLang="zh-TW" sz="1200" b="1" i="0" u="none" strike="noStrike" kern="1200" cap="none" dirty="0">
                <a:solidFill>
                  <a:srgbClr val="767171"/>
                </a:solidFill>
                <a:latin typeface="Arial"/>
                <a:cs typeface="Arial"/>
                <a:sym typeface="Arial"/>
              </a:rPr>
              <a:t>Confidential</a:t>
            </a:r>
            <a:endParaRPr kumimoji="1" lang="zh-TW" altLang="en-US" sz="1200" b="1" i="0" u="none" strike="noStrike" kern="1200" cap="none" dirty="0">
              <a:solidFill>
                <a:srgbClr val="767171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0552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26B43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手繪多邊形 13">
            <a:extLst>
              <a:ext uri="{FF2B5EF4-FFF2-40B4-BE49-F238E27FC236}">
                <a16:creationId xmlns:a16="http://schemas.microsoft.com/office/drawing/2014/main" id="{9B6A1F9F-3F48-9D41-9E38-4F5B9B052C0C}"/>
              </a:ext>
            </a:extLst>
          </p:cNvPr>
          <p:cNvSpPr/>
          <p:nvPr/>
        </p:nvSpPr>
        <p:spPr>
          <a:xfrm>
            <a:off x="5512997" y="0"/>
            <a:ext cx="6679003" cy="6867453"/>
          </a:xfrm>
          <a:custGeom>
            <a:avLst/>
            <a:gdLst>
              <a:gd name="connsiteX0" fmla="*/ 2013723 w 5009252"/>
              <a:gd name="connsiteY0" fmla="*/ 0 h 5143501"/>
              <a:gd name="connsiteX1" fmla="*/ 5009252 w 5009252"/>
              <a:gd name="connsiteY1" fmla="*/ 0 h 5143501"/>
              <a:gd name="connsiteX2" fmla="*/ 5009252 w 5009252"/>
              <a:gd name="connsiteY2" fmla="*/ 5143500 h 5143501"/>
              <a:gd name="connsiteX3" fmla="*/ 2013723 w 5009252"/>
              <a:gd name="connsiteY3" fmla="*/ 5143500 h 5143501"/>
              <a:gd name="connsiteX4" fmla="*/ 2013723 w 5009252"/>
              <a:gd name="connsiteY4" fmla="*/ 5143501 h 5143501"/>
              <a:gd name="connsiteX5" fmla="*/ 0 w 5009252"/>
              <a:gd name="connsiteY5" fmla="*/ 5143501 h 5143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09252" h="5143501">
                <a:moveTo>
                  <a:pt x="2013723" y="0"/>
                </a:moveTo>
                <a:lnTo>
                  <a:pt x="5009252" y="0"/>
                </a:lnTo>
                <a:lnTo>
                  <a:pt x="5009252" y="5143500"/>
                </a:lnTo>
                <a:lnTo>
                  <a:pt x="2013723" y="5143500"/>
                </a:lnTo>
                <a:lnTo>
                  <a:pt x="2013723" y="5143501"/>
                </a:lnTo>
                <a:lnTo>
                  <a:pt x="0" y="5143501"/>
                </a:lnTo>
                <a:close/>
              </a:path>
            </a:pathLst>
          </a:custGeom>
          <a:solidFill>
            <a:srgbClr val="F2F7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TW" altLang="en-US" sz="2489"/>
          </a:p>
        </p:txBody>
      </p:sp>
      <p:sp>
        <p:nvSpPr>
          <p:cNvPr id="33" name="圖片版面配置區 2">
            <a:extLst>
              <a:ext uri="{FF2B5EF4-FFF2-40B4-BE49-F238E27FC236}">
                <a16:creationId xmlns:a16="http://schemas.microsoft.com/office/drawing/2014/main" id="{A05D6685-F775-0794-CA01-86EF87F7325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99254" y="1734698"/>
            <a:ext cx="3992747" cy="2245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marL="126984" indent="0" algn="ctr" defTabSz="1219048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None/>
              <a:defRPr kumimoji="1" lang="en-US" altLang="zh-TW" sz="1800" kern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kumimoji="1" lang="en-US" altLang="zh-TW"/>
              <a:t>Click icon to insert image</a:t>
            </a:r>
          </a:p>
        </p:txBody>
      </p:sp>
      <p:sp>
        <p:nvSpPr>
          <p:cNvPr id="10" name="圖片版面配置區 2">
            <a:extLst>
              <a:ext uri="{FF2B5EF4-FFF2-40B4-BE49-F238E27FC236}">
                <a16:creationId xmlns:a16="http://schemas.microsoft.com/office/drawing/2014/main" id="{C4E5197F-4A22-109C-79ED-11EBF8A7A6B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1734698"/>
            <a:ext cx="3992747" cy="2245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marL="126984" indent="0" algn="ctr" defTabSz="1219048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None/>
              <a:defRPr kumimoji="1" lang="en-US" altLang="zh-TW" sz="1800" kern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kumimoji="1" lang="en-US" altLang="zh-TW"/>
              <a:t>Click icon to insert image</a:t>
            </a:r>
          </a:p>
        </p:txBody>
      </p:sp>
      <p:sp>
        <p:nvSpPr>
          <p:cNvPr id="31" name="圖片版面配置區 2">
            <a:extLst>
              <a:ext uri="{FF2B5EF4-FFF2-40B4-BE49-F238E27FC236}">
                <a16:creationId xmlns:a16="http://schemas.microsoft.com/office/drawing/2014/main" id="{BAC633FF-FF33-52CD-B42A-C5F31D0DFF1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099627" y="1734698"/>
            <a:ext cx="3992747" cy="2245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marL="126984" indent="0" algn="ctr" defTabSz="1219048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None/>
              <a:defRPr kumimoji="1" lang="en-US" altLang="zh-TW" sz="1800" kern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kumimoji="1" lang="en-US" altLang="zh-TW"/>
              <a:t>Click icon to insert image</a:t>
            </a:r>
          </a:p>
        </p:txBody>
      </p:sp>
      <p:sp>
        <p:nvSpPr>
          <p:cNvPr id="38" name="圖片版面配置區 2">
            <a:extLst>
              <a:ext uri="{FF2B5EF4-FFF2-40B4-BE49-F238E27FC236}">
                <a16:creationId xmlns:a16="http://schemas.microsoft.com/office/drawing/2014/main" id="{A83B9AC0-C34E-642C-A24A-7A0FE49505A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199254" y="4101276"/>
            <a:ext cx="3992747" cy="2245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marL="126984" indent="0" algn="ctr" defTabSz="1219048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None/>
              <a:defRPr kumimoji="1" lang="en-US" altLang="zh-TW" sz="1800" kern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kumimoji="1" lang="en-US" altLang="zh-TW"/>
              <a:t>Click icon to insert image</a:t>
            </a:r>
          </a:p>
        </p:txBody>
      </p:sp>
      <p:sp>
        <p:nvSpPr>
          <p:cNvPr id="39" name="圖片版面配置區 2">
            <a:extLst>
              <a:ext uri="{FF2B5EF4-FFF2-40B4-BE49-F238E27FC236}">
                <a16:creationId xmlns:a16="http://schemas.microsoft.com/office/drawing/2014/main" id="{06986E30-A578-8B32-0837-4F9DE523094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1" y="4101276"/>
            <a:ext cx="3992747" cy="2245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marL="126984" indent="0" algn="ctr" defTabSz="1219048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None/>
              <a:defRPr kumimoji="1" lang="en-US" altLang="zh-TW" sz="1800" kern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kumimoji="1" lang="en-US" altLang="zh-TW"/>
              <a:t>Click icon to insert image</a:t>
            </a:r>
          </a:p>
        </p:txBody>
      </p:sp>
      <p:sp>
        <p:nvSpPr>
          <p:cNvPr id="40" name="圖片版面配置區 2">
            <a:extLst>
              <a:ext uri="{FF2B5EF4-FFF2-40B4-BE49-F238E27FC236}">
                <a16:creationId xmlns:a16="http://schemas.microsoft.com/office/drawing/2014/main" id="{71799C52-73FF-66B1-8C99-EBE70C96FE6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099627" y="4101276"/>
            <a:ext cx="3992747" cy="2245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marL="126984" indent="0" algn="ctr" defTabSz="1219048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None/>
              <a:defRPr kumimoji="1" lang="en-US" altLang="zh-TW" sz="1800" kern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kumimoji="1" lang="en-US" altLang="zh-TW"/>
              <a:t>Click icon to insert image</a:t>
            </a:r>
          </a:p>
        </p:txBody>
      </p:sp>
      <p:pic>
        <p:nvPicPr>
          <p:cNvPr id="2" name="圖形 1">
            <a:extLst>
              <a:ext uri="{FF2B5EF4-FFF2-40B4-BE49-F238E27FC236}">
                <a16:creationId xmlns:a16="http://schemas.microsoft.com/office/drawing/2014/main" id="{F590C223-1AB7-A5F9-9953-FA2EEA8C8E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2797" y="6483973"/>
            <a:ext cx="1127001" cy="165600"/>
          </a:xfrm>
          <a:prstGeom prst="rect">
            <a:avLst/>
          </a:prstGeom>
        </p:spPr>
      </p:pic>
      <p:sp>
        <p:nvSpPr>
          <p:cNvPr id="17" name="標題 1">
            <a:extLst>
              <a:ext uri="{FF2B5EF4-FFF2-40B4-BE49-F238E27FC236}">
                <a16:creationId xmlns:a16="http://schemas.microsoft.com/office/drawing/2014/main" id="{7A9BC91A-8991-8E11-AC93-25710760A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710" y="417523"/>
            <a:ext cx="11158565" cy="753718"/>
          </a:xfrm>
          <a:prstGeom prst="rect">
            <a:avLst/>
          </a:prstGeom>
        </p:spPr>
        <p:txBody>
          <a:bodyPr anchor="t"/>
          <a:lstStyle>
            <a:lvl1pPr marL="0" marR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lang="zh-TW" altLang="en-US" sz="3600" b="1" i="0" u="none" strike="noStrike" cap="none">
                <a:solidFill>
                  <a:srgbClr val="00878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zh-TW"/>
              <a:t>Click to edit master title styles</a:t>
            </a:r>
            <a:br>
              <a:rPr kumimoji="1" lang="en-US" altLang="zh-TW"/>
            </a:br>
            <a:r>
              <a:rPr kumimoji="1" lang="en-US" altLang="zh-TW"/>
              <a:t> </a:t>
            </a:r>
            <a:endParaRPr kumimoji="1" lang="zh-TW" altLang="en-US"/>
          </a:p>
        </p:txBody>
      </p:sp>
      <p:sp>
        <p:nvSpPr>
          <p:cNvPr id="18" name="文字版面配置區 24">
            <a:extLst>
              <a:ext uri="{FF2B5EF4-FFF2-40B4-BE49-F238E27FC236}">
                <a16:creationId xmlns:a16="http://schemas.microsoft.com/office/drawing/2014/main" id="{4D2FC662-2409-6C55-7139-BDECE5E0E6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5854" y="1192988"/>
            <a:ext cx="11160275" cy="49176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kumimoji="1" lang="zh-TW" altLang="en-US" sz="2400" b="1" i="0" u="none" strike="noStrike" kern="1200" cap="none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zh-TW" dirty="0"/>
              <a:t>Click to edit master subtitle styles</a:t>
            </a:r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905E97D-DDC2-51EA-6557-34DA3CA5DFF4}"/>
              </a:ext>
            </a:extLst>
          </p:cNvPr>
          <p:cNvSpPr txBox="1"/>
          <p:nvPr/>
        </p:nvSpPr>
        <p:spPr>
          <a:xfrm>
            <a:off x="523244" y="6427695"/>
            <a:ext cx="2238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914309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2">
                  <a:lumMod val="25000"/>
                </a:schemeClr>
              </a:buClr>
              <a:buFont typeface="Arial" panose="020B0604020202020204" pitchFamily="34" charset="0"/>
              <a:buNone/>
            </a:pPr>
            <a:r>
              <a:rPr kumimoji="1" lang="en-US" altLang="zh-TW" sz="1200" b="1" i="0" u="none" strike="noStrike" kern="1200" cap="none" dirty="0">
                <a:solidFill>
                  <a:srgbClr val="767171"/>
                </a:solidFill>
                <a:latin typeface="Arial"/>
                <a:cs typeface="Arial"/>
                <a:sym typeface="Arial"/>
              </a:rPr>
              <a:t>Confidential</a:t>
            </a:r>
            <a:endParaRPr kumimoji="1" lang="zh-TW" altLang="en-US" sz="1200" b="1" i="0" u="none" strike="noStrike" kern="1200" cap="none" dirty="0">
              <a:solidFill>
                <a:srgbClr val="767171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41018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En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TextBox 7"/>
          <p:cNvSpPr txBox="1"/>
          <p:nvPr/>
        </p:nvSpPr>
        <p:spPr>
          <a:xfrm>
            <a:off x="7177282" y="1595545"/>
            <a:ext cx="4320811" cy="1077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60951" rIns="60951" anchor="ctr">
            <a:spAutoFit/>
          </a:bodyPr>
          <a:lstStyle>
            <a:lvl1pPr>
              <a:spcBef>
                <a:spcPts val="1100"/>
              </a:spcBef>
              <a:defRPr sz="4800" b="1">
                <a:solidFill>
                  <a:schemeClr val="accent1"/>
                </a:solidFill>
              </a:defRPr>
            </a:lvl1pPr>
          </a:lstStyle>
          <a:p>
            <a:r>
              <a:rPr sz="6399"/>
              <a:t>Thank You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68" y="3105644"/>
            <a:ext cx="11478803" cy="3752356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0301ECC4-0EDA-63C7-7452-29496796D280}"/>
              </a:ext>
            </a:extLst>
          </p:cNvPr>
          <p:cNvSpPr txBox="1"/>
          <p:nvPr/>
        </p:nvSpPr>
        <p:spPr>
          <a:xfrm>
            <a:off x="875334" y="5961194"/>
            <a:ext cx="2953789" cy="384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60951" rIns="60951" anchor="ctr">
            <a:normAutofit/>
          </a:bodyPr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r>
              <a:rPr sz="1200">
                <a:solidFill>
                  <a:schemeClr val="accent3"/>
                </a:solidFill>
              </a:rPr>
              <a:t>© Moxa Inc. All rights reserved.</a:t>
            </a:r>
          </a:p>
        </p:txBody>
      </p:sp>
      <p:pic>
        <p:nvPicPr>
          <p:cNvPr id="6" name="圖形 1">
            <a:extLst>
              <a:ext uri="{FF2B5EF4-FFF2-40B4-BE49-F238E27FC236}">
                <a16:creationId xmlns:a16="http://schemas.microsoft.com/office/drawing/2014/main" id="{361FEDE6-8ABD-B60E-AF33-C4AC8B5FAEB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8986" y="5563963"/>
            <a:ext cx="2400529" cy="352731"/>
          </a:xfrm>
          <a:prstGeom prst="rect">
            <a:avLst/>
          </a:prstGeom>
        </p:spPr>
      </p:pic>
      <p:sp>
        <p:nvSpPr>
          <p:cNvPr id="10" name="Google Shape;315;p44">
            <a:extLst>
              <a:ext uri="{FF2B5EF4-FFF2-40B4-BE49-F238E27FC236}">
                <a16:creationId xmlns:a16="http://schemas.microsoft.com/office/drawing/2014/main" id="{0F0CEE83-DE88-A346-9C66-6D92F110053F}"/>
              </a:ext>
            </a:extLst>
          </p:cNvPr>
          <p:cNvSpPr txBox="1"/>
          <p:nvPr/>
        </p:nvSpPr>
        <p:spPr>
          <a:xfrm>
            <a:off x="7177282" y="2591331"/>
            <a:ext cx="4816403" cy="66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1" tIns="45694" rIns="91421" bIns="45694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  <a:sym typeface="Montserrat"/>
              </a:rPr>
              <a:t>For further information, visit </a:t>
            </a: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  <a:sym typeface="Montserrat"/>
                <a:hlinkClick r:id="rId4"/>
              </a:rPr>
              <a:t>www.moxa.com</a:t>
            </a: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  <a:sym typeface="Montserrat"/>
              </a:rPr>
              <a:t>.</a:t>
            </a:r>
            <a:r>
              <a:rPr lang="en-US" altLang="zh-TW" sz="1800" baseline="0">
                <a:solidFill>
                  <a:schemeClr val="tx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  <a:sym typeface="Montserrat"/>
              </a:rPr>
              <a:t> </a:t>
            </a: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  <a:sym typeface="Montserrat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42783283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Title + Text_1_Blac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形 3">
            <a:extLst>
              <a:ext uri="{FF2B5EF4-FFF2-40B4-BE49-F238E27FC236}">
                <a16:creationId xmlns:a16="http://schemas.microsoft.com/office/drawing/2014/main" id="{645A4185-9C1B-AB4E-CD78-20EE99A9DF7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2797" y="6483973"/>
            <a:ext cx="1127001" cy="165600"/>
          </a:xfrm>
          <a:prstGeom prst="rect">
            <a:avLst/>
          </a:prstGeom>
        </p:spPr>
      </p:pic>
      <p:sp>
        <p:nvSpPr>
          <p:cNvPr id="3" name="標題版面配置區 5">
            <a:extLst>
              <a:ext uri="{FF2B5EF4-FFF2-40B4-BE49-F238E27FC236}">
                <a16:creationId xmlns:a16="http://schemas.microsoft.com/office/drawing/2014/main" id="{3A175FB8-158A-CDD9-339D-F2109B4A2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871" y="417523"/>
            <a:ext cx="11160258" cy="7600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zh-TW" dirty="0"/>
              <a:t>Click to edit master title styles</a:t>
            </a:r>
            <a:endParaRPr kumimoji="1" lang="zh-TW" altLang="en-US" dirty="0"/>
          </a:p>
        </p:txBody>
      </p:sp>
      <p:sp>
        <p:nvSpPr>
          <p:cNvPr id="5" name="文字版面配置區 7">
            <a:extLst>
              <a:ext uri="{FF2B5EF4-FFF2-40B4-BE49-F238E27FC236}">
                <a16:creationId xmlns:a16="http://schemas.microsoft.com/office/drawing/2014/main" id="{FF743F74-3896-CB67-E3D0-3AEA71FEA4D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3244" y="1567945"/>
            <a:ext cx="11152885" cy="47646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77" indent="-228577">
              <a:buClr>
                <a:schemeClr val="bg1"/>
              </a:buClr>
              <a:buFont typeface="Arial" panose="020B0604020202020204" pitchFamily="34" charset="0"/>
              <a:buChar char="●"/>
              <a:defRPr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aseline="0">
                <a:solidFill>
                  <a:schemeClr val="bg1"/>
                </a:solidFill>
              </a:defRPr>
            </a:lvl3pPr>
            <a:lvl4pPr marL="1657184" indent="-285721">
              <a:buClr>
                <a:schemeClr val="bg1"/>
              </a:buClr>
              <a:buFont typeface="Arial" panose="020B0604020202020204" pitchFamily="34" charset="0"/>
              <a:buChar char="»"/>
              <a:defRPr sz="1400" baseline="0">
                <a:solidFill>
                  <a:schemeClr val="bg1"/>
                </a:solidFill>
              </a:defRPr>
            </a:lvl4pPr>
            <a:lvl5pPr marL="2114339" indent="-285721">
              <a:buClr>
                <a:schemeClr val="bg1"/>
              </a:buClr>
              <a:buFont typeface="Arial" panose="020B0604020202020204" pitchFamily="34" charset="0"/>
              <a:buChar char="»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zh-TW" dirty="0"/>
              <a:t>Click to edit master text styles</a:t>
            </a:r>
            <a:endParaRPr kumimoji="1" lang="zh-TW" altLang="en-US" dirty="0"/>
          </a:p>
          <a:p>
            <a:pPr lvl="1"/>
            <a:r>
              <a:rPr kumimoji="1" lang="en-US" altLang="zh-TW" dirty="0"/>
              <a:t>Second level</a:t>
            </a:r>
            <a:endParaRPr kumimoji="1" lang="zh-TW" altLang="en-US" dirty="0"/>
          </a:p>
          <a:p>
            <a:pPr lvl="2"/>
            <a:r>
              <a:rPr kumimoji="1" lang="en-US" altLang="zh-TW" dirty="0"/>
              <a:t>Third level</a:t>
            </a:r>
          </a:p>
          <a:p>
            <a:pPr lvl="3"/>
            <a:r>
              <a:rPr kumimoji="1" lang="en-US" altLang="zh-TW" dirty="0"/>
              <a:t>Fourth level</a:t>
            </a:r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542C7C1-D5EC-2093-2C45-15959BF7E7FD}"/>
              </a:ext>
            </a:extLst>
          </p:cNvPr>
          <p:cNvSpPr txBox="1"/>
          <p:nvPr/>
        </p:nvSpPr>
        <p:spPr>
          <a:xfrm>
            <a:off x="523244" y="6427695"/>
            <a:ext cx="2238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914309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2">
                  <a:lumMod val="25000"/>
                </a:schemeClr>
              </a:buClr>
              <a:buFont typeface="Arial" panose="020B0604020202020204" pitchFamily="34" charset="0"/>
              <a:buNone/>
            </a:pPr>
            <a:r>
              <a:rPr kumimoji="1" lang="en-US" altLang="zh-TW" sz="1200" b="1" i="0" u="none" strike="noStrike" kern="1200" cap="none" dirty="0">
                <a:solidFill>
                  <a:schemeClr val="bg1"/>
                </a:solidFill>
                <a:latin typeface="Arial"/>
                <a:cs typeface="Arial"/>
                <a:sym typeface="Arial"/>
              </a:rPr>
              <a:t>Confidential</a:t>
            </a:r>
            <a:endParaRPr kumimoji="1" lang="zh-TW" altLang="en-US" sz="1200" b="1" i="0" u="none" strike="noStrike" kern="1200" cap="none" dirty="0">
              <a:solidFill>
                <a:schemeClr val="bg1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31470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Title + Text_1_Black_2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版面配置區 7">
            <a:extLst>
              <a:ext uri="{FF2B5EF4-FFF2-40B4-BE49-F238E27FC236}">
                <a16:creationId xmlns:a16="http://schemas.microsoft.com/office/drawing/2014/main" id="{D730F386-0C72-4010-41A7-0F36429E569C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523244" y="2078182"/>
            <a:ext cx="11152885" cy="4254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77" indent="-228577">
              <a:buClr>
                <a:schemeClr val="bg1"/>
              </a:buClr>
              <a:buFont typeface="Arial" panose="020B0604020202020204" pitchFamily="34" charset="0"/>
              <a:buChar char="●"/>
              <a:defRPr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aseline="0">
                <a:solidFill>
                  <a:schemeClr val="bg1"/>
                </a:solidFill>
              </a:defRPr>
            </a:lvl3pPr>
            <a:lvl4pPr marL="1657184" indent="-285721">
              <a:buClr>
                <a:schemeClr val="bg1"/>
              </a:buClr>
              <a:buFont typeface="Arial" panose="020B0604020202020204" pitchFamily="34" charset="0"/>
              <a:buChar char="»"/>
              <a:defRPr sz="1400" baseline="0">
                <a:solidFill>
                  <a:schemeClr val="bg1"/>
                </a:solidFill>
              </a:defRPr>
            </a:lvl4pPr>
            <a:lvl5pPr marL="2114339" indent="-285721">
              <a:buClr>
                <a:schemeClr val="bg1"/>
              </a:buClr>
              <a:buFont typeface="Arial" panose="020B0604020202020204" pitchFamily="34" charset="0"/>
              <a:buChar char="»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zh-TW" dirty="0"/>
              <a:t>Click to edit master text styles</a:t>
            </a:r>
            <a:endParaRPr kumimoji="1" lang="zh-TW" altLang="en-US" dirty="0"/>
          </a:p>
          <a:p>
            <a:pPr lvl="1"/>
            <a:r>
              <a:rPr kumimoji="1" lang="en-US" altLang="zh-TW" dirty="0"/>
              <a:t>Second level</a:t>
            </a:r>
            <a:endParaRPr kumimoji="1" lang="zh-TW" altLang="en-US" dirty="0"/>
          </a:p>
          <a:p>
            <a:pPr lvl="2"/>
            <a:r>
              <a:rPr kumimoji="1" lang="en-US" altLang="zh-TW" dirty="0"/>
              <a:t>Third level</a:t>
            </a:r>
          </a:p>
          <a:p>
            <a:pPr lvl="3"/>
            <a:r>
              <a:rPr kumimoji="1" lang="en-US" altLang="zh-TW" dirty="0"/>
              <a:t>Fourth level</a:t>
            </a:r>
            <a:endParaRPr kumimoji="1" lang="zh-TW" altLang="en-US" dirty="0"/>
          </a:p>
        </p:txBody>
      </p:sp>
      <p:pic>
        <p:nvPicPr>
          <p:cNvPr id="4" name="圖形 3">
            <a:extLst>
              <a:ext uri="{FF2B5EF4-FFF2-40B4-BE49-F238E27FC236}">
                <a16:creationId xmlns:a16="http://schemas.microsoft.com/office/drawing/2014/main" id="{645A4185-9C1B-AB4E-CD78-20EE99A9DF7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2797" y="6483973"/>
            <a:ext cx="1127001" cy="165600"/>
          </a:xfrm>
          <a:prstGeom prst="rect">
            <a:avLst/>
          </a:prstGeom>
        </p:spPr>
      </p:pic>
      <p:sp>
        <p:nvSpPr>
          <p:cNvPr id="3" name="標題版面配置區 5">
            <a:extLst>
              <a:ext uri="{FF2B5EF4-FFF2-40B4-BE49-F238E27FC236}">
                <a16:creationId xmlns:a16="http://schemas.microsoft.com/office/drawing/2014/main" id="{3A175FB8-158A-CDD9-339D-F2109B4A2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871" y="417523"/>
            <a:ext cx="11160258" cy="7600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zh-TW" dirty="0"/>
              <a:t>Click to edit master title styles</a:t>
            </a:r>
            <a:endParaRPr kumimoji="1" lang="zh-TW" altLang="en-US" dirty="0"/>
          </a:p>
        </p:txBody>
      </p:sp>
      <p:sp>
        <p:nvSpPr>
          <p:cNvPr id="2" name="文字版面配置區 24">
            <a:extLst>
              <a:ext uri="{FF2B5EF4-FFF2-40B4-BE49-F238E27FC236}">
                <a16:creationId xmlns:a16="http://schemas.microsoft.com/office/drawing/2014/main" id="{81F36CF4-07D6-0AFE-3650-062EAE26CC7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6641" y="1193987"/>
            <a:ext cx="11160275" cy="5040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kumimoji="1" lang="zh-TW" altLang="en-US" sz="2400" b="1" i="0" u="none" strike="noStrike" kern="1200" cap="none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zh-TW" dirty="0"/>
              <a:t>Click to edit master subtitle style</a:t>
            </a:r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08F794B-D51E-9896-37DF-057442C5516F}"/>
              </a:ext>
            </a:extLst>
          </p:cNvPr>
          <p:cNvSpPr txBox="1"/>
          <p:nvPr/>
        </p:nvSpPr>
        <p:spPr>
          <a:xfrm>
            <a:off x="523244" y="6427695"/>
            <a:ext cx="2238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914309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2">
                  <a:lumMod val="25000"/>
                </a:schemeClr>
              </a:buClr>
              <a:buFont typeface="Arial" panose="020B0604020202020204" pitchFamily="34" charset="0"/>
              <a:buNone/>
            </a:pPr>
            <a:r>
              <a:rPr kumimoji="1" lang="en-US" altLang="zh-TW" sz="1200" b="1" i="0" u="none" strike="noStrike" kern="1200" cap="none" dirty="0">
                <a:solidFill>
                  <a:schemeClr val="bg1"/>
                </a:solidFill>
                <a:latin typeface="Arial"/>
                <a:cs typeface="Arial"/>
                <a:sym typeface="Arial"/>
              </a:rPr>
              <a:t>Confidential</a:t>
            </a:r>
            <a:endParaRPr kumimoji="1" lang="zh-TW" altLang="en-US" sz="1200" b="1" i="0" u="none" strike="noStrike" kern="1200" cap="none" dirty="0">
              <a:solidFill>
                <a:schemeClr val="bg1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97557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Blac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4E4916F1-4268-DDE1-6026-A8EAC277B4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8780" y="2704207"/>
            <a:ext cx="8706766" cy="1278196"/>
          </a:xfrm>
          <a:prstGeom prst="rect">
            <a:avLst/>
          </a:prstGeom>
        </p:spPr>
        <p:txBody>
          <a:bodyPr anchor="t"/>
          <a:lstStyle>
            <a:lvl1pPr marR="0" algn="l" defTabSz="914309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 lang="zh-TW" altLang="en-US" sz="4600" b="1" i="0" u="none" strike="noStrike" kern="1200" cap="none" dirty="0">
                <a:solidFill>
                  <a:schemeClr val="l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/>
              </a:defRPr>
            </a:lvl1pPr>
          </a:lstStyle>
          <a:p>
            <a:r>
              <a:rPr kumimoji="1" lang="en-US" altLang="zh-TW" dirty="0"/>
              <a:t>Click to edit master title styles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29F7220-A3DD-B82C-71F3-F65118B368F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20354" y="6465416"/>
            <a:ext cx="1086180" cy="18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6472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4C593A-35C5-1DA6-3F71-87DC28F004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86780D6-E0F3-08CD-0328-27E9BBA12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91AF80-D000-A5EA-3415-C67244082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1401B-911B-4279-BD0A-37787DA2B944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E7F45D-0FD0-27D1-99A5-8E6304F50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4C0CBC-E689-0E73-182C-2218A08F6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D9E5D-4D6F-4045-AC2D-60FA487167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63094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b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998400" y="6444000"/>
            <a:ext cx="3840000" cy="36000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0">
            <a:normAutofit/>
          </a:bodyPr>
          <a:lstStyle/>
          <a:p>
            <a:pPr algn="ctr"/>
            <a:r>
              <a:rPr lang="en-US" sz="1400" dirty="0">
                <a:solidFill>
                  <a:srgbClr val="757575"/>
                </a:solidFill>
              </a:rPr>
              <a:t>Confidential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23392" y="6448252"/>
            <a:ext cx="672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67F76-A388-464C-982A-D3F7033E0B3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103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版面配置區 5">
            <a:extLst>
              <a:ext uri="{FF2B5EF4-FFF2-40B4-BE49-F238E27FC236}">
                <a16:creationId xmlns:a16="http://schemas.microsoft.com/office/drawing/2014/main" id="{3A175FB8-158A-CDD9-339D-F2109B4A2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871" y="417523"/>
            <a:ext cx="11160258" cy="622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FF743F74-3896-CB67-E3D0-3AEA71FEA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244" y="1825625"/>
            <a:ext cx="1115288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577" marR="0" lvl="0" indent="-228577" algn="l" defTabSz="914309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/>
              <a:t>Click to edit master text styles</a:t>
            </a:r>
            <a:endParaRPr kumimoji="1" lang="zh-TW" altLang="en-US"/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kumimoji="1" lang="en-US" altLang="zh-TW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83200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80" r:id="rId16"/>
    <p:sldLayoutId id="2147483677" r:id="rId17"/>
  </p:sldLayoutIdLst>
  <p:txStyles>
    <p:titleStyle>
      <a:lvl1pPr marR="0" algn="l" defTabSz="9143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kumimoji="1" lang="zh-TW" altLang="en-US" sz="3600" b="1" i="0" u="none" strike="noStrike" kern="1200" cap="none" dirty="0">
          <a:solidFill>
            <a:srgbClr val="008787"/>
          </a:solidFill>
          <a:latin typeface="Arial" panose="020B0604020202020204" pitchFamily="34" charset="0"/>
          <a:ea typeface="+mj-ea"/>
          <a:cs typeface="Arial" panose="020B0604020202020204" pitchFamily="34" charset="0"/>
          <a:sym typeface="Arial"/>
        </a:defRPr>
      </a:lvl1pPr>
    </p:titleStyle>
    <p:bodyStyle>
      <a:lvl1pPr marL="342866" marR="0" indent="-342866" algn="l" defTabSz="914309" rtl="0" eaLnBrk="1" fontAlgn="auto" latinLnBrk="0" hangingPunct="1">
        <a:lnSpc>
          <a:spcPct val="120000"/>
        </a:lnSpc>
        <a:spcBef>
          <a:spcPts val="1000"/>
        </a:spcBef>
        <a:spcAft>
          <a:spcPts val="0"/>
        </a:spcAft>
        <a:buClr>
          <a:schemeClr val="bg2">
            <a:lumMod val="25000"/>
          </a:schemeClr>
        </a:buClr>
        <a:buSzTx/>
        <a:buFont typeface="Arial" panose="020B0604020202020204" pitchFamily="34" charset="0"/>
        <a:buChar char="●"/>
        <a:tabLst/>
        <a:defRPr sz="22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31" indent="-228577" algn="l" defTabSz="914309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○"/>
        <a:defRPr sz="1800" b="1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886" indent="-228577" algn="l" defTabSz="914309" rtl="0" eaLnBrk="1" latinLnBrk="0" hangingPunct="1">
        <a:lnSpc>
          <a:spcPct val="120000"/>
        </a:lnSpc>
        <a:spcBef>
          <a:spcPts val="600"/>
        </a:spcBef>
        <a:buClr>
          <a:schemeClr val="bg2">
            <a:lumMod val="25000"/>
          </a:schemeClr>
        </a:buClr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57184" marR="0" indent="-285721" algn="l" defTabSz="914309" rtl="0" eaLnBrk="1" fontAlgn="auto" latinLnBrk="0" hangingPunct="1">
        <a:lnSpc>
          <a:spcPct val="120000"/>
        </a:lnSpc>
        <a:spcBef>
          <a:spcPts val="600"/>
        </a:spcBef>
        <a:spcAft>
          <a:spcPts val="0"/>
        </a:spcAft>
        <a:buClr>
          <a:schemeClr val="tx1"/>
        </a:buClr>
        <a:buSzTx/>
        <a:buFont typeface="Arial" panose="020B0604020202020204" pitchFamily="34" charset="0"/>
        <a:buChar char="»"/>
        <a:tabLst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114339" indent="-285721" algn="l" defTabSz="914309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»"/>
        <a:defRPr sz="12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>
          <p15:clr>
            <a:srgbClr val="F26B43"/>
          </p15:clr>
        </p15:guide>
        <p15:guide id="2" pos="325">
          <p15:clr>
            <a:srgbClr val="F26B43"/>
          </p15:clr>
        </p15:guide>
        <p15:guide id="3" orient="horz" pos="3997">
          <p15:clr>
            <a:srgbClr val="F26B43"/>
          </p15:clr>
        </p15:guide>
        <p15:guide id="4" pos="7356">
          <p15:clr>
            <a:srgbClr val="F26B43"/>
          </p15:clr>
        </p15:guide>
        <p15:guide id="5" orient="horz" pos="1480">
          <p15:clr>
            <a:srgbClr val="5ACBF0"/>
          </p15:clr>
        </p15:guide>
        <p15:guide id="6" orient="horz" pos="2863">
          <p15:clr>
            <a:srgbClr val="5ACBF0"/>
          </p15:clr>
        </p15:guide>
        <p15:guide id="7" pos="3772">
          <p15:clr>
            <a:srgbClr val="5ACBF0"/>
          </p15:clr>
        </p15:guide>
        <p15:guide id="8" pos="3909">
          <p15:clr>
            <a:srgbClr val="5ACBF0"/>
          </p15:clr>
        </p15:guide>
        <p15:guide id="9" orient="horz" pos="2160">
          <p15:clr>
            <a:srgbClr val="F26B43"/>
          </p15:clr>
        </p15:guide>
        <p15:guide id="10" pos="384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23392" y="6448252"/>
            <a:ext cx="672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67F76-A388-464C-982A-D3F7033E0B3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482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220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jira-dc.moxa.com/browse/RDMDS42-3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gitlab.com/moxa/sw/switch/general/buildsystem/moxa/-/issues/3892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25.emf"/><Relationship Id="rId4" Type="http://schemas.openxmlformats.org/officeDocument/2006/relationships/image" Target="../media/image22.emf"/><Relationship Id="rId9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e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32.emf"/><Relationship Id="rId4" Type="http://schemas.openxmlformats.org/officeDocument/2006/relationships/image" Target="../media/image29.emf"/><Relationship Id="rId9" Type="http://schemas.openxmlformats.org/officeDocument/2006/relationships/oleObject" Target="../embeddings/oleObject9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mhqnetrelease.moxa.com/Release/MDS-G4000-L3-4XGS/IMG_FWR/v5.0.4_2025_1121_1104/FWR_MDS-G4000-L3-4XGS_v5.0.4_2025_1121_1104.rom" TargetMode="External"/><Relationship Id="rId7" Type="http://schemas.openxmlformats.org/officeDocument/2006/relationships/image" Target="../media/image3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jpeg"/><Relationship Id="rId5" Type="http://schemas.openxmlformats.org/officeDocument/2006/relationships/image" Target="../media/image34.emf"/><Relationship Id="rId4" Type="http://schemas.openxmlformats.org/officeDocument/2006/relationships/oleObject" Target="../embeddings/oleObject1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6F89D8-9B49-2707-F599-30ED3B6C6A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北京十號線</a:t>
            </a:r>
            <a:r>
              <a:rPr lang="en-US" altLang="zh-TW" dirty="0"/>
              <a:t>SNMP</a:t>
            </a:r>
            <a:r>
              <a:rPr lang="zh-TW" altLang="en-US" dirty="0"/>
              <a:t>加速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6FAD2C1-2E2E-860F-4DD9-496599613C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Yutzu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6277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BFD729-4EE2-5ACD-7EEB-BA031D8AB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Target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B7E3BBC-4A0E-A0F8-7751-D350A733FB9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34E9D29-A89C-B8C2-6D5D-E0E04A54E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Model: MDS-G4000-4XGS-L3</a:t>
            </a:r>
          </a:p>
          <a:p>
            <a:r>
              <a:rPr lang="en-US" altLang="zh-TW" dirty="0"/>
              <a:t>Base branch: NOS v5.x</a:t>
            </a:r>
          </a:p>
          <a:p>
            <a:r>
              <a:rPr lang="en-US" altLang="zh-TW" dirty="0"/>
              <a:t>Jira issue: </a:t>
            </a:r>
            <a:r>
              <a:rPr lang="en-US" altLang="zh-TW" dirty="0">
                <a:hlinkClick r:id="rId3"/>
              </a:rPr>
              <a:t>https://jira-dc.moxa.com/browse/RDMDS42-32</a:t>
            </a:r>
            <a:endParaRPr lang="en-US" altLang="zh-TW" dirty="0"/>
          </a:p>
          <a:p>
            <a:r>
              <a:rPr lang="en-US" altLang="zh-TW" dirty="0"/>
              <a:t>Gitlab issue:</a:t>
            </a:r>
            <a:r>
              <a:rPr lang="zh-TW" altLang="en-US" dirty="0"/>
              <a:t> </a:t>
            </a:r>
            <a:r>
              <a:rPr lang="en-US" altLang="zh-TW" dirty="0">
                <a:hlinkClick r:id="rId4"/>
              </a:rPr>
              <a:t>https://gitlab.com/moxa/sw/switch/general/buildsystem/moxa/-/issues/3892</a:t>
            </a:r>
            <a:endParaRPr lang="en-US" altLang="zh-TW" dirty="0"/>
          </a:p>
          <a:p>
            <a:r>
              <a:rPr lang="en-US" altLang="zh-TW" dirty="0"/>
              <a:t>Aim: reduce</a:t>
            </a:r>
            <a:r>
              <a:rPr lang="zh-TW" altLang="en-US" dirty="0"/>
              <a:t> </a:t>
            </a:r>
            <a:r>
              <a:rPr lang="en-US" altLang="zh-TW" dirty="0"/>
              <a:t>one SNMP</a:t>
            </a:r>
            <a:r>
              <a:rPr lang="zh-TW" altLang="en-US" dirty="0"/>
              <a:t> </a:t>
            </a:r>
            <a:r>
              <a:rPr lang="en-US" altLang="zh-TW" dirty="0"/>
              <a:t>GET access time for target OIDs under 50ms</a:t>
            </a:r>
          </a:p>
          <a:p>
            <a:r>
              <a:rPr lang="zh-TW" altLang="en-US" dirty="0"/>
              <a:t>目前解法因有限制，無法直接導回</a:t>
            </a:r>
            <a:r>
              <a:rPr lang="en-US" altLang="zh-TW" dirty="0"/>
              <a:t>NOS 7.0</a:t>
            </a:r>
          </a:p>
        </p:txBody>
      </p:sp>
    </p:spTree>
    <p:extLst>
      <p:ext uri="{BB962C8B-B14F-4D97-AF65-F5344CB8AC3E}">
        <p14:creationId xmlns:p14="http://schemas.microsoft.com/office/powerpoint/2010/main" val="2687865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EEFFF7-08E9-BFFD-BE44-848E7E71D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CV Schedules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9A542AF-10FF-6774-0437-8E25671D0AB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2C9301C-353E-16F0-202B-716590EE4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10/17</a:t>
            </a:r>
            <a:r>
              <a:rPr lang="zh-TW" altLang="en-US" dirty="0"/>
              <a:t>交付</a:t>
            </a:r>
            <a:r>
              <a:rPr lang="en-US" altLang="zh-TW" dirty="0"/>
              <a:t>FWR</a:t>
            </a:r>
            <a:r>
              <a:rPr lang="zh-TW" altLang="en-US" dirty="0"/>
              <a:t>給手測，使用交控</a:t>
            </a:r>
            <a:r>
              <a:rPr lang="en-US" altLang="zh-TW" dirty="0"/>
              <a:t>testbed</a:t>
            </a:r>
            <a:r>
              <a:rPr lang="zh-TW" altLang="en-US" dirty="0"/>
              <a:t>，確認行為符合交控期望</a:t>
            </a:r>
            <a:endParaRPr lang="en-US" altLang="zh-TW" dirty="0"/>
          </a:p>
          <a:p>
            <a:r>
              <a:rPr lang="en-US" altLang="zh-TW" dirty="0"/>
              <a:t>11/21</a:t>
            </a:r>
            <a:r>
              <a:rPr lang="zh-TW" altLang="en-US" dirty="0"/>
              <a:t>交付</a:t>
            </a:r>
            <a:r>
              <a:rPr lang="en-US" altLang="zh-TW" dirty="0"/>
              <a:t>FWR</a:t>
            </a:r>
            <a:r>
              <a:rPr lang="zh-TW" altLang="en-US" dirty="0"/>
              <a:t>給自測，使用三天測項，確保一般行為正常；同時交付給</a:t>
            </a:r>
            <a:r>
              <a:rPr lang="en-US" altLang="zh-TW" dirty="0"/>
              <a:t>MCN</a:t>
            </a:r>
            <a:r>
              <a:rPr lang="zh-TW" altLang="en-US" dirty="0"/>
              <a:t>小臣進行測試</a:t>
            </a:r>
            <a:endParaRPr lang="en-US" altLang="zh-TW" dirty="0"/>
          </a:p>
          <a:p>
            <a:r>
              <a:rPr lang="en-US" altLang="zh-TW" dirty="0"/>
              <a:t>11/28</a:t>
            </a:r>
            <a:r>
              <a:rPr lang="zh-TW" altLang="en-US" dirty="0"/>
              <a:t>交付</a:t>
            </a:r>
            <a:r>
              <a:rPr lang="en-US" altLang="zh-TW" dirty="0"/>
              <a:t>FWR</a:t>
            </a:r>
            <a:r>
              <a:rPr lang="zh-TW" altLang="en-US" dirty="0"/>
              <a:t>給</a:t>
            </a:r>
            <a:r>
              <a:rPr lang="en-US" altLang="zh-TW" dirty="0"/>
              <a:t>MCN</a:t>
            </a:r>
          </a:p>
        </p:txBody>
      </p:sp>
    </p:spTree>
    <p:extLst>
      <p:ext uri="{BB962C8B-B14F-4D97-AF65-F5344CB8AC3E}">
        <p14:creationId xmlns:p14="http://schemas.microsoft.com/office/powerpoint/2010/main" val="2076004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2FFE70-1DE4-5EDB-F0FB-16066FAE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Target OID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B46002F-9CCC-EBC3-01D0-61A23027D74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5DA822F-B6CA-1753-5359-ACF16055F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zh-TW" dirty="0"/>
              <a:t>IF-MIB</a:t>
            </a:r>
            <a:endParaRPr lang="en-US" altLang="zh-CN" dirty="0"/>
          </a:p>
          <a:p>
            <a:pPr lvl="1"/>
            <a:r>
              <a:rPr lang="en-US" altLang="zh-CN" dirty="0" err="1"/>
              <a:t>ifTable</a:t>
            </a:r>
            <a:endParaRPr lang="en-US" altLang="zh-CN" dirty="0"/>
          </a:p>
          <a:p>
            <a:pPr lvl="2"/>
            <a:r>
              <a:rPr lang="en-US" altLang="zh-CN" dirty="0"/>
              <a:t>1.3.6.1.2.1.2.2.1.8	//</a:t>
            </a:r>
            <a:r>
              <a:rPr lang="zh-CN" altLang="en-US" dirty="0"/>
              <a:t>交换机端口</a:t>
            </a:r>
            <a:r>
              <a:rPr lang="en-US" altLang="zh-CN" dirty="0"/>
              <a:t>UP/DOWN</a:t>
            </a:r>
            <a:r>
              <a:rPr lang="zh-CN" altLang="en-US" dirty="0"/>
              <a:t>状态 </a:t>
            </a:r>
            <a:r>
              <a:rPr lang="en-US" altLang="zh-CN" dirty="0"/>
              <a:t>(ifOperStatus)</a:t>
            </a:r>
            <a:endParaRPr lang="zh-CN" altLang="en-US" dirty="0"/>
          </a:p>
          <a:p>
            <a:pPr lvl="2"/>
            <a:r>
              <a:rPr lang="en-US" altLang="zh-CN" dirty="0"/>
              <a:t>1.3.6.1.2.1.2.2.1.10	//</a:t>
            </a:r>
            <a:r>
              <a:rPr lang="zh-CN" altLang="en-US" dirty="0"/>
              <a:t>交换机端口流量统计值 </a:t>
            </a:r>
            <a:r>
              <a:rPr lang="en-US" altLang="zh-CN" dirty="0"/>
              <a:t>(</a:t>
            </a:r>
            <a:r>
              <a:rPr lang="en-US" altLang="zh-CN" dirty="0" err="1"/>
              <a:t>ifInOctets</a:t>
            </a:r>
            <a:r>
              <a:rPr lang="en-US" altLang="zh-CN" dirty="0"/>
              <a:t>)</a:t>
            </a:r>
            <a:endParaRPr lang="zh-CN" altLang="en-US" dirty="0"/>
          </a:p>
          <a:p>
            <a:pPr lvl="2"/>
            <a:r>
              <a:rPr lang="en-US" altLang="zh-CN" dirty="0"/>
              <a:t>1.3.6.1.2.1.2.2.1.14	// </a:t>
            </a:r>
            <a:r>
              <a:rPr lang="zh-CN" altLang="en-US" dirty="0"/>
              <a:t>交换机端口错误包数 </a:t>
            </a:r>
            <a:r>
              <a:rPr lang="en-US" altLang="zh-CN" dirty="0"/>
              <a:t>(</a:t>
            </a:r>
            <a:r>
              <a:rPr lang="en-US" altLang="zh-CN" dirty="0" err="1"/>
              <a:t>ifInErrors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 err="1"/>
              <a:t>ifXTable</a:t>
            </a:r>
            <a:endParaRPr lang="en-US" altLang="zh-CN" dirty="0"/>
          </a:p>
          <a:p>
            <a:pPr lvl="2"/>
            <a:r>
              <a:rPr lang="en-US" altLang="zh-CN" dirty="0"/>
              <a:t>1.3.6.1.2.1.31.1.1.1.15  // </a:t>
            </a:r>
            <a:r>
              <a:rPr lang="zh-CN" altLang="en-US" dirty="0"/>
              <a:t>交换机端口带宽 </a:t>
            </a:r>
            <a:r>
              <a:rPr lang="en-US" altLang="zh-CN" dirty="0"/>
              <a:t>(</a:t>
            </a:r>
            <a:r>
              <a:rPr lang="en-US" altLang="zh-CN" dirty="0" err="1"/>
              <a:t>ifHighSpeed</a:t>
            </a:r>
            <a:r>
              <a:rPr lang="en-US" altLang="zh-CN" dirty="0"/>
              <a:t>)</a:t>
            </a:r>
          </a:p>
          <a:p>
            <a:r>
              <a:rPr lang="en-US" altLang="zh-TW" dirty="0" err="1"/>
              <a:t>mxFiberCheck.mib</a:t>
            </a:r>
            <a:r>
              <a:rPr lang="en-US" altLang="zh-TW" dirty="0"/>
              <a:t> 	</a:t>
            </a:r>
          </a:p>
          <a:p>
            <a:pPr lvl="1"/>
            <a:r>
              <a:rPr lang="en-US" altLang="zh-TW" dirty="0"/>
              <a:t>1.3.6.1.4.1.8691.603.5.3.2.1.1.1.8 // </a:t>
            </a:r>
            <a:r>
              <a:rPr lang="en-US" altLang="zh-TW" dirty="0" err="1"/>
              <a:t>fiberCheckStatTxPower</a:t>
            </a:r>
            <a:endParaRPr lang="en-US" altLang="zh-TW" dirty="0"/>
          </a:p>
          <a:p>
            <a:pPr lvl="1"/>
            <a:r>
              <a:rPr lang="en-US" altLang="zh-TW" dirty="0"/>
              <a:t>1.3.6.1.4.1.8691.603.5.3.2.1.1.1.9 // </a:t>
            </a:r>
            <a:r>
              <a:rPr lang="en-US" altLang="zh-TW" dirty="0" err="1"/>
              <a:t>fiberCheckStatRxPower</a:t>
            </a:r>
            <a:endParaRPr lang="en-US" altLang="zh-TW" dirty="0"/>
          </a:p>
          <a:p>
            <a:r>
              <a:rPr lang="en-US" altLang="zh-CN" dirty="0"/>
              <a:t>MOXA-</a:t>
            </a:r>
            <a:r>
              <a:rPr lang="en-US" altLang="zh-CN" dirty="0" err="1"/>
              <a:t>CVCOMMON.mib</a:t>
            </a:r>
            <a:endParaRPr lang="en-US" altLang="zh-CN" dirty="0"/>
          </a:p>
          <a:p>
            <a:pPr lvl="1"/>
            <a:r>
              <a:rPr lang="en-US" altLang="zh-CN" dirty="0"/>
              <a:t>1.3.6.1.4.1.8691.7.999.1.1.2.0	//</a:t>
            </a:r>
            <a:r>
              <a:rPr lang="zh-CN" altLang="en-US" dirty="0"/>
              <a:t>交换机</a:t>
            </a:r>
            <a:r>
              <a:rPr lang="en-US" altLang="zh-CN" dirty="0"/>
              <a:t>CPU</a:t>
            </a:r>
            <a:r>
              <a:rPr lang="zh-CN" altLang="en-US" dirty="0"/>
              <a:t>使用率</a:t>
            </a:r>
          </a:p>
          <a:p>
            <a:pPr lvl="1"/>
            <a:r>
              <a:rPr lang="en-US" altLang="zh-CN" dirty="0"/>
              <a:t>1.3.6.1.4.1.8691.7.999.1.1.1.0	//</a:t>
            </a:r>
            <a:r>
              <a:rPr lang="zh-CN" altLang="en-US" dirty="0"/>
              <a:t>交换机系统时间</a:t>
            </a:r>
            <a:endParaRPr lang="en-US" altLang="zh-CN" dirty="0"/>
          </a:p>
          <a:p>
            <a:r>
              <a:rPr lang="zh-TW" altLang="en-US" dirty="0"/>
              <a:t>其他資訊</a:t>
            </a:r>
            <a:endParaRPr lang="en-US" altLang="zh-TW" dirty="0"/>
          </a:p>
          <a:p>
            <a:pPr lvl="1"/>
            <a:r>
              <a:rPr lang="en-US" altLang="zh-TW" dirty="0"/>
              <a:t>GET OID</a:t>
            </a:r>
            <a:r>
              <a:rPr lang="zh-TW" altLang="en-US" dirty="0"/>
              <a:t>最後面帶有</a:t>
            </a:r>
            <a:r>
              <a:rPr lang="en-US" altLang="zh-TW" dirty="0"/>
              <a:t>port index</a:t>
            </a:r>
            <a:r>
              <a:rPr lang="zh-TW" altLang="en-US" dirty="0"/>
              <a:t>。例如</a:t>
            </a:r>
            <a:r>
              <a:rPr lang="en-US" altLang="zh-TW" dirty="0"/>
              <a:t>”GET .1.3.6.1.2.1.2.2.1.10”</a:t>
            </a:r>
            <a:r>
              <a:rPr lang="zh-TW" altLang="en-US" dirty="0"/>
              <a:t>最後並沒有帶有</a:t>
            </a:r>
            <a:r>
              <a:rPr lang="en-US" altLang="zh-TW" dirty="0"/>
              <a:t>port index</a:t>
            </a:r>
            <a:r>
              <a:rPr lang="zh-TW" altLang="en-US" dirty="0"/>
              <a:t>，而</a:t>
            </a:r>
            <a:r>
              <a:rPr lang="en-US" altLang="zh-TW" dirty="0"/>
              <a:t>”GET .1.3.6.1.2.1.2.2.1.10.1”</a:t>
            </a:r>
            <a:r>
              <a:rPr lang="zh-TW" altLang="en-US" dirty="0"/>
              <a:t>最後帶有</a:t>
            </a:r>
            <a:r>
              <a:rPr lang="en-US" altLang="zh-TW" dirty="0"/>
              <a:t>port index 1</a:t>
            </a:r>
          </a:p>
          <a:p>
            <a:pPr lvl="1"/>
            <a:r>
              <a:rPr lang="zh-TW" altLang="en-US" dirty="0"/>
              <a:t>不會使用</a:t>
            </a:r>
            <a:r>
              <a:rPr lang="en-US" altLang="zh-TW" dirty="0"/>
              <a:t>SNMP v3</a:t>
            </a:r>
            <a:r>
              <a:rPr lang="zh-TW" altLang="en-US" dirty="0"/>
              <a:t>，僅使用</a:t>
            </a:r>
            <a:r>
              <a:rPr lang="en-US" altLang="zh-TW" dirty="0"/>
              <a:t>GET method</a:t>
            </a:r>
            <a:r>
              <a:rPr lang="zh-TW" altLang="en-US" dirty="0"/>
              <a:t> </a:t>
            </a:r>
            <a:r>
              <a:rPr lang="en-US" altLang="zh-TW" dirty="0"/>
              <a:t>v1</a:t>
            </a:r>
          </a:p>
          <a:p>
            <a:pPr lvl="1"/>
            <a:r>
              <a:rPr lang="zh-TW" altLang="en-US" dirty="0"/>
              <a:t>不會使用</a:t>
            </a:r>
            <a:r>
              <a:rPr lang="en-US" altLang="zh-TW" dirty="0"/>
              <a:t>SNMP SET</a:t>
            </a:r>
            <a:r>
              <a:rPr lang="zh-TW" altLang="en-US" dirty="0"/>
              <a:t>，皆為</a:t>
            </a:r>
            <a:r>
              <a:rPr lang="en-US" altLang="zh-TW" dirty="0"/>
              <a:t>read-only</a:t>
            </a:r>
            <a:r>
              <a:rPr lang="zh-TW" altLang="en-US" dirty="0"/>
              <a:t> </a:t>
            </a:r>
            <a:r>
              <a:rPr lang="en-US" altLang="zh-TW" dirty="0"/>
              <a:t>OID</a:t>
            </a:r>
          </a:p>
        </p:txBody>
      </p:sp>
    </p:spTree>
    <p:extLst>
      <p:ext uri="{BB962C8B-B14F-4D97-AF65-F5344CB8AC3E}">
        <p14:creationId xmlns:p14="http://schemas.microsoft.com/office/powerpoint/2010/main" val="2963750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203D69-95D1-78BC-2CCB-F55B82684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B5D3859-400A-9770-DC50-8444DC9F272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41C1844-6E82-3C3C-650F-662EBD69B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3E10E68-74A7-782E-3822-70A7847A7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1" y="1872384"/>
            <a:ext cx="6762629" cy="6858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48D8DD1-1161-B9D2-552E-341F40DC0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745564"/>
            <a:ext cx="562927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591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5BB04C7-3F1C-480C-3171-2CD5730AD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8596" y="628232"/>
            <a:ext cx="5036735" cy="2837822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0DA19EC-98A8-B629-8ABA-744EE41E6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Current status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E7A36C-1FAA-F540-4F8F-CF87FBBE70A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zh-TW" dirty="0"/>
              <a:t>MDS-G4028-L3-4XGS v5.0 2025_0623_1125</a:t>
            </a:r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9458614B-6993-E9F6-090B-DDC7477E6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Case 1</a:t>
            </a:r>
          </a:p>
          <a:p>
            <a:pPr lvl="1"/>
            <a:r>
              <a:rPr lang="en-US" altLang="zh-TW" dirty="0"/>
              <a:t>Version: v1</a:t>
            </a:r>
          </a:p>
          <a:p>
            <a:pPr lvl="1"/>
            <a:r>
              <a:rPr lang="en-US" altLang="zh-TW" dirty="0"/>
              <a:t>Method: GET</a:t>
            </a:r>
            <a:r>
              <a:rPr lang="zh-TW" altLang="en-US" dirty="0"/>
              <a:t>同一個</a:t>
            </a:r>
            <a:r>
              <a:rPr lang="en-US" altLang="zh-TW" dirty="0" err="1"/>
              <a:t>ifTable</a:t>
            </a:r>
            <a:r>
              <a:rPr lang="zh-TW" altLang="en-US" dirty="0"/>
              <a:t>底下</a:t>
            </a:r>
            <a:r>
              <a:rPr lang="en-US" altLang="zh-TW" dirty="0"/>
              <a:t>1-3</a:t>
            </a:r>
            <a:r>
              <a:rPr lang="zh-TW" altLang="en-US" dirty="0"/>
              <a:t>個</a:t>
            </a:r>
            <a:r>
              <a:rPr lang="en-US" altLang="zh-TW" dirty="0"/>
              <a:t>OID</a:t>
            </a:r>
          </a:p>
          <a:p>
            <a:pPr lvl="1"/>
            <a:r>
              <a:rPr lang="en-US" altLang="zh-TW" dirty="0"/>
              <a:t>Result: </a:t>
            </a:r>
            <a:r>
              <a:rPr lang="zh-TW" altLang="en-US" dirty="0"/>
              <a:t>約</a:t>
            </a:r>
            <a:r>
              <a:rPr lang="en-US" altLang="zh-TW" dirty="0"/>
              <a:t>600ms</a:t>
            </a:r>
            <a:endParaRPr lang="zh-TW" altLang="en-US" dirty="0"/>
          </a:p>
        </p:txBody>
      </p:sp>
      <p:pic>
        <p:nvPicPr>
          <p:cNvPr id="9" name="內容版面配置區 5">
            <a:extLst>
              <a:ext uri="{FF2B5EF4-FFF2-40B4-BE49-F238E27FC236}">
                <a16:creationId xmlns:a16="http://schemas.microsoft.com/office/drawing/2014/main" id="{D8419C58-24C3-F6C8-3297-AFF2346BB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1" y="3843817"/>
            <a:ext cx="12030758" cy="221932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B587955B-4149-D499-BB4A-857B636AA8F8}"/>
              </a:ext>
            </a:extLst>
          </p:cNvPr>
          <p:cNvSpPr/>
          <p:nvPr/>
        </p:nvSpPr>
        <p:spPr>
          <a:xfrm>
            <a:off x="351430" y="4564383"/>
            <a:ext cx="11483306" cy="2847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4F99FB-0C4D-AC2B-CF41-2963E4E633BB}"/>
              </a:ext>
            </a:extLst>
          </p:cNvPr>
          <p:cNvSpPr/>
          <p:nvPr/>
        </p:nvSpPr>
        <p:spPr>
          <a:xfrm>
            <a:off x="351430" y="4842283"/>
            <a:ext cx="11483306" cy="2847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D9C48B7-4861-5D63-390C-DE676AD0BEC1}"/>
              </a:ext>
            </a:extLst>
          </p:cNvPr>
          <p:cNvSpPr/>
          <p:nvPr/>
        </p:nvSpPr>
        <p:spPr>
          <a:xfrm>
            <a:off x="11480800" y="898181"/>
            <a:ext cx="391926" cy="16099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2948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A7BD3-2BB4-E7CF-524F-A1F168EB1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E711B74B-CA78-4B48-EC62-85B685187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7069" y="279076"/>
            <a:ext cx="5036735" cy="2837822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725DC8E-DA96-EA90-0DEA-252BBD8E9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Current status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21A2E4-1C20-1EE3-9AC7-6609410856A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zh-TW" dirty="0"/>
              <a:t>MDS-G4028-L3-4XGS v5.0 2025_0623_1125</a:t>
            </a:r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20379188-75FB-7328-69F5-561ECED51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Case 2</a:t>
            </a:r>
          </a:p>
          <a:p>
            <a:pPr lvl="1"/>
            <a:r>
              <a:rPr lang="en-US" altLang="zh-TW" dirty="0"/>
              <a:t>Version: v1</a:t>
            </a:r>
          </a:p>
          <a:p>
            <a:pPr lvl="1"/>
            <a:r>
              <a:rPr lang="en-US" altLang="zh-TW" dirty="0"/>
              <a:t>Method: GET</a:t>
            </a:r>
            <a:r>
              <a:rPr lang="zh-TW" altLang="en-US" dirty="0"/>
              <a:t>跨</a:t>
            </a:r>
            <a:r>
              <a:rPr lang="en-US" altLang="zh-TW" dirty="0" err="1"/>
              <a:t>ifTable</a:t>
            </a:r>
            <a:r>
              <a:rPr lang="en-US" altLang="zh-TW" dirty="0"/>
              <a:t>, </a:t>
            </a:r>
            <a:r>
              <a:rPr lang="en-US" altLang="zh-TW" dirty="0" err="1"/>
              <a:t>ifXTable</a:t>
            </a:r>
            <a:r>
              <a:rPr lang="zh-TW" altLang="en-US" dirty="0"/>
              <a:t>底下</a:t>
            </a:r>
            <a:r>
              <a:rPr lang="en-US" altLang="zh-TW" dirty="0"/>
              <a:t>2</a:t>
            </a:r>
            <a:r>
              <a:rPr lang="zh-TW" altLang="en-US" dirty="0"/>
              <a:t>個以上</a:t>
            </a:r>
            <a:r>
              <a:rPr lang="en-US" altLang="zh-TW" dirty="0"/>
              <a:t>OID</a:t>
            </a:r>
          </a:p>
          <a:p>
            <a:pPr lvl="1"/>
            <a:r>
              <a:rPr lang="en-US" altLang="zh-TW" dirty="0"/>
              <a:t>Result: </a:t>
            </a:r>
            <a:r>
              <a:rPr lang="zh-TW" altLang="en-US" dirty="0"/>
              <a:t>約</a:t>
            </a:r>
            <a:r>
              <a:rPr lang="en-US" altLang="zh-TW" dirty="0"/>
              <a:t>1200ms</a:t>
            </a:r>
            <a:endParaRPr lang="zh-TW" altLang="en-US" dirty="0"/>
          </a:p>
        </p:txBody>
      </p:sp>
      <p:pic>
        <p:nvPicPr>
          <p:cNvPr id="9" name="內容版面配置區 5">
            <a:extLst>
              <a:ext uri="{FF2B5EF4-FFF2-40B4-BE49-F238E27FC236}">
                <a16:creationId xmlns:a16="http://schemas.microsoft.com/office/drawing/2014/main" id="{96AC4246-2D88-921A-31DE-942EC72F8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1" y="3843817"/>
            <a:ext cx="12030758" cy="221932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84F33440-8DF8-F0FB-E10F-02002C858EEE}"/>
              </a:ext>
            </a:extLst>
          </p:cNvPr>
          <p:cNvSpPr/>
          <p:nvPr/>
        </p:nvSpPr>
        <p:spPr>
          <a:xfrm>
            <a:off x="351430" y="5165554"/>
            <a:ext cx="11622374" cy="2847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E66DC3-D4F7-985D-D57E-2C89B427F298}"/>
              </a:ext>
            </a:extLst>
          </p:cNvPr>
          <p:cNvSpPr/>
          <p:nvPr/>
        </p:nvSpPr>
        <p:spPr>
          <a:xfrm>
            <a:off x="11499273" y="549025"/>
            <a:ext cx="391926" cy="16099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4F70F16-226D-8E80-EF35-ABF40FBF9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0618" y="1434286"/>
            <a:ext cx="1724277" cy="213163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98ECEE2-884F-2949-E31C-9090DC61BB1E}"/>
              </a:ext>
            </a:extLst>
          </p:cNvPr>
          <p:cNvSpPr/>
          <p:nvPr/>
        </p:nvSpPr>
        <p:spPr>
          <a:xfrm>
            <a:off x="346814" y="5761295"/>
            <a:ext cx="11622374" cy="2847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5981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88525B0-F1C7-3FF6-1EF1-D3AD3E4A9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9FF2018-9BE3-B02D-2B89-BACF9346E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8596" y="628232"/>
            <a:ext cx="5036735" cy="2837822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12D0256-2303-0325-59AF-FD17708B7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Current status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77E8431-CCB1-F8A9-B2CC-ECE4F661D38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zh-TW" dirty="0"/>
              <a:t>MDS-G4028-L3-4XGS v5.0 2025_0623_1125</a:t>
            </a:r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F98B1E87-210D-34B2-2E49-CF90529FA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Case 3</a:t>
            </a:r>
          </a:p>
          <a:p>
            <a:pPr lvl="1"/>
            <a:r>
              <a:rPr lang="en-US" altLang="zh-TW" dirty="0"/>
              <a:t>Version: v3</a:t>
            </a:r>
          </a:p>
          <a:p>
            <a:pPr lvl="1"/>
            <a:r>
              <a:rPr lang="en-US" altLang="zh-TW" dirty="0"/>
              <a:t>Method: GET</a:t>
            </a:r>
            <a:r>
              <a:rPr lang="zh-TW" altLang="en-US" dirty="0"/>
              <a:t>同一個</a:t>
            </a:r>
            <a:r>
              <a:rPr lang="en-US" altLang="zh-TW" dirty="0" err="1"/>
              <a:t>ifTable</a:t>
            </a:r>
            <a:r>
              <a:rPr lang="zh-TW" altLang="en-US" dirty="0"/>
              <a:t>底下</a:t>
            </a:r>
            <a:r>
              <a:rPr lang="en-US" altLang="zh-TW" dirty="0"/>
              <a:t>1-3</a:t>
            </a:r>
            <a:r>
              <a:rPr lang="zh-TW" altLang="en-US" dirty="0"/>
              <a:t>個</a:t>
            </a:r>
            <a:r>
              <a:rPr lang="en-US" altLang="zh-TW" dirty="0"/>
              <a:t>OID</a:t>
            </a:r>
          </a:p>
          <a:p>
            <a:pPr lvl="1"/>
            <a:r>
              <a:rPr lang="en-US" altLang="zh-TW" dirty="0"/>
              <a:t>Result: </a:t>
            </a:r>
            <a:endParaRPr lang="zh-TW" altLang="en-US" dirty="0"/>
          </a:p>
        </p:txBody>
      </p:sp>
      <p:pic>
        <p:nvPicPr>
          <p:cNvPr id="9" name="內容版面配置區 5">
            <a:extLst>
              <a:ext uri="{FF2B5EF4-FFF2-40B4-BE49-F238E27FC236}">
                <a16:creationId xmlns:a16="http://schemas.microsoft.com/office/drawing/2014/main" id="{A6DA8D98-0D2C-7B79-865B-1E0707702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1" y="3843817"/>
            <a:ext cx="12030758" cy="221932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97A2F2D-0F77-0AFF-3683-CE27E6B4A72E}"/>
              </a:ext>
            </a:extLst>
          </p:cNvPr>
          <p:cNvSpPr/>
          <p:nvPr/>
        </p:nvSpPr>
        <p:spPr>
          <a:xfrm>
            <a:off x="351430" y="4564383"/>
            <a:ext cx="11483306" cy="2847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182FE7-07FB-E8F4-A1BF-B8DE714DE800}"/>
              </a:ext>
            </a:extLst>
          </p:cNvPr>
          <p:cNvSpPr/>
          <p:nvPr/>
        </p:nvSpPr>
        <p:spPr>
          <a:xfrm>
            <a:off x="351430" y="4842283"/>
            <a:ext cx="11483306" cy="2847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DD1F5AA-2710-BD2F-E4FE-256CE7647922}"/>
              </a:ext>
            </a:extLst>
          </p:cNvPr>
          <p:cNvSpPr/>
          <p:nvPr/>
        </p:nvSpPr>
        <p:spPr>
          <a:xfrm>
            <a:off x="11480800" y="898181"/>
            <a:ext cx="391926" cy="16099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2893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B1890E6-8155-1CAF-9541-543B3E55C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255CADD6-74D9-A848-B730-D701F7AF0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7069" y="279076"/>
            <a:ext cx="5036735" cy="2837822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54B4DE0-6846-60DC-1B5D-5D9B7C43A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Current status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D3B8308-F271-4EB6-01A0-483D9044D11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zh-TW" dirty="0"/>
              <a:t>MDS-G4028-L3-4XGS v5.0 2025_0623_1125</a:t>
            </a:r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0C5C6A40-8ED2-D8DE-FADF-1D0AC5F84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Case 4</a:t>
            </a:r>
          </a:p>
          <a:p>
            <a:pPr lvl="1"/>
            <a:r>
              <a:rPr lang="en-US" altLang="zh-TW" dirty="0"/>
              <a:t>Version: v3</a:t>
            </a:r>
          </a:p>
          <a:p>
            <a:pPr lvl="1"/>
            <a:r>
              <a:rPr lang="en-US" altLang="zh-TW" dirty="0"/>
              <a:t>Method: GET</a:t>
            </a:r>
            <a:r>
              <a:rPr lang="zh-TW" altLang="en-US" dirty="0"/>
              <a:t>跨</a:t>
            </a:r>
            <a:r>
              <a:rPr lang="en-US" altLang="zh-TW" dirty="0" err="1"/>
              <a:t>ifTable</a:t>
            </a:r>
            <a:r>
              <a:rPr lang="en-US" altLang="zh-TW" dirty="0"/>
              <a:t>, </a:t>
            </a:r>
            <a:r>
              <a:rPr lang="en-US" altLang="zh-TW" dirty="0" err="1"/>
              <a:t>ifXTable</a:t>
            </a:r>
            <a:r>
              <a:rPr lang="zh-TW" altLang="en-US" dirty="0"/>
              <a:t>底下</a:t>
            </a:r>
            <a:r>
              <a:rPr lang="en-US" altLang="zh-TW" dirty="0"/>
              <a:t>2</a:t>
            </a:r>
            <a:r>
              <a:rPr lang="zh-TW" altLang="en-US" dirty="0"/>
              <a:t>個以上</a:t>
            </a:r>
            <a:r>
              <a:rPr lang="en-US" altLang="zh-TW" dirty="0"/>
              <a:t>OID</a:t>
            </a:r>
          </a:p>
          <a:p>
            <a:pPr lvl="1"/>
            <a:r>
              <a:rPr lang="en-US" altLang="zh-TW" dirty="0"/>
              <a:t>Result: </a:t>
            </a:r>
            <a:endParaRPr lang="zh-TW" altLang="en-US" dirty="0"/>
          </a:p>
        </p:txBody>
      </p:sp>
      <p:pic>
        <p:nvPicPr>
          <p:cNvPr id="9" name="內容版面配置區 5">
            <a:extLst>
              <a:ext uri="{FF2B5EF4-FFF2-40B4-BE49-F238E27FC236}">
                <a16:creationId xmlns:a16="http://schemas.microsoft.com/office/drawing/2014/main" id="{046E2946-6DF4-3F64-782F-0548F97FA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1" y="3843817"/>
            <a:ext cx="12030758" cy="221932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1CE6173C-E239-BE5A-3DB6-806EA7091D72}"/>
              </a:ext>
            </a:extLst>
          </p:cNvPr>
          <p:cNvSpPr/>
          <p:nvPr/>
        </p:nvSpPr>
        <p:spPr>
          <a:xfrm>
            <a:off x="351430" y="5165554"/>
            <a:ext cx="11622374" cy="2847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F395CBA-4491-82E4-78C2-9E606F69E31C}"/>
              </a:ext>
            </a:extLst>
          </p:cNvPr>
          <p:cNvSpPr/>
          <p:nvPr/>
        </p:nvSpPr>
        <p:spPr>
          <a:xfrm>
            <a:off x="11499273" y="549025"/>
            <a:ext cx="391926" cy="16099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EE9D2A1-7082-5074-EF1F-995C617D1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0618" y="1434286"/>
            <a:ext cx="1724277" cy="213163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59CD345-E642-970A-2F26-B1354EE4D38A}"/>
              </a:ext>
            </a:extLst>
          </p:cNvPr>
          <p:cNvSpPr/>
          <p:nvPr/>
        </p:nvSpPr>
        <p:spPr>
          <a:xfrm>
            <a:off x="346814" y="5761295"/>
            <a:ext cx="11622374" cy="2847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1815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BB3196-4C56-82AD-97AD-AFFEB096A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</a:t>
            </a:r>
            <a:r>
              <a:rPr lang="zh-TW" altLang="en-US" dirty="0"/>
              <a:t> </a:t>
            </a:r>
            <a:r>
              <a:rPr lang="en-US" altLang="zh-TW" dirty="0"/>
              <a:t>does</a:t>
            </a:r>
            <a:r>
              <a:rPr lang="zh-TW" altLang="en-US" dirty="0"/>
              <a:t> </a:t>
            </a:r>
            <a:r>
              <a:rPr lang="en-US" altLang="zh-TW" dirty="0"/>
              <a:t>SNMP get DATA from ISS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1467623" y="1297480"/>
            <a:ext cx="4959118" cy="1129429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151514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Net-SNMP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kern="0" dirty="0">
              <a:solidFill>
                <a:srgbClr val="151514"/>
              </a:solidFill>
              <a:latin typeface="Arial"/>
              <a:ea typeface="微軟正黑體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151514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86181" y="4008582"/>
            <a:ext cx="5040560" cy="2272318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151514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217182" y="2950796"/>
            <a:ext cx="2448272" cy="67585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kern="0" noProof="0" dirty="0" err="1">
                <a:solidFill>
                  <a:srgbClr val="151514"/>
                </a:solidFill>
                <a:latin typeface="Arial"/>
                <a:ea typeface="微軟正黑體"/>
              </a:rPr>
              <a:t>i</a:t>
            </a:r>
            <a:r>
              <a:rPr kumimoji="1" lang="en-US" altLang="zh-TW" sz="1800" b="0" i="0" u="none" strike="noStrike" kern="0" cap="none" spc="0" normalizeH="0" baseline="0" noProof="0" dirty="0" err="1">
                <a:ln>
                  <a:noFill/>
                </a:ln>
                <a:solidFill>
                  <a:srgbClr val="151514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es_uri_handle_client</a:t>
            </a:r>
            <a:endParaRPr kumimoji="1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151514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409634" y="4269055"/>
            <a:ext cx="1685433" cy="86181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kern="0" noProof="0" dirty="0">
                <a:solidFill>
                  <a:srgbClr val="151514"/>
                </a:solidFill>
                <a:latin typeface="Arial"/>
                <a:ea typeface="微軟正黑體"/>
              </a:rPr>
              <a:t>URI ctrl hook</a:t>
            </a:r>
            <a:endParaRPr kumimoji="1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151514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76051" y="4187657"/>
            <a:ext cx="2131511" cy="1119218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151514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SNMP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151514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922179" y="5568655"/>
            <a:ext cx="1262792" cy="7120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chemeClr val="accent2">
                    <a:lumMod val="75000"/>
                  </a:schemeClr>
                </a:solidFill>
              </a:rPr>
              <a:t>Status</a:t>
            </a:r>
            <a:endParaRPr lang="zh-TW" altLang="en-US" sz="1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081196" y="4839990"/>
            <a:ext cx="1321219" cy="3586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 err="1">
                <a:solidFill>
                  <a:schemeClr val="accent4">
                    <a:lumMod val="75000"/>
                  </a:schemeClr>
                </a:solidFill>
              </a:rPr>
              <a:t>snmpdb</a:t>
            </a:r>
            <a:endParaRPr lang="zh-TW" altLang="en-US" sz="1800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52" name="直線單箭頭接點 51"/>
          <p:cNvCxnSpPr>
            <a:stCxn id="27" idx="3"/>
            <a:endCxn id="53" idx="1"/>
          </p:cNvCxnSpPr>
          <p:nvPr/>
        </p:nvCxnSpPr>
        <p:spPr>
          <a:xfrm>
            <a:off x="4665454" y="3288723"/>
            <a:ext cx="333911" cy="69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4999365" y="2991275"/>
            <a:ext cx="1427376" cy="6087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chemeClr val="tx1"/>
                </a:solidFill>
              </a:rPr>
              <a:t>Output File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cxnSp>
        <p:nvCxnSpPr>
          <p:cNvPr id="65" name="直線單箭頭接點 64"/>
          <p:cNvCxnSpPr>
            <a:stCxn id="32" idx="0"/>
            <a:endCxn id="29" idx="2"/>
          </p:cNvCxnSpPr>
          <p:nvPr/>
        </p:nvCxnSpPr>
        <p:spPr>
          <a:xfrm flipH="1" flipV="1">
            <a:off x="2741807" y="5306875"/>
            <a:ext cx="811768" cy="2617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>
            <a:cxnSpLocks/>
            <a:stCxn id="5" idx="2"/>
            <a:endCxn id="27" idx="0"/>
          </p:cNvCxnSpPr>
          <p:nvPr/>
        </p:nvCxnSpPr>
        <p:spPr>
          <a:xfrm flipH="1">
            <a:off x="3441318" y="2426909"/>
            <a:ext cx="505864" cy="5238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字方塊 67"/>
          <p:cNvSpPr txBox="1"/>
          <p:nvPr/>
        </p:nvSpPr>
        <p:spPr>
          <a:xfrm>
            <a:off x="3219402" y="2584961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1</a:t>
            </a:r>
            <a:endParaRPr lang="zh-TW" altLang="en-US" sz="1800" dirty="0"/>
          </a:p>
        </p:txBody>
      </p:sp>
      <p:sp>
        <p:nvSpPr>
          <p:cNvPr id="69" name="文字方塊 68"/>
          <p:cNvSpPr txBox="1"/>
          <p:nvPr/>
        </p:nvSpPr>
        <p:spPr>
          <a:xfrm>
            <a:off x="3351009" y="3693813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2</a:t>
            </a:r>
            <a:endParaRPr lang="zh-TW" altLang="en-US" sz="1800" dirty="0"/>
          </a:p>
        </p:txBody>
      </p:sp>
      <p:sp>
        <p:nvSpPr>
          <p:cNvPr id="70" name="文字方塊 69"/>
          <p:cNvSpPr txBox="1"/>
          <p:nvPr/>
        </p:nvSpPr>
        <p:spPr>
          <a:xfrm>
            <a:off x="3807561" y="4607184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3</a:t>
            </a:r>
            <a:endParaRPr lang="zh-TW" altLang="en-US" sz="1800" dirty="0"/>
          </a:p>
        </p:txBody>
      </p:sp>
      <p:cxnSp>
        <p:nvCxnSpPr>
          <p:cNvPr id="72" name="直線單箭頭接點 71"/>
          <p:cNvCxnSpPr>
            <a:stCxn id="27" idx="2"/>
            <a:endCxn id="28" idx="0"/>
          </p:cNvCxnSpPr>
          <p:nvPr/>
        </p:nvCxnSpPr>
        <p:spPr>
          <a:xfrm>
            <a:off x="3441318" y="3626650"/>
            <a:ext cx="1811033" cy="6424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文字方塊 124"/>
          <p:cNvSpPr txBox="1"/>
          <p:nvPr/>
        </p:nvSpPr>
        <p:spPr>
          <a:xfrm>
            <a:off x="4422600" y="3713835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4</a:t>
            </a:r>
            <a:endParaRPr lang="zh-TW" altLang="en-US" sz="1800" dirty="0"/>
          </a:p>
        </p:txBody>
      </p:sp>
      <p:sp>
        <p:nvSpPr>
          <p:cNvPr id="126" name="文字方塊 125"/>
          <p:cNvSpPr txBox="1"/>
          <p:nvPr/>
        </p:nvSpPr>
        <p:spPr>
          <a:xfrm>
            <a:off x="5581446" y="2582764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6</a:t>
            </a:r>
            <a:endParaRPr lang="zh-TW" altLang="en-US" sz="1800" dirty="0"/>
          </a:p>
        </p:txBody>
      </p:sp>
      <p:cxnSp>
        <p:nvCxnSpPr>
          <p:cNvPr id="128" name="直線單箭頭接點 127"/>
          <p:cNvCxnSpPr>
            <a:cxnSpLocks/>
            <a:stCxn id="5" idx="2"/>
            <a:endCxn id="53" idx="0"/>
          </p:cNvCxnSpPr>
          <p:nvPr/>
        </p:nvCxnSpPr>
        <p:spPr>
          <a:xfrm>
            <a:off x="3947182" y="2426909"/>
            <a:ext cx="1765871" cy="5643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單箭頭接點 138"/>
          <p:cNvCxnSpPr>
            <a:stCxn id="35" idx="3"/>
            <a:endCxn id="28" idx="1"/>
          </p:cNvCxnSpPr>
          <p:nvPr/>
        </p:nvCxnSpPr>
        <p:spPr>
          <a:xfrm flipV="1">
            <a:off x="3402415" y="4699963"/>
            <a:ext cx="1007219" cy="31932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單箭頭接點 157"/>
          <p:cNvCxnSpPr>
            <a:stCxn id="159" idx="0"/>
            <a:endCxn id="29" idx="2"/>
          </p:cNvCxnSpPr>
          <p:nvPr/>
        </p:nvCxnSpPr>
        <p:spPr>
          <a:xfrm flipV="1">
            <a:off x="2116576" y="5306875"/>
            <a:ext cx="625231" cy="2617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矩形 158"/>
          <p:cNvSpPr/>
          <p:nvPr/>
        </p:nvSpPr>
        <p:spPr>
          <a:xfrm>
            <a:off x="1467622" y="5568655"/>
            <a:ext cx="1297907" cy="7120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 err="1">
                <a:solidFill>
                  <a:schemeClr val="accent2">
                    <a:lumMod val="75000"/>
                  </a:schemeClr>
                </a:solidFill>
              </a:rPr>
              <a:t>Config</a:t>
            </a:r>
            <a:endParaRPr lang="zh-TW" altLang="en-US" sz="18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7" name="直線單箭頭接點 6"/>
          <p:cNvCxnSpPr>
            <a:cxnSpLocks/>
          </p:cNvCxnSpPr>
          <p:nvPr/>
        </p:nvCxnSpPr>
        <p:spPr>
          <a:xfrm flipH="1" flipV="1">
            <a:off x="4317918" y="3629422"/>
            <a:ext cx="1491151" cy="6291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4736151" y="3041197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5</a:t>
            </a:r>
            <a:endParaRPr lang="zh-TW" altLang="en-US" sz="18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5548797" y="5683412"/>
            <a:ext cx="67999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ISS</a:t>
            </a:r>
            <a:endParaRPr lang="zh-TW" altLang="en-US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575223-5983-0F1C-BC49-77AB08F210E6}"/>
              </a:ext>
            </a:extLst>
          </p:cNvPr>
          <p:cNvSpPr/>
          <p:nvPr/>
        </p:nvSpPr>
        <p:spPr>
          <a:xfrm>
            <a:off x="123779" y="2946652"/>
            <a:ext cx="1307990" cy="675854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kern="0" noProof="0" dirty="0">
                <a:solidFill>
                  <a:srgbClr val="151514"/>
                </a:solidFill>
                <a:latin typeface="Arial"/>
                <a:ea typeface="微軟正黑體"/>
              </a:rPr>
              <a:t>Proxy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63E278C-99A8-BB94-8225-7DDD5D80A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198918"/>
              </p:ext>
            </p:extLst>
          </p:nvPr>
        </p:nvGraphicFramePr>
        <p:xfrm>
          <a:off x="6937097" y="1911941"/>
          <a:ext cx="5040560" cy="33223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20280">
                  <a:extLst>
                    <a:ext uri="{9D8B030D-6E8A-4147-A177-3AD203B41FA5}">
                      <a16:colId xmlns:a16="http://schemas.microsoft.com/office/drawing/2014/main" val="2889444921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473498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After Proxy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06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TW" sz="1800" dirty="0"/>
                        <a:t>Execute Program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altLang="zh-TW" sz="1800" dirty="0"/>
                        <a:t>Connect </a:t>
                      </a:r>
                      <a:br>
                        <a:rPr lang="en-US" altLang="zh-TW" sz="1800" dirty="0"/>
                      </a:br>
                      <a:r>
                        <a:rPr lang="en-US" altLang="zh-TW" sz="14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(With socket)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altLang="zh-TW" sz="1800" dirty="0"/>
                        <a:t>Call function </a:t>
                      </a:r>
                      <a:br>
                        <a:rPr lang="en-US" altLang="zh-TW" sz="1800" dirty="0"/>
                      </a:br>
                      <a:r>
                        <a:rPr lang="en-US" altLang="zh-TW" sz="14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(Translate OID to URI)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TW" sz="1800" dirty="0"/>
                        <a:t>Send Data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altLang="zh-TW" sz="1800" dirty="0"/>
                        <a:t>Write File</a:t>
                      </a:r>
                      <a:br>
                        <a:rPr lang="en-US" altLang="zh-TW" sz="1800" dirty="0"/>
                      </a:br>
                      <a:r>
                        <a:rPr lang="en-US" altLang="zh-TW" sz="14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(Remap Port/ Port Channel)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TW" sz="1800" dirty="0"/>
                        <a:t>Read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altLang="zh-TW" dirty="0"/>
                        <a:t>Proxy GET req to port 6161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altLang="zh-TW" dirty="0"/>
                        <a:t>ISS response</a:t>
                      </a:r>
                    </a:p>
                    <a:p>
                      <a:pPr marL="342900" indent="-342900">
                        <a:buAutoNum type="arabicPeriod"/>
                      </a:pPr>
                      <a:endParaRPr lang="en-US" altLang="zh-TW" dirty="0"/>
                    </a:p>
                    <a:p>
                      <a:pPr marL="342900" indent="-342900">
                        <a:buAutoNum type="arabicPeriod"/>
                      </a:pPr>
                      <a:endParaRPr lang="en-US" altLang="zh-TW" dirty="0"/>
                    </a:p>
                    <a:p>
                      <a:pPr marL="342900" indent="-342900">
                        <a:buAutoNum type="arabicPeriod"/>
                      </a:pP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325759"/>
                  </a:ext>
                </a:extLst>
              </a:tr>
            </a:tbl>
          </a:graphicData>
        </a:graphic>
      </p:graphicFrame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3F4E2DC1-2188-336B-D1A3-5CD43839C2E2}"/>
              </a:ext>
            </a:extLst>
          </p:cNvPr>
          <p:cNvCxnSpPr>
            <a:cxnSpLocks/>
            <a:stCxn id="3" idx="2"/>
            <a:endCxn id="29" idx="1"/>
          </p:cNvCxnSpPr>
          <p:nvPr/>
        </p:nvCxnSpPr>
        <p:spPr>
          <a:xfrm>
            <a:off x="777774" y="3622506"/>
            <a:ext cx="898277" cy="112476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55EBAE6D-BF47-6254-B811-5D8F5F8B79BD}"/>
              </a:ext>
            </a:extLst>
          </p:cNvPr>
          <p:cNvCxnSpPr>
            <a:cxnSpLocks/>
            <a:stCxn id="5" idx="1"/>
            <a:endCxn id="3" idx="0"/>
          </p:cNvCxnSpPr>
          <p:nvPr/>
        </p:nvCxnSpPr>
        <p:spPr>
          <a:xfrm flipH="1">
            <a:off x="777774" y="1862195"/>
            <a:ext cx="689849" cy="1084457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34C248C5-3A04-C321-F7B6-F8D5B6911561}"/>
              </a:ext>
            </a:extLst>
          </p:cNvPr>
          <p:cNvSpPr txBox="1"/>
          <p:nvPr/>
        </p:nvSpPr>
        <p:spPr>
          <a:xfrm>
            <a:off x="949231" y="2147106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1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08F367F9-3736-9F70-207F-B564B34482D3}"/>
              </a:ext>
            </a:extLst>
          </p:cNvPr>
          <p:cNvSpPr txBox="1"/>
          <p:nvPr/>
        </p:nvSpPr>
        <p:spPr>
          <a:xfrm>
            <a:off x="963698" y="4184886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2</a:t>
            </a:r>
            <a:endParaRPr lang="zh-TW" altLang="en-US" sz="1800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4641183-3CBC-826B-05C5-759A7AB5E5F8}"/>
              </a:ext>
            </a:extLst>
          </p:cNvPr>
          <p:cNvSpPr/>
          <p:nvPr/>
        </p:nvSpPr>
        <p:spPr>
          <a:xfrm>
            <a:off x="1902294" y="1816809"/>
            <a:ext cx="1747457" cy="4969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 err="1">
                <a:solidFill>
                  <a:schemeClr val="tx1"/>
                </a:solidFill>
              </a:rPr>
              <a:t>ies_auto_mibs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53E0B94-AA9B-24C6-F0FE-91A685FCE6C7}"/>
              </a:ext>
            </a:extLst>
          </p:cNvPr>
          <p:cNvSpPr/>
          <p:nvPr/>
        </p:nvSpPr>
        <p:spPr>
          <a:xfrm>
            <a:off x="4189764" y="1822871"/>
            <a:ext cx="1747457" cy="4969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 err="1">
                <a:solidFill>
                  <a:schemeClr val="tx1"/>
                </a:solidFill>
              </a:rPr>
              <a:t>dlmod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496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0F1281-2E56-056C-528E-99C9DF2E2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Known reasons for long access time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B5B5D90-15A9-7F21-EC0A-1B2AF115741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zh-TW" altLang="en-US"/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2E016555-7DDD-DB4D-492F-90C7266F2DD8}"/>
              </a:ext>
            </a:extLst>
          </p:cNvPr>
          <p:cNvCxnSpPr>
            <a:cxnSpLocks/>
          </p:cNvCxnSpPr>
          <p:nvPr/>
        </p:nvCxnSpPr>
        <p:spPr>
          <a:xfrm>
            <a:off x="4377077" y="2687781"/>
            <a:ext cx="0" cy="3315855"/>
          </a:xfrm>
          <a:prstGeom prst="straightConnector1">
            <a:avLst/>
          </a:prstGeom>
          <a:ln w="28575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D37F2282-6DB7-92BD-7883-D6AB5CAF5E2B}"/>
              </a:ext>
            </a:extLst>
          </p:cNvPr>
          <p:cNvSpPr/>
          <p:nvPr/>
        </p:nvSpPr>
        <p:spPr>
          <a:xfrm>
            <a:off x="3405330" y="2078985"/>
            <a:ext cx="2036331" cy="6087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chemeClr val="tx1"/>
                </a:solidFill>
              </a:rPr>
              <a:t>ISS URI Ctrl Hook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8A742B5B-C210-8565-CC19-CAB3B52859E0}"/>
              </a:ext>
            </a:extLst>
          </p:cNvPr>
          <p:cNvCxnSpPr>
            <a:cxnSpLocks/>
          </p:cNvCxnSpPr>
          <p:nvPr/>
        </p:nvCxnSpPr>
        <p:spPr>
          <a:xfrm>
            <a:off x="7499930" y="2687781"/>
            <a:ext cx="0" cy="3315855"/>
          </a:xfrm>
          <a:prstGeom prst="straightConnector1">
            <a:avLst/>
          </a:prstGeom>
          <a:ln w="28575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D74C7104-8D2D-EEBD-F573-4C9521EADC06}"/>
              </a:ext>
            </a:extLst>
          </p:cNvPr>
          <p:cNvSpPr/>
          <p:nvPr/>
        </p:nvSpPr>
        <p:spPr>
          <a:xfrm>
            <a:off x="6656049" y="2078985"/>
            <a:ext cx="1687761" cy="6087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chemeClr val="tx1"/>
                </a:solidFill>
              </a:rPr>
              <a:t>ISS URI hook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90BB5B0A-A5B1-250D-A12A-691D2E4A6BEC}"/>
              </a:ext>
            </a:extLst>
          </p:cNvPr>
          <p:cNvCxnSpPr>
            <a:cxnSpLocks/>
          </p:cNvCxnSpPr>
          <p:nvPr/>
        </p:nvCxnSpPr>
        <p:spPr>
          <a:xfrm flipH="1">
            <a:off x="3771135" y="3108037"/>
            <a:ext cx="605942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F2F56138-0CC5-7FCA-8CD0-2E9DD49F8162}"/>
              </a:ext>
            </a:extLst>
          </p:cNvPr>
          <p:cNvSpPr/>
          <p:nvPr/>
        </p:nvSpPr>
        <p:spPr>
          <a:xfrm>
            <a:off x="2294716" y="2803639"/>
            <a:ext cx="1882818" cy="6087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chemeClr val="tx1"/>
                </a:solidFill>
              </a:rPr>
              <a:t>SNMP</a:t>
            </a:r>
          </a:p>
          <a:p>
            <a:pPr algn="ctr"/>
            <a:r>
              <a:rPr lang="en-US" altLang="zh-TW" sz="1800" dirty="0">
                <a:solidFill>
                  <a:schemeClr val="tx1"/>
                </a:solidFill>
              </a:rPr>
              <a:t>GET req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9352DBDB-7653-B559-664E-FDF0F1C3C468}"/>
              </a:ext>
            </a:extLst>
          </p:cNvPr>
          <p:cNvCxnSpPr>
            <a:cxnSpLocks/>
          </p:cNvCxnSpPr>
          <p:nvPr/>
        </p:nvCxnSpPr>
        <p:spPr>
          <a:xfrm flipH="1">
            <a:off x="4377076" y="3399783"/>
            <a:ext cx="3122848" cy="12652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54281CA9-3291-D7C6-BD24-B1CCF61F4F96}"/>
              </a:ext>
            </a:extLst>
          </p:cNvPr>
          <p:cNvSpPr/>
          <p:nvPr/>
        </p:nvSpPr>
        <p:spPr>
          <a:xfrm>
            <a:off x="4692765" y="2879838"/>
            <a:ext cx="2648495" cy="6087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 err="1">
                <a:solidFill>
                  <a:schemeClr val="tx1"/>
                </a:solidFill>
              </a:rPr>
              <a:t>ies_uri_handle_connect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1D19156-E9E4-491A-8B76-6478F4D4FBE2}"/>
              </a:ext>
            </a:extLst>
          </p:cNvPr>
          <p:cNvSpPr/>
          <p:nvPr/>
        </p:nvSpPr>
        <p:spPr>
          <a:xfrm>
            <a:off x="7389288" y="3095385"/>
            <a:ext cx="1277795" cy="6087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chemeClr val="tx1"/>
                </a:solidFill>
              </a:rPr>
              <a:t>accept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03D78BE8-55F7-D734-6EA8-7C919B45ACD5}"/>
              </a:ext>
            </a:extLst>
          </p:cNvPr>
          <p:cNvCxnSpPr>
            <a:cxnSpLocks/>
          </p:cNvCxnSpPr>
          <p:nvPr/>
        </p:nvCxnSpPr>
        <p:spPr>
          <a:xfrm flipH="1" flipV="1">
            <a:off x="4377076" y="3947341"/>
            <a:ext cx="3122848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E4A7032A-61A7-1292-7D01-1EA70B7C7B49}"/>
              </a:ext>
            </a:extLst>
          </p:cNvPr>
          <p:cNvSpPr/>
          <p:nvPr/>
        </p:nvSpPr>
        <p:spPr>
          <a:xfrm>
            <a:off x="4692765" y="3414744"/>
            <a:ext cx="2648495" cy="6087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chemeClr val="tx1"/>
                </a:solidFill>
              </a:rPr>
              <a:t>connected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FA2F3D7A-A949-A503-46FC-3F836100A326}"/>
              </a:ext>
            </a:extLst>
          </p:cNvPr>
          <p:cNvCxnSpPr>
            <a:cxnSpLocks/>
          </p:cNvCxnSpPr>
          <p:nvPr/>
        </p:nvCxnSpPr>
        <p:spPr>
          <a:xfrm flipH="1">
            <a:off x="4377074" y="4479939"/>
            <a:ext cx="3122850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28B34345-E4C6-C600-71E3-0408EED8A615}"/>
              </a:ext>
            </a:extLst>
          </p:cNvPr>
          <p:cNvSpPr/>
          <p:nvPr/>
        </p:nvSpPr>
        <p:spPr>
          <a:xfrm>
            <a:off x="4692763" y="3947342"/>
            <a:ext cx="2648495" cy="6087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chemeClr val="tx1"/>
                </a:solidFill>
              </a:rPr>
              <a:t>write(magic, </a:t>
            </a:r>
            <a:r>
              <a:rPr lang="en-US" altLang="zh-TW" sz="1800" dirty="0" err="1">
                <a:solidFill>
                  <a:schemeClr val="tx1"/>
                </a:solidFill>
              </a:rPr>
              <a:t>uri</a:t>
            </a:r>
            <a:r>
              <a:rPr lang="en-US" altLang="zh-TW" sz="1800" dirty="0">
                <a:solidFill>
                  <a:schemeClr val="tx1"/>
                </a:solidFill>
              </a:rPr>
              <a:t>, </a:t>
            </a:r>
            <a:r>
              <a:rPr lang="en-US" altLang="zh-TW" sz="1800" dirty="0" err="1">
                <a:solidFill>
                  <a:schemeClr val="tx1"/>
                </a:solidFill>
              </a:rPr>
              <a:t>fname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34FEC2C-D2C0-CADC-ADDD-96D18059070D}"/>
              </a:ext>
            </a:extLst>
          </p:cNvPr>
          <p:cNvSpPr/>
          <p:nvPr/>
        </p:nvSpPr>
        <p:spPr>
          <a:xfrm>
            <a:off x="7452079" y="4119571"/>
            <a:ext cx="3666637" cy="6087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 err="1">
                <a:solidFill>
                  <a:schemeClr val="tx1"/>
                </a:solidFill>
              </a:rPr>
              <a:t>ies_uri_handle_srv_handle_func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5F7E663E-C435-7A75-14F0-B7D801AC2018}"/>
              </a:ext>
            </a:extLst>
          </p:cNvPr>
          <p:cNvCxnSpPr>
            <a:cxnSpLocks/>
          </p:cNvCxnSpPr>
          <p:nvPr/>
        </p:nvCxnSpPr>
        <p:spPr>
          <a:xfrm flipH="1">
            <a:off x="4377074" y="5471244"/>
            <a:ext cx="3122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26B191FD-5283-64D7-4E8B-34FE59474166}"/>
              </a:ext>
            </a:extLst>
          </p:cNvPr>
          <p:cNvSpPr/>
          <p:nvPr/>
        </p:nvSpPr>
        <p:spPr>
          <a:xfrm>
            <a:off x="4692763" y="4938647"/>
            <a:ext cx="2648495" cy="6087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chemeClr val="tx1"/>
                </a:solidFill>
              </a:rPr>
              <a:t>write(magic, </a:t>
            </a:r>
            <a:r>
              <a:rPr lang="en-US" altLang="zh-TW" sz="1800" dirty="0" err="1">
                <a:solidFill>
                  <a:schemeClr val="tx1"/>
                </a:solidFill>
              </a:rPr>
              <a:t>uri</a:t>
            </a:r>
            <a:r>
              <a:rPr lang="en-US" altLang="zh-TW" sz="1800" dirty="0">
                <a:solidFill>
                  <a:schemeClr val="tx1"/>
                </a:solidFill>
              </a:rPr>
              <a:t>, </a:t>
            </a:r>
            <a:r>
              <a:rPr lang="en-US" altLang="zh-TW" sz="1800" dirty="0" err="1">
                <a:solidFill>
                  <a:schemeClr val="tx1"/>
                </a:solidFill>
              </a:rPr>
              <a:t>fname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898C12C-BC87-5301-4044-FBE7312BD2CD}"/>
              </a:ext>
            </a:extLst>
          </p:cNvPr>
          <p:cNvSpPr/>
          <p:nvPr/>
        </p:nvSpPr>
        <p:spPr>
          <a:xfrm>
            <a:off x="7610573" y="4669936"/>
            <a:ext cx="2805686" cy="6087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chemeClr val="tx1"/>
                </a:solidFill>
              </a:rPr>
              <a:t>For tabular </a:t>
            </a:r>
            <a:r>
              <a:rPr lang="en-US" altLang="zh-TW" sz="1800" dirty="0">
                <a:solidFill>
                  <a:srgbClr val="FF0000"/>
                </a:solidFill>
              </a:rPr>
              <a:t>get all table</a:t>
            </a:r>
            <a:endParaRPr lang="zh-TW" altLang="en-US" sz="1800" dirty="0">
              <a:solidFill>
                <a:srgbClr val="FF0000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44B4245-F1F6-0B8A-9395-9C7D483752E8}"/>
              </a:ext>
            </a:extLst>
          </p:cNvPr>
          <p:cNvSpPr/>
          <p:nvPr/>
        </p:nvSpPr>
        <p:spPr>
          <a:xfrm>
            <a:off x="2078567" y="5638000"/>
            <a:ext cx="2527696" cy="6087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 err="1">
                <a:solidFill>
                  <a:schemeClr val="tx1"/>
                </a:solidFill>
              </a:rPr>
              <a:t>util_read_until_full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C0F9F7D-55EC-FFCE-F093-FBF0C8C4A160}"/>
              </a:ext>
            </a:extLst>
          </p:cNvPr>
          <p:cNvSpPr/>
          <p:nvPr/>
        </p:nvSpPr>
        <p:spPr>
          <a:xfrm>
            <a:off x="461323" y="4608948"/>
            <a:ext cx="3860433" cy="6087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sz="1800" dirty="0">
                <a:solidFill>
                  <a:schemeClr val="tx1"/>
                </a:solidFill>
              </a:rPr>
              <a:t>select(start) </a:t>
            </a:r>
          </a:p>
          <a:p>
            <a:pPr algn="r"/>
            <a:r>
              <a:rPr lang="en-US" altLang="zh-TW" sz="1800" dirty="0">
                <a:solidFill>
                  <a:srgbClr val="FF0000"/>
                </a:solidFill>
              </a:rPr>
              <a:t>with 100ms timeout &amp; 500ms delay</a:t>
            </a:r>
            <a:endParaRPr lang="zh-TW" altLang="en-US" sz="1800" dirty="0">
              <a:solidFill>
                <a:srgbClr val="FF0000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7717079-EB25-DBA5-B0A5-EE243A91A411}"/>
              </a:ext>
            </a:extLst>
          </p:cNvPr>
          <p:cNvSpPr/>
          <p:nvPr/>
        </p:nvSpPr>
        <p:spPr>
          <a:xfrm>
            <a:off x="2379562" y="5107611"/>
            <a:ext cx="2125764" cy="6087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chemeClr val="tx1"/>
                </a:solidFill>
              </a:rPr>
              <a:t>select(</a:t>
            </a:r>
            <a:r>
              <a:rPr lang="en-US" altLang="zh-TW" sz="1800" dirty="0" err="1">
                <a:solidFill>
                  <a:schemeClr val="tx1"/>
                </a:solidFill>
              </a:rPr>
              <a:t>fd</a:t>
            </a:r>
            <a:r>
              <a:rPr lang="en-US" altLang="zh-TW" sz="1800" dirty="0">
                <a:solidFill>
                  <a:schemeClr val="tx1"/>
                </a:solidFill>
              </a:rPr>
              <a:t> ready)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sp>
        <p:nvSpPr>
          <p:cNvPr id="35" name="弧形 34">
            <a:extLst>
              <a:ext uri="{FF2B5EF4-FFF2-40B4-BE49-F238E27FC236}">
                <a16:creationId xmlns:a16="http://schemas.microsoft.com/office/drawing/2014/main" id="{A7B61054-2C39-F748-D904-E8BC20CE1EBA}"/>
              </a:ext>
            </a:extLst>
          </p:cNvPr>
          <p:cNvSpPr/>
          <p:nvPr/>
        </p:nvSpPr>
        <p:spPr>
          <a:xfrm>
            <a:off x="7452079" y="4632992"/>
            <a:ext cx="242232" cy="682684"/>
          </a:xfrm>
          <a:prstGeom prst="arc">
            <a:avLst>
              <a:gd name="adj1" fmla="val 16200000"/>
              <a:gd name="adj2" fmla="val 5445414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5508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9ED9AB-B541-7ED7-0F8D-BBFFFA3FA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Limitation for proxy by </a:t>
            </a:r>
            <a:r>
              <a:rPr lang="en-US" altLang="zh-TW" dirty="0" err="1"/>
              <a:t>snmpd.conf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2C67F3-7073-8C75-7B92-2BAC5781A23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6D26A67-0B11-E23D-DE20-52D298636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snmpd</a:t>
            </a:r>
            <a:r>
              <a:rPr lang="zh-TW" altLang="en-US" dirty="0"/>
              <a:t>需要事先設定特定要進行</a:t>
            </a:r>
            <a:r>
              <a:rPr lang="en-US" altLang="zh-TW" dirty="0"/>
              <a:t>proxy</a:t>
            </a:r>
            <a:r>
              <a:rPr lang="zh-TW" altLang="en-US" dirty="0"/>
              <a:t>的</a:t>
            </a:r>
            <a:r>
              <a:rPr lang="en-US" altLang="zh-TW" dirty="0"/>
              <a:t>OID</a:t>
            </a:r>
            <a:r>
              <a:rPr lang="zh-TW" altLang="en-US" dirty="0"/>
              <a:t>和</a:t>
            </a:r>
            <a:r>
              <a:rPr lang="en-US" altLang="zh-TW" dirty="0"/>
              <a:t>SNMP version</a:t>
            </a:r>
          </a:p>
          <a:p>
            <a:pPr lvl="1"/>
            <a:r>
              <a:rPr lang="zh-TW" altLang="en-US" dirty="0"/>
              <a:t>可以帶入</a:t>
            </a:r>
            <a:r>
              <a:rPr lang="en-US" altLang="zh-TW" dirty="0"/>
              <a:t>framework</a:t>
            </a:r>
            <a:r>
              <a:rPr lang="zh-TW" altLang="en-US" dirty="0"/>
              <a:t>的設定給</a:t>
            </a:r>
            <a:r>
              <a:rPr lang="en-US" altLang="zh-TW" dirty="0" err="1"/>
              <a:t>snmpd</a:t>
            </a:r>
            <a:endParaRPr lang="en-US" altLang="zh-TW" dirty="0"/>
          </a:p>
          <a:p>
            <a:r>
              <a:rPr lang="en-US" altLang="zh-TW" dirty="0"/>
              <a:t>client</a:t>
            </a:r>
            <a:r>
              <a:rPr lang="zh-TW" altLang="en-US" dirty="0"/>
              <a:t>不能直接用</a:t>
            </a:r>
            <a:r>
              <a:rPr lang="en-US" altLang="zh-TW" dirty="0"/>
              <a:t>column OID</a:t>
            </a:r>
            <a:r>
              <a:rPr lang="zh-TW" altLang="en-US" dirty="0"/>
              <a:t>進行</a:t>
            </a:r>
            <a:r>
              <a:rPr lang="en-US" altLang="zh-TW" dirty="0"/>
              <a:t>GET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若修改</a:t>
            </a:r>
            <a:r>
              <a:rPr lang="en-US" altLang="zh-TW" dirty="0"/>
              <a:t>ISS</a:t>
            </a:r>
            <a:r>
              <a:rPr lang="zh-TW" altLang="en-US" dirty="0"/>
              <a:t>可能可達成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Cannot access framework for read/write config</a:t>
            </a:r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37260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6712E4-AC85-EEDD-6172-2901A133E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ISS as SNMP agent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8525CB3-192F-DAC7-3BA3-17C5B6DC4CF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FEB137D-8BC7-4F4D-11BA-8E9D3702B8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339" y="2087563"/>
            <a:ext cx="7330972" cy="4246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0772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2DCDEB-CAD9-2637-CF69-975CEAEC3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Add Proxy OID in </a:t>
            </a:r>
            <a:r>
              <a:rPr lang="en-US" altLang="zh-TW" dirty="0" err="1"/>
              <a:t>SNMPd</a:t>
            </a:r>
            <a:r>
              <a:rPr lang="en-US" altLang="zh-TW" dirty="0"/>
              <a:t> by </a:t>
            </a:r>
            <a:r>
              <a:rPr lang="en-US" altLang="zh-TW" dirty="0" err="1"/>
              <a:t>snmpd.conf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726B6C4-D383-F0C9-D453-F36A1401757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0FD269E-9AE1-D5CB-F53D-8BC76BD16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systemctl</a:t>
            </a:r>
            <a:r>
              <a:rPr lang="en-US" altLang="zh-TW" dirty="0"/>
              <a:t> status </a:t>
            </a:r>
            <a:r>
              <a:rPr lang="en-US" altLang="zh-TW" dirty="0" err="1"/>
              <a:t>config_moxa_snmp</a:t>
            </a:r>
            <a:endParaRPr lang="en-US" altLang="zh-TW" dirty="0"/>
          </a:p>
          <a:p>
            <a:r>
              <a:rPr lang="en-US" altLang="zh-TW" dirty="0" err="1"/>
              <a:t>systemctl</a:t>
            </a:r>
            <a:r>
              <a:rPr lang="en-US" altLang="zh-TW" dirty="0"/>
              <a:t> status </a:t>
            </a:r>
            <a:r>
              <a:rPr lang="en-US" altLang="zh-TW" dirty="0" err="1"/>
              <a:t>app_moxa_snmp_server</a:t>
            </a:r>
            <a:endParaRPr lang="en-US" altLang="zh-TW" dirty="0"/>
          </a:p>
          <a:p>
            <a:r>
              <a:rPr lang="en-US" altLang="zh-TW" dirty="0"/>
              <a:t>vi /moxa/run/</a:t>
            </a:r>
            <a:r>
              <a:rPr lang="en-US" altLang="zh-TW" dirty="0" err="1"/>
              <a:t>snmp</a:t>
            </a:r>
            <a:r>
              <a:rPr lang="en-US" altLang="zh-TW" dirty="0"/>
              <a:t>/</a:t>
            </a:r>
            <a:r>
              <a:rPr lang="en-US" altLang="zh-TW" dirty="0" err="1"/>
              <a:t>snmpd.conf</a:t>
            </a:r>
            <a:endParaRPr lang="en-US" altLang="zh-TW" dirty="0"/>
          </a:p>
          <a:p>
            <a:pPr lvl="1"/>
            <a:r>
              <a:rPr lang="en-US" altLang="zh-TW" dirty="0"/>
              <a:t>proxy -v 1 -c public 127.0.0.1:6161 .1.3.6.1.2.1.2.2</a:t>
            </a:r>
          </a:p>
          <a:p>
            <a:pPr lvl="1"/>
            <a:r>
              <a:rPr lang="en-US" altLang="zh-TW" dirty="0"/>
              <a:t>proxy -v 1 -c public 127.0.0.1:6161 .1.3.6.1.2.1.31.1.1</a:t>
            </a:r>
          </a:p>
          <a:p>
            <a:r>
              <a:rPr lang="en-US" altLang="zh-TW" dirty="0" err="1"/>
              <a:t>systemctl</a:t>
            </a:r>
            <a:r>
              <a:rPr lang="en-US" altLang="zh-TW" dirty="0"/>
              <a:t> restart </a:t>
            </a:r>
            <a:r>
              <a:rPr lang="en-US" altLang="zh-TW" dirty="0" err="1"/>
              <a:t>app_moxa_snmp_server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00123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BFB174-EC4A-89BD-B870-E5B9B6A61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Execution chain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005D462-CC02-BAA4-5ECC-A256554FE24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48F1232-0F2D-2917-A31F-68784D5C5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0" dirty="0" err="1"/>
              <a:t>plugin_moxa_snmp</a:t>
            </a:r>
            <a:r>
              <a:rPr lang="en-US" altLang="zh-TW" b="0" dirty="0"/>
              <a:t>/app/</a:t>
            </a:r>
            <a:r>
              <a:rPr lang="en-US" altLang="zh-TW" b="0" dirty="0" err="1"/>
              <a:t>config_moxa_snmp_control.c</a:t>
            </a:r>
            <a:r>
              <a:rPr lang="en-US" altLang="zh-TW" b="0" dirty="0"/>
              <a:t>/</a:t>
            </a:r>
            <a:r>
              <a:rPr lang="en-US" altLang="zh-TW" b="0" dirty="0" err="1"/>
              <a:t>setup_snmpd_config</a:t>
            </a:r>
            <a:r>
              <a:rPr lang="en-US" altLang="zh-TW" b="0" dirty="0"/>
              <a:t>, </a:t>
            </a:r>
            <a:r>
              <a:rPr lang="en-US" altLang="zh-TW" b="0" dirty="0" err="1"/>
              <a:t>setup_snmpd_plugin_conf</a:t>
            </a:r>
            <a:r>
              <a:rPr lang="zh-TW" altLang="en-US" b="0" dirty="0"/>
              <a:t> </a:t>
            </a:r>
            <a:r>
              <a:rPr lang="en-US" altLang="zh-TW" b="0" dirty="0"/>
              <a:t>-&gt; /moxa/run/</a:t>
            </a:r>
            <a:r>
              <a:rPr lang="en-US" altLang="zh-TW" b="0" dirty="0" err="1"/>
              <a:t>snmp</a:t>
            </a:r>
            <a:r>
              <a:rPr lang="en-US" altLang="zh-TW" b="0" dirty="0"/>
              <a:t>/</a:t>
            </a:r>
            <a:r>
              <a:rPr lang="en-US" altLang="zh-TW" b="0" dirty="0" err="1"/>
              <a:t>snmpd.conf</a:t>
            </a:r>
            <a:endParaRPr lang="en-US" altLang="zh-TW" b="0" dirty="0"/>
          </a:p>
          <a:p>
            <a:r>
              <a:rPr lang="en-US" altLang="zh-TW" b="0" dirty="0" err="1"/>
              <a:t>plugin_moxa_snmp</a:t>
            </a:r>
            <a:r>
              <a:rPr lang="en-US" altLang="zh-TW" b="0" dirty="0"/>
              <a:t>/app/</a:t>
            </a:r>
            <a:r>
              <a:rPr lang="en-US" altLang="zh-TW" b="0" dirty="0" err="1"/>
              <a:t>config_moxa_snmp_control.c</a:t>
            </a:r>
            <a:r>
              <a:rPr lang="en-US" altLang="zh-TW" b="0" dirty="0"/>
              <a:t>/_</a:t>
            </a:r>
            <a:r>
              <a:rPr lang="en-US" altLang="zh-TW" b="0" dirty="0" err="1"/>
              <a:t>ControlIsSnmpd</a:t>
            </a:r>
            <a:r>
              <a:rPr lang="zh-TW" altLang="en-US" b="0" dirty="0"/>
              <a:t> </a:t>
            </a:r>
            <a:r>
              <a:rPr lang="en-US" altLang="zh-TW" b="0" dirty="0"/>
              <a:t>-&gt; /etc/moxa/config-moxa-snmp/init_snmpd.sh </a:t>
            </a:r>
          </a:p>
          <a:p>
            <a:r>
              <a:rPr lang="en-US" altLang="zh-TW" b="0" dirty="0"/>
              <a:t>init_snmpd.sh -&gt; </a:t>
            </a:r>
            <a:r>
              <a:rPr lang="en-US" altLang="zh-TW" b="0" dirty="0" err="1"/>
              <a:t>snmpd</a:t>
            </a:r>
            <a:r>
              <a:rPr lang="en-US" altLang="zh-TW" b="0" dirty="0"/>
              <a:t> -f -C -c  </a:t>
            </a:r>
            <a:r>
              <a:rPr lang="en-US" altLang="zh-TW" b="0" dirty="0" err="1"/>
              <a:t>snmpd.conf</a:t>
            </a:r>
            <a:r>
              <a:rPr lang="en-US" altLang="zh-TW" b="0" dirty="0"/>
              <a:t> … other configs</a:t>
            </a:r>
            <a:endParaRPr lang="zh-TW" altLang="en-US" b="0" dirty="0"/>
          </a:p>
        </p:txBody>
      </p:sp>
    </p:spTree>
    <p:extLst>
      <p:ext uri="{BB962C8B-B14F-4D97-AF65-F5344CB8AC3E}">
        <p14:creationId xmlns:p14="http://schemas.microsoft.com/office/powerpoint/2010/main" val="2930943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2E5A67-126B-1B5D-D2D1-1BDADEB56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Test with </a:t>
            </a:r>
            <a:r>
              <a:rPr lang="en-US" altLang="zh-TW" dirty="0" err="1"/>
              <a:t>pysnmp</a:t>
            </a:r>
            <a:r>
              <a:rPr lang="en-US" altLang="zh-TW" dirty="0"/>
              <a:t> script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836CD6-9E7D-AB5F-1999-80A1BB1D2D6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7751AF21-13D3-F7A8-A72B-579B379E9A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76714" y="1193987"/>
            <a:ext cx="6596699" cy="628126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938BBE2-6BAA-18C7-1B64-948A73BF1E02}"/>
              </a:ext>
            </a:extLst>
          </p:cNvPr>
          <p:cNvSpPr/>
          <p:nvPr/>
        </p:nvSpPr>
        <p:spPr>
          <a:xfrm>
            <a:off x="2565919" y="4536842"/>
            <a:ext cx="3041779" cy="9075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676659-3CA8-C533-34EC-AD373D6B6934}"/>
              </a:ext>
            </a:extLst>
          </p:cNvPr>
          <p:cNvSpPr/>
          <p:nvPr/>
        </p:nvSpPr>
        <p:spPr>
          <a:xfrm>
            <a:off x="251928" y="4450702"/>
            <a:ext cx="1880184" cy="89643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/>
              <a:t>Modify here to change test  parameters</a:t>
            </a:r>
            <a:endParaRPr lang="zh-TW" altLang="en-US" dirty="0"/>
          </a:p>
        </p:txBody>
      </p:sp>
      <p:graphicFrame>
        <p:nvGraphicFramePr>
          <p:cNvPr id="4" name="物件 3">
            <a:extLst>
              <a:ext uri="{FF2B5EF4-FFF2-40B4-BE49-F238E27FC236}">
                <a16:creationId xmlns:a16="http://schemas.microsoft.com/office/drawing/2014/main" id="{032A5D65-B4D1-2E54-882F-1D88AAE40A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7082606"/>
              </p:ext>
            </p:extLst>
          </p:nvPr>
        </p:nvGraphicFramePr>
        <p:xfrm>
          <a:off x="10633486" y="2687094"/>
          <a:ext cx="11620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4" imgW="1162218" imgH="514350" progId="Package">
                  <p:embed/>
                </p:oleObj>
              </mc:Choice>
              <mc:Fallback>
                <p:oleObj name="封裝程式殼層物件" showAsIcon="1" r:id="rId4" imgW="1162218" imgH="514350" progId="Package">
                  <p:embed/>
                  <p:pic>
                    <p:nvPicPr>
                      <p:cNvPr id="4" name="物件 3">
                        <a:extLst>
                          <a:ext uri="{FF2B5EF4-FFF2-40B4-BE49-F238E27FC236}">
                            <a16:creationId xmlns:a16="http://schemas.microsoft.com/office/drawing/2014/main" id="{032A5D65-B4D1-2E54-882F-1D88AAE40A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633486" y="2687094"/>
                        <a:ext cx="11620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1518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6D8480C0-75A7-E773-1222-352B9180935B}"/>
              </a:ext>
            </a:extLst>
          </p:cNvPr>
          <p:cNvSpPr/>
          <p:nvPr/>
        </p:nvSpPr>
        <p:spPr>
          <a:xfrm>
            <a:off x="11013036" y="885552"/>
            <a:ext cx="623986" cy="74835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1/3 F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2/3 F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33596E1-8D3C-E3B8-8AD3-19BFE19D4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711" y="417523"/>
            <a:ext cx="8319380" cy="766426"/>
          </a:xfrm>
        </p:spPr>
        <p:txBody>
          <a:bodyPr/>
          <a:lstStyle/>
          <a:p>
            <a:r>
              <a:rPr lang="en-US" altLang="zh-TW" dirty="0"/>
              <a:t>Target OID combination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8D97155-E5CF-A05C-07AF-89A8CD4DA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OID</a:t>
            </a:r>
            <a:r>
              <a:rPr lang="zh-TW" altLang="en-US" dirty="0"/>
              <a:t>获取逻辑</a:t>
            </a:r>
            <a:endParaRPr lang="en-US" altLang="zh-TW" dirty="0"/>
          </a:p>
          <a:p>
            <a:pPr lvl="1"/>
            <a:r>
              <a:rPr lang="zh-TW" altLang="en-US" dirty="0"/>
              <a:t>一包会获取</a:t>
            </a:r>
            <a:r>
              <a:rPr lang="en-US" altLang="zh-TW" dirty="0"/>
              <a:t>28</a:t>
            </a:r>
            <a:r>
              <a:rPr lang="zh-TW" altLang="en-US" dirty="0"/>
              <a:t>个端口的</a:t>
            </a:r>
            <a:r>
              <a:rPr lang="en-US" altLang="zh-TW" dirty="0"/>
              <a:t>link on/off</a:t>
            </a:r>
            <a:r>
              <a:rPr lang="zh-TW" altLang="en-US" dirty="0"/>
              <a:t>状态</a:t>
            </a:r>
            <a:endParaRPr lang="en-US" altLang="zh-CN" dirty="0"/>
          </a:p>
          <a:p>
            <a:pPr lvl="2"/>
            <a:r>
              <a:rPr lang="en-US" altLang="zh-CN" dirty="0"/>
              <a:t>1.3.6.1.2.1.2.2.1.8	//</a:t>
            </a:r>
            <a:r>
              <a:rPr lang="zh-CN" altLang="en-US" dirty="0"/>
              <a:t>交换机端口</a:t>
            </a:r>
            <a:r>
              <a:rPr lang="en-US" altLang="zh-CN" dirty="0"/>
              <a:t>UP/DOWN</a:t>
            </a:r>
            <a:r>
              <a:rPr lang="zh-CN" altLang="en-US" dirty="0"/>
              <a:t>状态 </a:t>
            </a:r>
            <a:r>
              <a:rPr lang="en-US" altLang="zh-CN" dirty="0"/>
              <a:t>(ifOperStatus)</a:t>
            </a:r>
            <a:endParaRPr lang="zh-CN" altLang="en-US" dirty="0"/>
          </a:p>
          <a:p>
            <a:pPr lvl="1"/>
            <a:r>
              <a:rPr lang="zh-CN" altLang="en-US" dirty="0"/>
              <a:t>一包获取所有“正在使用”的端口的流量、带宽、错误包，也就是在用端口数量*</a:t>
            </a:r>
            <a:r>
              <a:rPr lang="en-US" altLang="zh-CN" dirty="0"/>
              <a:t>3</a:t>
            </a:r>
          </a:p>
          <a:p>
            <a:pPr lvl="2"/>
            <a:r>
              <a:rPr lang="en-US" altLang="zh-CN" dirty="0"/>
              <a:t>1.3.6.1.2.1.2.2.1.10	//</a:t>
            </a:r>
            <a:r>
              <a:rPr lang="zh-CN" altLang="en-US" dirty="0"/>
              <a:t>交换机端口流量统计值 </a:t>
            </a:r>
            <a:r>
              <a:rPr lang="en-US" altLang="zh-CN" dirty="0"/>
              <a:t>(</a:t>
            </a:r>
            <a:r>
              <a:rPr lang="en-US" altLang="zh-CN" dirty="0" err="1"/>
              <a:t>ifInOctets</a:t>
            </a:r>
            <a:r>
              <a:rPr lang="en-US" altLang="zh-CN" dirty="0"/>
              <a:t>)</a:t>
            </a:r>
            <a:endParaRPr lang="zh-CN" altLang="en-US" dirty="0"/>
          </a:p>
          <a:p>
            <a:pPr lvl="2"/>
            <a:r>
              <a:rPr lang="en-US" altLang="zh-CN" dirty="0"/>
              <a:t>1.3.6.1.2.1.2.2.1.14	// </a:t>
            </a:r>
            <a:r>
              <a:rPr lang="zh-CN" altLang="en-US" dirty="0"/>
              <a:t>交换机端口错误包数 </a:t>
            </a:r>
            <a:r>
              <a:rPr lang="en-US" altLang="zh-CN" dirty="0"/>
              <a:t>(</a:t>
            </a:r>
            <a:r>
              <a:rPr lang="en-US" altLang="zh-CN" dirty="0" err="1"/>
              <a:t>ifInErrors</a:t>
            </a:r>
            <a:r>
              <a:rPr lang="en-US" altLang="zh-CN" dirty="0"/>
              <a:t>)</a:t>
            </a:r>
          </a:p>
          <a:p>
            <a:pPr lvl="2"/>
            <a:r>
              <a:rPr lang="en-US" altLang="zh-CN" dirty="0"/>
              <a:t>1.3.6.1.2.1.31.1.1.1.15  // </a:t>
            </a:r>
            <a:r>
              <a:rPr lang="zh-CN" altLang="en-US" dirty="0"/>
              <a:t>交换机端口带宽 </a:t>
            </a:r>
            <a:r>
              <a:rPr lang="en-US" altLang="zh-CN" dirty="0"/>
              <a:t>(</a:t>
            </a:r>
            <a:r>
              <a:rPr lang="en-US" altLang="zh-CN" dirty="0" err="1"/>
              <a:t>ifHighSpeed</a:t>
            </a:r>
            <a:r>
              <a:rPr lang="en-US" altLang="zh-CN" dirty="0"/>
              <a:t>)</a:t>
            </a:r>
          </a:p>
          <a:p>
            <a:pPr lvl="1"/>
            <a:r>
              <a:rPr lang="zh-TW" altLang="en-US" dirty="0"/>
              <a:t>一包</a:t>
            </a:r>
            <a:r>
              <a:rPr lang="zh-CN" altLang="en-US" dirty="0"/>
              <a:t>获取交换机</a:t>
            </a:r>
            <a:r>
              <a:rPr lang="en-US" altLang="zh-CN" dirty="0"/>
              <a:t>CPU</a:t>
            </a:r>
            <a:r>
              <a:rPr lang="zh-CN" altLang="en-US" dirty="0"/>
              <a:t>使用率</a:t>
            </a:r>
            <a:endParaRPr lang="en-US" altLang="zh-CN" dirty="0"/>
          </a:p>
          <a:p>
            <a:pPr lvl="2"/>
            <a:r>
              <a:rPr lang="en-US" altLang="zh-CN" dirty="0"/>
              <a:t>1.3.6.1.4.1.8691.7.999.1.1.2.0	//</a:t>
            </a:r>
            <a:r>
              <a:rPr lang="zh-CN" altLang="en-US" dirty="0"/>
              <a:t>交换机</a:t>
            </a:r>
            <a:r>
              <a:rPr lang="en-US" altLang="zh-CN" dirty="0"/>
              <a:t>CPU</a:t>
            </a:r>
            <a:r>
              <a:rPr lang="zh-CN" altLang="en-US" dirty="0"/>
              <a:t>使用率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FE2A3A-8648-392F-DAD3-20CE43A87308}"/>
              </a:ext>
            </a:extLst>
          </p:cNvPr>
          <p:cNvSpPr/>
          <p:nvPr/>
        </p:nvSpPr>
        <p:spPr>
          <a:xfrm>
            <a:off x="10166864" y="192050"/>
            <a:ext cx="1692344" cy="67585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MDSL3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NOS v5.0</a:t>
            </a:r>
            <a:endParaRPr lang="zh-TW" altLang="en-US" dirty="0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E3141EA9-F832-BA6B-402A-E2788419A2D5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>
            <a:off x="11013036" y="867904"/>
            <a:ext cx="0" cy="74757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F5D8BCE4-797F-F6AB-85EF-5A2076F6E50F}"/>
              </a:ext>
            </a:extLst>
          </p:cNvPr>
          <p:cNvCxnSpPr>
            <a:cxnSpLocks/>
          </p:cNvCxnSpPr>
          <p:nvPr/>
        </p:nvCxnSpPr>
        <p:spPr>
          <a:xfrm>
            <a:off x="11408543" y="4376215"/>
            <a:ext cx="0" cy="74757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1FD7A5CC-393C-C3AB-F435-CF102908AC6D}"/>
              </a:ext>
            </a:extLst>
          </p:cNvPr>
          <p:cNvSpPr/>
          <p:nvPr/>
        </p:nvSpPr>
        <p:spPr>
          <a:xfrm>
            <a:off x="10166864" y="1615476"/>
            <a:ext cx="1692344" cy="67585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dirty="0"/>
              <a:t>MDSXGL3(DUT)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600" dirty="0"/>
              <a:t>NOS v5.0</a:t>
            </a:r>
            <a:endParaRPr lang="zh-TW" altLang="en-US" sz="16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0CD6F6F-5384-C0F1-7824-6B932A01F68B}"/>
              </a:ext>
            </a:extLst>
          </p:cNvPr>
          <p:cNvSpPr/>
          <p:nvPr/>
        </p:nvSpPr>
        <p:spPr>
          <a:xfrm>
            <a:off x="9829220" y="945371"/>
            <a:ext cx="1233394" cy="58450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TR2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  fast VRRP*16</a:t>
            </a:r>
            <a:endParaRPr lang="zh-TW" altLang="en-US" sz="12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3E811C0-16B3-8A35-54BB-FD651D7B90B8}"/>
              </a:ext>
            </a:extLst>
          </p:cNvPr>
          <p:cNvSpPr/>
          <p:nvPr/>
        </p:nvSpPr>
        <p:spPr>
          <a:xfrm>
            <a:off x="7693675" y="96352"/>
            <a:ext cx="1538541" cy="49305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Test topology</a:t>
            </a:r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3613D67-11BB-DC88-5A75-A3BBE9C63F08}"/>
              </a:ext>
            </a:extLst>
          </p:cNvPr>
          <p:cNvSpPr/>
          <p:nvPr/>
        </p:nvSpPr>
        <p:spPr>
          <a:xfrm>
            <a:off x="8247989" y="912800"/>
            <a:ext cx="1692344" cy="67585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MDSL2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NOS v5.0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425CBDC9-DE82-9E9C-0AC5-2817BA150191}"/>
              </a:ext>
            </a:extLst>
          </p:cNvPr>
          <p:cNvCxnSpPr>
            <a:cxnSpLocks/>
            <a:stCxn id="7" idx="1"/>
            <a:endCxn id="16" idx="0"/>
          </p:cNvCxnSpPr>
          <p:nvPr/>
        </p:nvCxnSpPr>
        <p:spPr>
          <a:xfrm flipH="1">
            <a:off x="9094161" y="529977"/>
            <a:ext cx="1072703" cy="38282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D37C6570-C287-EF02-F2AE-05A642F2FF72}"/>
              </a:ext>
            </a:extLst>
          </p:cNvPr>
          <p:cNvCxnSpPr>
            <a:cxnSpLocks/>
            <a:stCxn id="11" idx="1"/>
            <a:endCxn id="16" idx="2"/>
          </p:cNvCxnSpPr>
          <p:nvPr/>
        </p:nvCxnSpPr>
        <p:spPr>
          <a:xfrm flipH="1" flipV="1">
            <a:off x="9094161" y="1588654"/>
            <a:ext cx="1072703" cy="36474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A4B665D1-0A50-236B-2608-62EE1A8662F2}"/>
              </a:ext>
            </a:extLst>
          </p:cNvPr>
          <p:cNvSpPr/>
          <p:nvPr/>
        </p:nvSpPr>
        <p:spPr>
          <a:xfrm>
            <a:off x="9628341" y="264031"/>
            <a:ext cx="623986" cy="197339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1/4 F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2/4 B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385BBF6-5B8C-1E2C-625E-C036DBDA22C6}"/>
              </a:ext>
            </a:extLst>
          </p:cNvPr>
          <p:cNvSpPr/>
          <p:nvPr/>
        </p:nvSpPr>
        <p:spPr>
          <a:xfrm>
            <a:off x="8671054" y="664193"/>
            <a:ext cx="623986" cy="121442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1/4 F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1/3 F</a:t>
            </a:r>
          </a:p>
        </p:txBody>
      </p:sp>
    </p:spTree>
    <p:extLst>
      <p:ext uri="{BB962C8B-B14F-4D97-AF65-F5344CB8AC3E}">
        <p14:creationId xmlns:p14="http://schemas.microsoft.com/office/powerpoint/2010/main" val="3258850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84872-3020-9E76-223B-5AFB56D77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ABF2B7-231B-F239-7219-5AC996278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After proxy performance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BC5D50D-A6DB-3F05-BF42-02B5356B75F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A79591E-B588-A387-A7E9-BAF2EC275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641" y="2087527"/>
            <a:ext cx="11152885" cy="4509216"/>
          </a:xfrm>
        </p:spPr>
        <p:txBody>
          <a:bodyPr>
            <a:normAutofit fontScale="92500" lnSpcReduction="20000"/>
          </a:bodyPr>
          <a:lstStyle/>
          <a:p>
            <a:r>
              <a:rPr lang="zh-TW" altLang="en-US" dirty="0"/>
              <a:t>获取</a:t>
            </a:r>
            <a:r>
              <a:rPr lang="en-US" altLang="zh-TW" dirty="0"/>
              <a:t>28</a:t>
            </a:r>
            <a:r>
              <a:rPr lang="zh-TW" altLang="en-US" dirty="0"/>
              <a:t>个端口的</a:t>
            </a:r>
            <a:r>
              <a:rPr lang="en-US" altLang="zh-TW" dirty="0"/>
              <a:t>link on/off</a:t>
            </a:r>
            <a:r>
              <a:rPr lang="zh-TW" altLang="en-US" dirty="0"/>
              <a:t>状态</a:t>
            </a:r>
            <a:endParaRPr lang="en-US" altLang="zh-CN" dirty="0"/>
          </a:p>
          <a:p>
            <a:pPr lvl="1"/>
            <a:r>
              <a:rPr lang="zh-TW" altLang="en-US" dirty="0"/>
              <a:t>對</a:t>
            </a:r>
            <a:r>
              <a:rPr lang="en-US" altLang="zh-TW" dirty="0"/>
              <a:t>28</a:t>
            </a:r>
            <a:r>
              <a:rPr lang="zh-TW" altLang="en-US" dirty="0"/>
              <a:t>個</a:t>
            </a:r>
            <a:r>
              <a:rPr lang="en-US" altLang="zh-TW" dirty="0"/>
              <a:t>port</a:t>
            </a:r>
            <a:r>
              <a:rPr lang="zh-TW" altLang="en-US" dirty="0"/>
              <a:t>的</a:t>
            </a:r>
            <a:r>
              <a:rPr lang="en-US" altLang="zh-CN" dirty="0"/>
              <a:t>ifOperStatus</a:t>
            </a:r>
            <a:r>
              <a:rPr lang="zh-TW" altLang="en-US" dirty="0"/>
              <a:t>分別做</a:t>
            </a:r>
            <a:r>
              <a:rPr lang="en-US" altLang="zh-TW" dirty="0"/>
              <a:t>100</a:t>
            </a:r>
            <a:r>
              <a:rPr lang="zh-TW" altLang="en-US" dirty="0"/>
              <a:t>次的</a:t>
            </a:r>
            <a:r>
              <a:rPr lang="en-US" altLang="zh-TW" dirty="0"/>
              <a:t>GET</a:t>
            </a:r>
          </a:p>
          <a:p>
            <a:pPr lvl="1"/>
            <a:r>
              <a:rPr lang="zh-TW" altLang="en-US" dirty="0"/>
              <a:t>平均為</a:t>
            </a:r>
            <a:r>
              <a:rPr lang="en-US" altLang="zh-TW" dirty="0"/>
              <a:t>3ms</a:t>
            </a:r>
            <a:r>
              <a:rPr lang="zh-TW" altLang="en-US" dirty="0"/>
              <a:t>，最大為</a:t>
            </a:r>
            <a:r>
              <a:rPr lang="en-US" altLang="zh-TW" dirty="0"/>
              <a:t>59ms</a:t>
            </a:r>
          </a:p>
          <a:p>
            <a:r>
              <a:rPr lang="zh-CN" altLang="en-US" dirty="0"/>
              <a:t>获取所有“正在使用”的端口的流量、带宽、错误包</a:t>
            </a:r>
            <a:endParaRPr lang="en-US" altLang="zh-CN" dirty="0"/>
          </a:p>
          <a:p>
            <a:pPr lvl="1"/>
            <a:r>
              <a:rPr lang="zh-TW" altLang="en-US" dirty="0"/>
              <a:t>對</a:t>
            </a:r>
            <a:r>
              <a:rPr lang="en-US" altLang="zh-TW" dirty="0"/>
              <a:t>28</a:t>
            </a:r>
            <a:r>
              <a:rPr lang="zh-TW" altLang="en-US" dirty="0"/>
              <a:t>個</a:t>
            </a:r>
            <a:r>
              <a:rPr lang="en-US" altLang="zh-TW" dirty="0"/>
              <a:t>port</a:t>
            </a:r>
            <a:r>
              <a:rPr lang="zh-TW" altLang="en-US" dirty="0"/>
              <a:t>的</a:t>
            </a:r>
            <a:r>
              <a:rPr lang="en-US" altLang="zh-CN" dirty="0" err="1"/>
              <a:t>ifInOctets</a:t>
            </a:r>
            <a:r>
              <a:rPr lang="en-US" altLang="zh-TW" dirty="0"/>
              <a:t>, </a:t>
            </a:r>
            <a:r>
              <a:rPr lang="en-US" altLang="zh-CN" dirty="0" err="1"/>
              <a:t>ifInErrors</a:t>
            </a:r>
            <a:r>
              <a:rPr lang="en-US" altLang="zh-TW" dirty="0"/>
              <a:t>, </a:t>
            </a:r>
            <a:r>
              <a:rPr lang="en-US" altLang="zh-CN" dirty="0" err="1"/>
              <a:t>ifHighSpeed</a:t>
            </a:r>
            <a:r>
              <a:rPr lang="zh-TW" altLang="en-US" dirty="0"/>
              <a:t>分別做</a:t>
            </a:r>
            <a:r>
              <a:rPr lang="en-US" altLang="zh-TW" dirty="0"/>
              <a:t>100</a:t>
            </a:r>
            <a:r>
              <a:rPr lang="zh-TW" altLang="en-US" dirty="0"/>
              <a:t>次的</a:t>
            </a:r>
            <a:r>
              <a:rPr lang="en-US" altLang="zh-TW" dirty="0"/>
              <a:t>GET</a:t>
            </a:r>
          </a:p>
          <a:p>
            <a:pPr lvl="1"/>
            <a:r>
              <a:rPr lang="zh-TW" altLang="en-US" dirty="0"/>
              <a:t>平均為</a:t>
            </a:r>
            <a:r>
              <a:rPr lang="en-US" altLang="zh-TW" dirty="0"/>
              <a:t>4ms</a:t>
            </a:r>
            <a:r>
              <a:rPr lang="zh-TW" altLang="en-US" dirty="0"/>
              <a:t>，最大為</a:t>
            </a:r>
            <a:r>
              <a:rPr lang="en-US" altLang="zh-TW" dirty="0"/>
              <a:t>52ms</a:t>
            </a:r>
          </a:p>
          <a:p>
            <a:r>
              <a:rPr lang="zh-CN" altLang="en-US" dirty="0"/>
              <a:t>获取</a:t>
            </a:r>
            <a:r>
              <a:rPr lang="en-US" altLang="zh-TW" dirty="0" err="1"/>
              <a:t>fiberCheckStat</a:t>
            </a:r>
            <a:endParaRPr lang="zh-TW" altLang="en-US" dirty="0"/>
          </a:p>
          <a:p>
            <a:pPr lvl="1"/>
            <a:r>
              <a:rPr lang="zh-TW" altLang="en-US" dirty="0"/>
              <a:t>對</a:t>
            </a:r>
            <a:r>
              <a:rPr lang="en-US" altLang="zh-TW" dirty="0"/>
              <a:t>28</a:t>
            </a:r>
            <a:r>
              <a:rPr lang="zh-TW" altLang="en-US" dirty="0"/>
              <a:t>個</a:t>
            </a:r>
            <a:r>
              <a:rPr lang="en-US" altLang="zh-TW" dirty="0"/>
              <a:t>port</a:t>
            </a:r>
            <a:r>
              <a:rPr lang="zh-TW" altLang="en-US" dirty="0"/>
              <a:t>的</a:t>
            </a:r>
            <a:r>
              <a:rPr lang="en-US" altLang="zh-CN" dirty="0" err="1"/>
              <a:t>fiberCheckStatTxPower</a:t>
            </a:r>
            <a:r>
              <a:rPr lang="en-US" altLang="zh-TW" dirty="0"/>
              <a:t>, </a:t>
            </a:r>
            <a:r>
              <a:rPr lang="en-US" altLang="zh-CN" dirty="0" err="1"/>
              <a:t>fiberCheckStatRxPower</a:t>
            </a:r>
            <a:r>
              <a:rPr lang="zh-TW" altLang="en-US" dirty="0"/>
              <a:t>分別做</a:t>
            </a:r>
            <a:r>
              <a:rPr lang="en-US" altLang="zh-TW" dirty="0"/>
              <a:t>100</a:t>
            </a:r>
            <a:r>
              <a:rPr lang="zh-TW" altLang="en-US" dirty="0"/>
              <a:t>次的</a:t>
            </a:r>
            <a:r>
              <a:rPr lang="en-US" altLang="zh-TW" dirty="0"/>
              <a:t>GET</a:t>
            </a:r>
          </a:p>
          <a:p>
            <a:pPr lvl="1"/>
            <a:r>
              <a:rPr lang="zh-TW" altLang="en-US" dirty="0"/>
              <a:t>平均為</a:t>
            </a:r>
            <a:r>
              <a:rPr lang="en-US" altLang="zh-TW" dirty="0"/>
              <a:t>15ms</a:t>
            </a:r>
            <a:r>
              <a:rPr lang="zh-TW" altLang="en-US" dirty="0"/>
              <a:t>，最大為</a:t>
            </a:r>
            <a:r>
              <a:rPr lang="en-US" altLang="zh-TW" dirty="0">
                <a:solidFill>
                  <a:srgbClr val="FF0000"/>
                </a:solidFill>
              </a:rPr>
              <a:t>122ms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获取交换机</a:t>
            </a:r>
            <a:r>
              <a:rPr lang="en-US" altLang="zh-CN" dirty="0"/>
              <a:t>CPU</a:t>
            </a:r>
            <a:r>
              <a:rPr lang="zh-CN" altLang="en-US" dirty="0"/>
              <a:t>使用率</a:t>
            </a:r>
            <a:endParaRPr lang="en-US" altLang="zh-CN" dirty="0"/>
          </a:p>
          <a:p>
            <a:pPr lvl="1"/>
            <a:r>
              <a:rPr lang="zh-TW" altLang="en-US" dirty="0"/>
              <a:t>對</a:t>
            </a:r>
            <a:r>
              <a:rPr lang="en-US" altLang="zh-CN" dirty="0" err="1"/>
              <a:t>cCPULoading</a:t>
            </a:r>
            <a:r>
              <a:rPr lang="en-US" altLang="zh-CN" dirty="0"/>
              <a:t>, </a:t>
            </a:r>
            <a:r>
              <a:rPr lang="en-US" altLang="zh-CN" dirty="0" err="1"/>
              <a:t>cSysDateTime</a:t>
            </a:r>
            <a:r>
              <a:rPr lang="zh-TW" altLang="en-US" dirty="0"/>
              <a:t>做</a:t>
            </a:r>
            <a:r>
              <a:rPr lang="en-US" altLang="zh-TW" dirty="0"/>
              <a:t>100</a:t>
            </a:r>
            <a:r>
              <a:rPr lang="zh-TW" altLang="en-US" dirty="0"/>
              <a:t>次的</a:t>
            </a:r>
            <a:r>
              <a:rPr lang="en-US" altLang="zh-TW" dirty="0"/>
              <a:t>GET</a:t>
            </a:r>
          </a:p>
          <a:p>
            <a:pPr lvl="1"/>
            <a:r>
              <a:rPr lang="zh-TW" altLang="en-US" dirty="0"/>
              <a:t>平均為</a:t>
            </a:r>
            <a:r>
              <a:rPr lang="en-US" altLang="zh-TW" dirty="0"/>
              <a:t>17ms</a:t>
            </a:r>
            <a:r>
              <a:rPr lang="zh-TW" altLang="en-US" dirty="0"/>
              <a:t>，最大為</a:t>
            </a:r>
            <a:r>
              <a:rPr lang="en-US" altLang="zh-TW" dirty="0"/>
              <a:t>32ms</a:t>
            </a:r>
          </a:p>
        </p:txBody>
      </p:sp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3DF1156C-D0A4-2A01-A001-CBA0E63A2F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4927310"/>
              </p:ext>
            </p:extLst>
          </p:nvPr>
        </p:nvGraphicFramePr>
        <p:xfrm>
          <a:off x="7640056" y="2773040"/>
          <a:ext cx="46863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3" imgW="4686432" imgH="514350" progId="Package">
                  <p:embed/>
                </p:oleObj>
              </mc:Choice>
              <mc:Fallback>
                <p:oleObj name="封裝程式殼層物件" showAsIcon="1" r:id="rId3" imgW="4686432" imgH="514350" progId="Package">
                  <p:embed/>
                  <p:pic>
                    <p:nvPicPr>
                      <p:cNvPr id="10" name="物件 9">
                        <a:extLst>
                          <a:ext uri="{FF2B5EF4-FFF2-40B4-BE49-F238E27FC236}">
                            <a16:creationId xmlns:a16="http://schemas.microsoft.com/office/drawing/2014/main" id="{3DF1156C-D0A4-2A01-A001-CBA0E63A2F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40056" y="2773040"/>
                        <a:ext cx="46863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080C5221-636F-5CC0-AC59-A5CE8F34D4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3987522"/>
              </p:ext>
            </p:extLst>
          </p:nvPr>
        </p:nvGraphicFramePr>
        <p:xfrm>
          <a:off x="6968544" y="3972903"/>
          <a:ext cx="60293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5" imgW="6029424" imgH="514350" progId="Package">
                  <p:embed/>
                </p:oleObj>
              </mc:Choice>
              <mc:Fallback>
                <p:oleObj name="封裝程式殼層物件" showAsIcon="1" r:id="rId5" imgW="6029424" imgH="514350" progId="Package">
                  <p:embed/>
                  <p:pic>
                    <p:nvPicPr>
                      <p:cNvPr id="8" name="物件 7">
                        <a:extLst>
                          <a:ext uri="{FF2B5EF4-FFF2-40B4-BE49-F238E27FC236}">
                            <a16:creationId xmlns:a16="http://schemas.microsoft.com/office/drawing/2014/main" id="{080C5221-636F-5CC0-AC59-A5CE8F34D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68544" y="3972903"/>
                        <a:ext cx="60293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DF6B6FB1-B71B-E365-55A9-EEEF376193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7353"/>
              </p:ext>
            </p:extLst>
          </p:nvPr>
        </p:nvGraphicFramePr>
        <p:xfrm>
          <a:off x="7054270" y="5926127"/>
          <a:ext cx="58578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7" imgW="5857776" imgH="514350" progId="Package">
                  <p:embed/>
                </p:oleObj>
              </mc:Choice>
              <mc:Fallback>
                <p:oleObj name="封裝程式殼層物件" showAsIcon="1" r:id="rId7" imgW="5857776" imgH="514350" progId="Package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DF6B6FB1-B71B-E365-55A9-EEEF376193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54270" y="5926127"/>
                        <a:ext cx="58578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CC5A9580-666B-6FE5-529B-D495DE377F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466155"/>
              </p:ext>
            </p:extLst>
          </p:nvPr>
        </p:nvGraphicFramePr>
        <p:xfrm>
          <a:off x="6144632" y="5027648"/>
          <a:ext cx="76771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9" imgW="7677099" imgH="514350" progId="Package">
                  <p:embed/>
                </p:oleObj>
              </mc:Choice>
              <mc:Fallback>
                <p:oleObj name="封裝程式殼層物件" showAsIcon="1" r:id="rId9" imgW="7677099" imgH="514350" progId="Package">
                  <p:embed/>
                  <p:pic>
                    <p:nvPicPr>
                      <p:cNvPr id="6" name="物件 5">
                        <a:extLst>
                          <a:ext uri="{FF2B5EF4-FFF2-40B4-BE49-F238E27FC236}">
                            <a16:creationId xmlns:a16="http://schemas.microsoft.com/office/drawing/2014/main" id="{CC5A9580-666B-6FE5-529B-D495DE377F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44632" y="5027648"/>
                        <a:ext cx="76771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18839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853B4-8DF2-619F-A8EB-1FB65DF02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FCE0FA-E989-7DE0-88DA-610DCC9A8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After proxy performance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88909D-A9D9-98FC-8FAF-36D522315F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/>
              <a:t>获取</a:t>
            </a:r>
            <a:r>
              <a:rPr lang="en-US" altLang="zh-TW" dirty="0" err="1"/>
              <a:t>fiberCheckStat</a:t>
            </a:r>
            <a:r>
              <a:rPr lang="en-US" altLang="zh-TW" dirty="0"/>
              <a:t> (</a:t>
            </a:r>
            <a:r>
              <a:rPr lang="zh-TW" altLang="en-US" dirty="0"/>
              <a:t>此</a:t>
            </a:r>
            <a:r>
              <a:rPr lang="en-US" altLang="zh-TW" dirty="0"/>
              <a:t>OID</a:t>
            </a:r>
            <a:r>
              <a:rPr lang="zh-TW" altLang="en-US" dirty="0"/>
              <a:t>與</a:t>
            </a:r>
            <a:r>
              <a:rPr lang="en-US" altLang="zh-TW" dirty="0"/>
              <a:t>proxy</a:t>
            </a:r>
            <a:r>
              <a:rPr lang="zh-TW" altLang="en-US" dirty="0"/>
              <a:t>無關</a:t>
            </a:r>
            <a:r>
              <a:rPr lang="en-US" altLang="zh-TW" dirty="0"/>
              <a:t>, </a:t>
            </a:r>
            <a:r>
              <a:rPr lang="zh-TW" altLang="en-US" dirty="0"/>
              <a:t>為</a:t>
            </a:r>
            <a:r>
              <a:rPr lang="en-US" altLang="zh-TW" dirty="0" err="1"/>
              <a:t>dlmod</a:t>
            </a:r>
            <a:r>
              <a:rPr lang="en-US" altLang="zh-TW" dirty="0"/>
              <a:t>)</a:t>
            </a:r>
            <a:endParaRPr lang="en-US" altLang="zh-CN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02EAD25-C7A9-B9ED-27A1-652667EFD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同一</a:t>
            </a:r>
            <a:r>
              <a:rPr lang="en-US" altLang="zh-TW" dirty="0"/>
              <a:t>port</a:t>
            </a:r>
            <a:r>
              <a:rPr lang="zh-TW" altLang="en-US" dirty="0"/>
              <a:t> </a:t>
            </a:r>
            <a:r>
              <a:rPr lang="en-US" altLang="zh-TW" dirty="0"/>
              <a:t>GET 100</a:t>
            </a:r>
            <a:r>
              <a:rPr lang="zh-TW" altLang="en-US" dirty="0"/>
              <a:t>次，只有第一次較慢</a:t>
            </a:r>
            <a:endParaRPr lang="en-US" altLang="zh-TW" dirty="0"/>
          </a:p>
          <a:p>
            <a:r>
              <a:rPr lang="zh-TW" altLang="en-US" dirty="0"/>
              <a:t>不同</a:t>
            </a:r>
            <a:r>
              <a:rPr lang="en-US" altLang="zh-TW" dirty="0"/>
              <a:t>port</a:t>
            </a:r>
            <a:r>
              <a:rPr lang="zh-TW" altLang="en-US" dirty="0"/>
              <a:t>各</a:t>
            </a:r>
            <a:r>
              <a:rPr lang="en-US" altLang="zh-TW" dirty="0"/>
              <a:t>GET</a:t>
            </a:r>
            <a:r>
              <a:rPr lang="zh-TW" altLang="en-US" dirty="0"/>
              <a:t>一次，一樣只有第一個</a:t>
            </a:r>
            <a:r>
              <a:rPr lang="en-US" altLang="zh-TW" dirty="0"/>
              <a:t>port</a:t>
            </a:r>
            <a:r>
              <a:rPr lang="zh-TW" altLang="en-US" dirty="0"/>
              <a:t>較慢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8D50271-2AF4-4723-9B06-82B033B77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223" y="94135"/>
            <a:ext cx="4559245" cy="442207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3E2A74F-97A9-F698-31B0-503B51C6A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53" y="3247718"/>
            <a:ext cx="7878963" cy="423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843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5085DC-75D5-5DBA-0575-8629C2C22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0888DA0-26AD-2DFA-AAD2-0F04663CA19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C144AAC-EAD9-02F9-CF70-E289C5DF149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431" y="501495"/>
            <a:ext cx="6636982" cy="5938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A7076FC-4294-2CDE-C65A-33AB19699DA3}"/>
              </a:ext>
            </a:extLst>
          </p:cNvPr>
          <p:cNvSpPr/>
          <p:nvPr/>
        </p:nvSpPr>
        <p:spPr>
          <a:xfrm>
            <a:off x="5747657" y="3685593"/>
            <a:ext cx="2351313" cy="50400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200" dirty="0" err="1"/>
              <a:t>get_snmp_data_by_cli</a:t>
            </a:r>
            <a:r>
              <a:rPr lang="en-US" altLang="zh-TW" sz="1200" dirty="0"/>
              <a:t> </a:t>
            </a:r>
            <a:r>
              <a:rPr lang="en-US" altLang="zh-TW" sz="1200" dirty="0" err="1"/>
              <a:t>ifOperStatus</a:t>
            </a:r>
            <a:endParaRPr lang="en-US" altLang="zh-TW" sz="12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67A3A59-6CF5-FA8E-04DA-B35E9F04FC07}"/>
              </a:ext>
            </a:extLst>
          </p:cNvPr>
          <p:cNvSpPr txBox="1"/>
          <p:nvPr/>
        </p:nvSpPr>
        <p:spPr>
          <a:xfrm>
            <a:off x="7415506" y="4853369"/>
            <a:ext cx="1961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/>
              <a:t>_</a:t>
            </a:r>
            <a:r>
              <a:rPr lang="en-US" altLang="zh-TW" sz="1200" dirty="0" err="1"/>
              <a:t>FiberEventHandler</a:t>
            </a:r>
            <a:endParaRPr lang="en-US" altLang="zh-TW" sz="1200" dirty="0"/>
          </a:p>
          <a:p>
            <a:r>
              <a:rPr lang="en-US" altLang="zh-TW" sz="1200" dirty="0"/>
              <a:t>If == </a:t>
            </a:r>
            <a:r>
              <a:rPr lang="en-US" altLang="zh-TW" sz="1200" dirty="0" err="1"/>
              <a:t>kFiberLinkUp</a:t>
            </a:r>
            <a:endParaRPr lang="zh-TW" altLang="en-US" sz="12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49484B7-46BB-16D3-1488-318DAEE1B97E}"/>
              </a:ext>
            </a:extLst>
          </p:cNvPr>
          <p:cNvSpPr txBox="1"/>
          <p:nvPr/>
        </p:nvSpPr>
        <p:spPr>
          <a:xfrm>
            <a:off x="6923313" y="800736"/>
            <a:ext cx="39561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/>
              <a:t>Get URI</a:t>
            </a:r>
          </a:p>
          <a:p>
            <a:r>
              <a:rPr lang="en-US" altLang="zh-TW" sz="1200" dirty="0"/>
              <a:t>/</a:t>
            </a:r>
            <a:r>
              <a:rPr lang="en-US" altLang="zh-TW" sz="1200" dirty="0" err="1"/>
              <a:t>api</a:t>
            </a:r>
            <a:r>
              <a:rPr lang="en-US" altLang="zh-TW" sz="1200" dirty="0"/>
              <a:t>/v1/status/</a:t>
            </a:r>
            <a:r>
              <a:rPr lang="en-US" altLang="zh-TW" sz="1200" dirty="0" err="1"/>
              <a:t>portStatus</a:t>
            </a:r>
            <a:r>
              <a:rPr lang="en-US" altLang="zh-TW" sz="1200" dirty="0"/>
              <a:t>/</a:t>
            </a:r>
            <a:r>
              <a:rPr lang="en-US" altLang="zh-TW" sz="1200" dirty="0" err="1"/>
              <a:t>portTable</a:t>
            </a:r>
            <a:r>
              <a:rPr lang="en-US" altLang="zh-TW" sz="1200" dirty="0"/>
              <a:t>/%d/</a:t>
            </a:r>
            <a:r>
              <a:rPr lang="en-US" altLang="zh-TW" sz="1200" dirty="0" err="1"/>
              <a:t>linkStatus</a:t>
            </a:r>
            <a:endParaRPr lang="zh-TW" altLang="en-US" sz="12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EA886A-8A75-FFF0-9E52-B25545E8D5A1}"/>
              </a:ext>
            </a:extLst>
          </p:cNvPr>
          <p:cNvSpPr txBox="1"/>
          <p:nvPr/>
        </p:nvSpPr>
        <p:spPr>
          <a:xfrm>
            <a:off x="4702725" y="3799093"/>
            <a:ext cx="8646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 err="1"/>
              <a:t>linkStatus</a:t>
            </a:r>
            <a:endParaRPr lang="zh-TW" altLang="en-US" sz="12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91C9BD3-7146-6AA9-5B97-76735BF8842F}"/>
              </a:ext>
            </a:extLst>
          </p:cNvPr>
          <p:cNvSpPr txBox="1"/>
          <p:nvPr/>
        </p:nvSpPr>
        <p:spPr>
          <a:xfrm>
            <a:off x="7415506" y="2460957"/>
            <a:ext cx="3587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/>
              <a:t>If == FAKE_RX_POWER_WHEN_LINK_DOWN</a:t>
            </a:r>
          </a:p>
          <a:p>
            <a:r>
              <a:rPr lang="en-US" altLang="zh-TW" sz="1200" dirty="0" err="1"/>
              <a:t>rxPower</a:t>
            </a:r>
            <a:r>
              <a:rPr lang="en-US" altLang="zh-TW" sz="1200" dirty="0"/>
              <a:t> = N/A</a:t>
            </a:r>
            <a:endParaRPr lang="zh-TW" altLang="en-US" sz="12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9DCDC6B-B2A3-3C7A-E6C2-C7C1B0E8B454}"/>
              </a:ext>
            </a:extLst>
          </p:cNvPr>
          <p:cNvSpPr txBox="1"/>
          <p:nvPr/>
        </p:nvSpPr>
        <p:spPr>
          <a:xfrm>
            <a:off x="7840922" y="3324361"/>
            <a:ext cx="864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/>
              <a:t>Data buffer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4669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F5CE3-9815-6E57-6AA7-78B819FB8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ECFA51-0208-6CDB-570E-AA4E2E40D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PreTest</a:t>
            </a:r>
            <a:r>
              <a:rPr lang="en-US" altLang="zh-TW" dirty="0"/>
              <a:t> FWR 5.0.3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9CC5CD6-4757-E127-8CFD-C84961E1CF5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zh-TW"/>
              <a:t>1MDSXGL3, </a:t>
            </a:r>
            <a:r>
              <a:rPr lang="en-US" altLang="zh-TW" dirty="0"/>
              <a:t>default config</a:t>
            </a:r>
            <a:r>
              <a:rPr lang="zh-TW" altLang="en-US" dirty="0"/>
              <a:t> </a:t>
            </a:r>
            <a:r>
              <a:rPr lang="en-US" altLang="zh-TW" dirty="0"/>
              <a:t>with SNMP enabled</a:t>
            </a:r>
            <a:endParaRPr lang="en-US" altLang="zh-CN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47E96D0-52C1-6A78-634D-E77E527FA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641" y="2087527"/>
            <a:ext cx="11152885" cy="4509216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获取交换机</a:t>
            </a:r>
            <a:r>
              <a:rPr lang="en-US" altLang="zh-CN" dirty="0"/>
              <a:t>CPU</a:t>
            </a:r>
            <a:r>
              <a:rPr lang="zh-CN" altLang="en-US" dirty="0"/>
              <a:t>使用率</a:t>
            </a:r>
            <a:endParaRPr lang="en-US" altLang="zh-CN" dirty="0"/>
          </a:p>
          <a:p>
            <a:pPr lvl="1"/>
            <a:r>
              <a:rPr lang="zh-TW" altLang="en-US" dirty="0"/>
              <a:t>對</a:t>
            </a:r>
            <a:r>
              <a:rPr lang="en-US" altLang="zh-CN" dirty="0" err="1"/>
              <a:t>cCPULoading</a:t>
            </a:r>
            <a:r>
              <a:rPr lang="zh-TW" altLang="en-US" dirty="0"/>
              <a:t>做</a:t>
            </a:r>
            <a:r>
              <a:rPr lang="en-US" altLang="zh-TW" dirty="0"/>
              <a:t>10000</a:t>
            </a:r>
            <a:r>
              <a:rPr lang="zh-TW" altLang="en-US" dirty="0"/>
              <a:t>次的</a:t>
            </a:r>
            <a:r>
              <a:rPr lang="en-US" altLang="zh-TW" dirty="0"/>
              <a:t>GET</a:t>
            </a:r>
          </a:p>
          <a:p>
            <a:pPr lvl="1"/>
            <a:r>
              <a:rPr lang="zh-TW" altLang="en-US" dirty="0"/>
              <a:t>平均為 </a:t>
            </a:r>
            <a:r>
              <a:rPr lang="en-US" altLang="zh-TW" dirty="0"/>
              <a:t>8ms</a:t>
            </a:r>
            <a:r>
              <a:rPr lang="zh-TW" altLang="en-US" dirty="0"/>
              <a:t>，最大為 </a:t>
            </a:r>
            <a:r>
              <a:rPr lang="en-US" altLang="zh-TW" dirty="0"/>
              <a:t>81ms</a:t>
            </a:r>
            <a:r>
              <a:rPr lang="zh-TW" altLang="en-US" dirty="0"/>
              <a:t>，最小為 </a:t>
            </a:r>
            <a:r>
              <a:rPr lang="en-US" altLang="zh-TW" dirty="0"/>
              <a:t>7ms</a:t>
            </a:r>
            <a:r>
              <a:rPr lang="zh-TW" altLang="en-US" dirty="0"/>
              <a:t>，超出</a:t>
            </a:r>
            <a:r>
              <a:rPr lang="en-US" altLang="zh-TW" dirty="0"/>
              <a:t>50ms</a:t>
            </a:r>
            <a:r>
              <a:rPr lang="zh-TW" altLang="en-US" dirty="0"/>
              <a:t>的比例為 </a:t>
            </a:r>
            <a:r>
              <a:rPr lang="en-US" altLang="zh-TW" dirty="0"/>
              <a:t>5/10000</a:t>
            </a:r>
          </a:p>
          <a:p>
            <a:r>
              <a:rPr lang="zh-TW" altLang="en-US" dirty="0"/>
              <a:t>获取</a:t>
            </a:r>
            <a:r>
              <a:rPr lang="en-US" altLang="zh-TW" dirty="0"/>
              <a:t>28</a:t>
            </a:r>
            <a:r>
              <a:rPr lang="zh-TW" altLang="en-US" dirty="0"/>
              <a:t>个端口的</a:t>
            </a:r>
            <a:r>
              <a:rPr lang="en-US" altLang="zh-TW" dirty="0"/>
              <a:t>link on/off</a:t>
            </a:r>
            <a:r>
              <a:rPr lang="zh-TW" altLang="en-US" dirty="0"/>
              <a:t>状态</a:t>
            </a:r>
            <a:endParaRPr lang="en-US" altLang="zh-CN" dirty="0"/>
          </a:p>
          <a:p>
            <a:pPr lvl="1"/>
            <a:r>
              <a:rPr lang="zh-TW" altLang="en-US" dirty="0"/>
              <a:t>對</a:t>
            </a:r>
            <a:r>
              <a:rPr lang="en-US" altLang="zh-TW" dirty="0"/>
              <a:t>28</a:t>
            </a:r>
            <a:r>
              <a:rPr lang="zh-TW" altLang="en-US" dirty="0"/>
              <a:t>個</a:t>
            </a:r>
            <a:r>
              <a:rPr lang="en-US" altLang="zh-TW" dirty="0"/>
              <a:t>port</a:t>
            </a:r>
            <a:r>
              <a:rPr lang="zh-TW" altLang="en-US" dirty="0"/>
              <a:t>的</a:t>
            </a:r>
            <a:r>
              <a:rPr lang="en-US" altLang="zh-CN" dirty="0"/>
              <a:t>ifOperStatus</a:t>
            </a:r>
            <a:r>
              <a:rPr lang="zh-TW" altLang="en-US" dirty="0"/>
              <a:t>分別做</a:t>
            </a:r>
            <a:r>
              <a:rPr lang="en-US" altLang="zh-TW" dirty="0"/>
              <a:t>400</a:t>
            </a:r>
            <a:r>
              <a:rPr lang="zh-TW" altLang="en-US" dirty="0"/>
              <a:t>次的</a:t>
            </a:r>
            <a:r>
              <a:rPr lang="en-US" altLang="zh-TW" dirty="0"/>
              <a:t>GET</a:t>
            </a:r>
          </a:p>
          <a:p>
            <a:pPr lvl="1"/>
            <a:r>
              <a:rPr lang="zh-TW" altLang="en-US" dirty="0"/>
              <a:t>平均為 </a:t>
            </a:r>
            <a:r>
              <a:rPr lang="en-US" altLang="zh-TW" dirty="0"/>
              <a:t>2ms</a:t>
            </a:r>
            <a:r>
              <a:rPr lang="zh-TW" altLang="en-US" dirty="0"/>
              <a:t>，最大為 </a:t>
            </a:r>
            <a:r>
              <a:rPr lang="en-US" altLang="zh-TW" dirty="0"/>
              <a:t>19ms</a:t>
            </a:r>
            <a:r>
              <a:rPr lang="zh-TW" altLang="en-US" dirty="0"/>
              <a:t>，最小為 </a:t>
            </a:r>
            <a:r>
              <a:rPr lang="en-US" altLang="zh-TW" dirty="0"/>
              <a:t>2ms</a:t>
            </a:r>
            <a:r>
              <a:rPr lang="zh-TW" altLang="en-US" dirty="0"/>
              <a:t>，超出</a:t>
            </a:r>
            <a:r>
              <a:rPr lang="en-US" altLang="zh-TW" dirty="0"/>
              <a:t>50ms</a:t>
            </a:r>
            <a:r>
              <a:rPr lang="zh-TW" altLang="en-US" dirty="0"/>
              <a:t>的比例為 </a:t>
            </a:r>
            <a:r>
              <a:rPr lang="en-US" altLang="zh-TW" dirty="0"/>
              <a:t>0/11200</a:t>
            </a:r>
          </a:p>
          <a:p>
            <a:r>
              <a:rPr lang="zh-CN" altLang="en-US" dirty="0"/>
              <a:t>获取所有“正在使用”的端口的流量、带宽、错误包</a:t>
            </a:r>
            <a:endParaRPr lang="en-US" altLang="zh-CN" dirty="0"/>
          </a:p>
          <a:p>
            <a:pPr lvl="1"/>
            <a:r>
              <a:rPr lang="zh-TW" altLang="en-US" dirty="0"/>
              <a:t>對</a:t>
            </a:r>
            <a:r>
              <a:rPr lang="en-US" altLang="zh-TW" dirty="0"/>
              <a:t>28</a:t>
            </a:r>
            <a:r>
              <a:rPr lang="zh-TW" altLang="en-US" dirty="0"/>
              <a:t>個</a:t>
            </a:r>
            <a:r>
              <a:rPr lang="en-US" altLang="zh-TW" dirty="0"/>
              <a:t>port</a:t>
            </a:r>
            <a:r>
              <a:rPr lang="zh-TW" altLang="en-US" dirty="0"/>
              <a:t>的</a:t>
            </a:r>
            <a:r>
              <a:rPr lang="en-US" altLang="zh-CN" dirty="0" err="1"/>
              <a:t>ifInOctets</a:t>
            </a:r>
            <a:r>
              <a:rPr lang="en-US" altLang="zh-TW" dirty="0"/>
              <a:t>, </a:t>
            </a:r>
            <a:r>
              <a:rPr lang="en-US" altLang="zh-CN" dirty="0" err="1"/>
              <a:t>ifInErrors</a:t>
            </a:r>
            <a:r>
              <a:rPr lang="en-US" altLang="zh-TW" dirty="0"/>
              <a:t>, </a:t>
            </a:r>
            <a:r>
              <a:rPr lang="en-US" altLang="zh-CN" dirty="0" err="1"/>
              <a:t>ifHighSpeed</a:t>
            </a:r>
            <a:r>
              <a:rPr lang="zh-TW" altLang="en-US" dirty="0"/>
              <a:t>分別做</a:t>
            </a:r>
            <a:r>
              <a:rPr lang="en-US" altLang="zh-TW" dirty="0"/>
              <a:t>400</a:t>
            </a:r>
            <a:r>
              <a:rPr lang="zh-TW" altLang="en-US" dirty="0"/>
              <a:t>次的</a:t>
            </a:r>
            <a:r>
              <a:rPr lang="en-US" altLang="zh-TW" dirty="0"/>
              <a:t>GET</a:t>
            </a:r>
          </a:p>
          <a:p>
            <a:pPr lvl="1"/>
            <a:r>
              <a:rPr lang="zh-TW" altLang="en-US" dirty="0"/>
              <a:t>平均為 </a:t>
            </a:r>
            <a:r>
              <a:rPr lang="en-US" altLang="zh-TW" dirty="0"/>
              <a:t>3ms</a:t>
            </a:r>
            <a:r>
              <a:rPr lang="zh-TW" altLang="en-US" dirty="0"/>
              <a:t>，最大為 </a:t>
            </a:r>
            <a:r>
              <a:rPr lang="en-US" altLang="zh-TW" dirty="0"/>
              <a:t>66ms</a:t>
            </a:r>
            <a:r>
              <a:rPr lang="zh-TW" altLang="en-US" dirty="0"/>
              <a:t>，最小為 </a:t>
            </a:r>
            <a:r>
              <a:rPr lang="en-US" altLang="zh-TW" dirty="0"/>
              <a:t>3ms</a:t>
            </a:r>
            <a:r>
              <a:rPr lang="zh-TW" altLang="en-US" dirty="0"/>
              <a:t>，超出</a:t>
            </a:r>
            <a:r>
              <a:rPr lang="en-US" altLang="zh-TW" dirty="0"/>
              <a:t>50ms</a:t>
            </a:r>
            <a:r>
              <a:rPr lang="zh-TW" altLang="en-US" dirty="0"/>
              <a:t>的比例為 </a:t>
            </a:r>
            <a:r>
              <a:rPr lang="en-US" altLang="zh-TW" dirty="0"/>
              <a:t>2/11200</a:t>
            </a:r>
          </a:p>
          <a:p>
            <a:r>
              <a:rPr lang="zh-CN" altLang="en-US" dirty="0"/>
              <a:t>获取</a:t>
            </a:r>
            <a:r>
              <a:rPr lang="en-US" altLang="zh-TW" dirty="0" err="1"/>
              <a:t>fiberCheckStat</a:t>
            </a:r>
            <a:endParaRPr lang="zh-TW" altLang="en-US" dirty="0"/>
          </a:p>
          <a:p>
            <a:pPr lvl="1"/>
            <a:r>
              <a:rPr lang="zh-TW" altLang="en-US" dirty="0"/>
              <a:t>對</a:t>
            </a:r>
            <a:r>
              <a:rPr lang="en-US" altLang="zh-TW" dirty="0"/>
              <a:t>28</a:t>
            </a:r>
            <a:r>
              <a:rPr lang="zh-TW" altLang="en-US" dirty="0"/>
              <a:t>個</a:t>
            </a:r>
            <a:r>
              <a:rPr lang="en-US" altLang="zh-TW" dirty="0"/>
              <a:t>port</a:t>
            </a:r>
            <a:r>
              <a:rPr lang="zh-TW" altLang="en-US" dirty="0"/>
              <a:t>的</a:t>
            </a:r>
            <a:r>
              <a:rPr lang="en-US" altLang="zh-CN" dirty="0" err="1"/>
              <a:t>fiberCheckStatTxPower</a:t>
            </a:r>
            <a:r>
              <a:rPr lang="en-US" altLang="zh-TW" dirty="0"/>
              <a:t>, </a:t>
            </a:r>
            <a:r>
              <a:rPr lang="en-US" altLang="zh-CN" dirty="0" err="1"/>
              <a:t>fiberCheckStatRxPower</a:t>
            </a:r>
            <a:r>
              <a:rPr lang="zh-TW" altLang="en-US" dirty="0"/>
              <a:t>分別做</a:t>
            </a:r>
            <a:r>
              <a:rPr lang="en-US" altLang="zh-TW" dirty="0"/>
              <a:t>400</a:t>
            </a:r>
            <a:r>
              <a:rPr lang="zh-TW" altLang="en-US" dirty="0"/>
              <a:t>次的</a:t>
            </a:r>
            <a:r>
              <a:rPr lang="en-US" altLang="zh-TW" dirty="0"/>
              <a:t>GET</a:t>
            </a:r>
          </a:p>
          <a:p>
            <a:pPr lvl="1"/>
            <a:r>
              <a:rPr lang="zh-TW" altLang="en-US" dirty="0"/>
              <a:t>平均為 </a:t>
            </a:r>
            <a:r>
              <a:rPr lang="en-US" altLang="zh-TW" dirty="0"/>
              <a:t>12ms</a:t>
            </a:r>
            <a:r>
              <a:rPr lang="zh-TW" altLang="en-US" dirty="0"/>
              <a:t>，最大為 </a:t>
            </a:r>
            <a:r>
              <a:rPr lang="en-US" altLang="zh-TW" dirty="0"/>
              <a:t>81ms</a:t>
            </a:r>
            <a:r>
              <a:rPr lang="zh-TW" altLang="en-US" dirty="0"/>
              <a:t>，最小為 </a:t>
            </a:r>
            <a:r>
              <a:rPr lang="en-US" altLang="zh-TW" dirty="0"/>
              <a:t>10ms</a:t>
            </a:r>
            <a:r>
              <a:rPr lang="zh-TW" altLang="en-US" dirty="0"/>
              <a:t> ，超出</a:t>
            </a:r>
            <a:r>
              <a:rPr lang="en-US" altLang="zh-TW" dirty="0"/>
              <a:t>50ms</a:t>
            </a:r>
            <a:r>
              <a:rPr lang="zh-TW" altLang="en-US" dirty="0"/>
              <a:t>的比例為 </a:t>
            </a:r>
            <a:r>
              <a:rPr lang="en-US" altLang="zh-TW" dirty="0"/>
              <a:t>6/11200</a:t>
            </a:r>
            <a:endParaRPr lang="en-US" altLang="zh-CN" dirty="0">
              <a:solidFill>
                <a:srgbClr val="FF0000"/>
              </a:solidFill>
            </a:endParaRPr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4C94A938-272C-38D5-05A7-0680238E6B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2759505"/>
              </p:ext>
            </p:extLst>
          </p:nvPr>
        </p:nvGraphicFramePr>
        <p:xfrm>
          <a:off x="8452689" y="2204560"/>
          <a:ext cx="33147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3" imgW="3314656" imgH="514350" progId="Package">
                  <p:embed/>
                </p:oleObj>
              </mc:Choice>
              <mc:Fallback>
                <p:oleObj name="封裝程式殼層物件" showAsIcon="1" r:id="rId3" imgW="3314656" imgH="514350" progId="Package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4C94A938-272C-38D5-05A7-0680238E6B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52689" y="2204560"/>
                        <a:ext cx="33147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8B7E8D71-414E-4DD2-FAE4-B51C6E762C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4068547"/>
              </p:ext>
            </p:extLst>
          </p:nvPr>
        </p:nvGraphicFramePr>
        <p:xfrm>
          <a:off x="8290764" y="3170855"/>
          <a:ext cx="36385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5" imgW="3638645" imgH="514350" progId="Package">
                  <p:embed/>
                </p:oleObj>
              </mc:Choice>
              <mc:Fallback>
                <p:oleObj name="封裝程式殼層物件" showAsIcon="1" r:id="rId5" imgW="3638645" imgH="514350" progId="Package">
                  <p:embed/>
                  <p:pic>
                    <p:nvPicPr>
                      <p:cNvPr id="6" name="物件 5">
                        <a:extLst>
                          <a:ext uri="{FF2B5EF4-FFF2-40B4-BE49-F238E27FC236}">
                            <a16:creationId xmlns:a16="http://schemas.microsoft.com/office/drawing/2014/main" id="{8B7E8D71-414E-4DD2-FAE4-B51C6E762C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90764" y="3170855"/>
                        <a:ext cx="36385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FC50695D-62AC-0082-FF5C-6EC8C13DF3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31773"/>
              </p:ext>
            </p:extLst>
          </p:nvPr>
        </p:nvGraphicFramePr>
        <p:xfrm>
          <a:off x="7619252" y="4155240"/>
          <a:ext cx="49815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7" imgW="4981637" imgH="514350" progId="Package">
                  <p:embed/>
                </p:oleObj>
              </mc:Choice>
              <mc:Fallback>
                <p:oleObj name="封裝程式殼層物件" showAsIcon="1" r:id="rId7" imgW="4981637" imgH="514350" progId="Package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FC50695D-62AC-0082-FF5C-6EC8C13DF3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19252" y="4155240"/>
                        <a:ext cx="49815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75A7D7FB-BDE2-AA77-4875-12311FA515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4605098"/>
              </p:ext>
            </p:extLst>
          </p:nvPr>
        </p:nvGraphicFramePr>
        <p:xfrm>
          <a:off x="7123953" y="5149663"/>
          <a:ext cx="59721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9" imgW="5972208" imgH="514350" progId="Package">
                  <p:embed/>
                </p:oleObj>
              </mc:Choice>
              <mc:Fallback>
                <p:oleObj name="封裝程式殼層物件" showAsIcon="1" r:id="rId9" imgW="5972208" imgH="514350" progId="Package">
                  <p:embed/>
                  <p:pic>
                    <p:nvPicPr>
                      <p:cNvPr id="8" name="物件 7">
                        <a:extLst>
                          <a:ext uri="{FF2B5EF4-FFF2-40B4-BE49-F238E27FC236}">
                            <a16:creationId xmlns:a16="http://schemas.microsoft.com/office/drawing/2014/main" id="{75A7D7FB-BDE2-AA77-4875-12311FA51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123953" y="5149663"/>
                        <a:ext cx="59721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6366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50B4F4-7930-1004-970F-F5D775B56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OID types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D649B1F-EB4C-2858-1B8F-B3799CE6FC2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zh-TW" altLang="en-US"/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95293825-4DA5-472D-47DF-DB3EAA0A7B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0247681"/>
              </p:ext>
            </p:extLst>
          </p:nvPr>
        </p:nvGraphicFramePr>
        <p:xfrm>
          <a:off x="515938" y="1853883"/>
          <a:ext cx="11158566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422">
                  <a:extLst>
                    <a:ext uri="{9D8B030D-6E8A-4147-A177-3AD203B41FA5}">
                      <a16:colId xmlns:a16="http://schemas.microsoft.com/office/drawing/2014/main" val="3510478666"/>
                    </a:ext>
                  </a:extLst>
                </a:gridCol>
                <a:gridCol w="2240592">
                  <a:extLst>
                    <a:ext uri="{9D8B030D-6E8A-4147-A177-3AD203B41FA5}">
                      <a16:colId xmlns:a16="http://schemas.microsoft.com/office/drawing/2014/main" val="1689082356"/>
                    </a:ext>
                  </a:extLst>
                </a:gridCol>
                <a:gridCol w="3467276">
                  <a:extLst>
                    <a:ext uri="{9D8B030D-6E8A-4147-A177-3AD203B41FA5}">
                      <a16:colId xmlns:a16="http://schemas.microsoft.com/office/drawing/2014/main" val="4045214797"/>
                    </a:ext>
                  </a:extLst>
                </a:gridCol>
                <a:gridCol w="3467276">
                  <a:extLst>
                    <a:ext uri="{9D8B030D-6E8A-4147-A177-3AD203B41FA5}">
                      <a16:colId xmlns:a16="http://schemas.microsoft.com/office/drawing/2014/main" val="1564732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OID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/>
                        <a:t>cCPULoading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fiberCheckStatTxPower</a:t>
                      </a:r>
                      <a:r>
                        <a:rPr lang="en-US" altLang="zh-TW" dirty="0"/>
                        <a:t>, </a:t>
                      </a:r>
                      <a:r>
                        <a:rPr lang="en-US" altLang="zh-CN" dirty="0" err="1"/>
                        <a:t>fiberCheckStatRxPower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(</a:t>
                      </a:r>
                      <a:r>
                        <a:rPr lang="en-US" altLang="zh-CN" dirty="0" err="1"/>
                        <a:t>ifOperStatus</a:t>
                      </a:r>
                      <a:r>
                        <a:rPr lang="en-US" altLang="zh-CN" dirty="0"/>
                        <a:t>), (</a:t>
                      </a:r>
                      <a:r>
                        <a:rPr lang="en-US" altLang="zh-CN" dirty="0" err="1"/>
                        <a:t>ifInOctets</a:t>
                      </a:r>
                      <a:r>
                        <a:rPr lang="en-US" altLang="zh-TW" dirty="0"/>
                        <a:t>, </a:t>
                      </a:r>
                      <a:r>
                        <a:rPr lang="en-US" altLang="zh-CN" dirty="0" err="1"/>
                        <a:t>ifInErrors</a:t>
                      </a:r>
                      <a:r>
                        <a:rPr lang="en-US" altLang="zh-TW" dirty="0"/>
                        <a:t>, </a:t>
                      </a:r>
                      <a:r>
                        <a:rPr lang="en-US" altLang="zh-CN" dirty="0" err="1"/>
                        <a:t>ifHighSpeed</a:t>
                      </a:r>
                      <a:r>
                        <a:rPr lang="en-US" altLang="zh-CN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635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OID type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Scalar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tabular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tabular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546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SNMP path type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dlmod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dlmod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Proxy SNMP agent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490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Init start</a:t>
                      </a:r>
                      <a:endParaRPr lang="zh-TW" altLang="en-US" sz="18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TW" sz="1800" dirty="0"/>
                        <a:t>Started Moxa SNMP Server Service.</a:t>
                      </a:r>
                      <a:endParaRPr lang="zh-TW" altLang="en-US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308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Init keyword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/>
                        <a:t>dlmod</a:t>
                      </a:r>
                      <a:r>
                        <a:rPr lang="en-US" altLang="zh-TW" sz="1200" dirty="0"/>
                        <a:t>: </a:t>
                      </a:r>
                      <a:r>
                        <a:rPr lang="en-US" altLang="zh-TW" sz="1200" dirty="0" err="1"/>
                        <a:t>dlmod_load_module</a:t>
                      </a:r>
                      <a:r>
                        <a:rPr lang="en-US" altLang="zh-TW" sz="1200" dirty="0"/>
                        <a:t> </a:t>
                      </a:r>
                      <a:r>
                        <a:rPr lang="en-US" altLang="zh-TW" sz="1200" dirty="0" err="1"/>
                        <a:t>systemUtilization</a:t>
                      </a:r>
                      <a:r>
                        <a:rPr lang="en-US" altLang="zh-TW" sz="1200" dirty="0"/>
                        <a:t>: /etc/moxa/netsnmp/plugin/plugin_snmp_system_utilization.so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/>
                        <a:t>dlmod</a:t>
                      </a:r>
                      <a:r>
                        <a:rPr lang="en-US" altLang="zh-TW" sz="1200" dirty="0"/>
                        <a:t>: </a:t>
                      </a:r>
                      <a:r>
                        <a:rPr lang="en-US" altLang="zh-TW" sz="1200" dirty="0" err="1"/>
                        <a:t>dlmod_load_module</a:t>
                      </a:r>
                      <a:r>
                        <a:rPr lang="en-US" altLang="zh-TW" sz="1200" dirty="0"/>
                        <a:t> </a:t>
                      </a:r>
                      <a:r>
                        <a:rPr lang="en-US" altLang="zh-TW" sz="1200" dirty="0" err="1"/>
                        <a:t>fiber_check</a:t>
                      </a:r>
                      <a:r>
                        <a:rPr lang="en-US" altLang="zh-TW" sz="1200" dirty="0"/>
                        <a:t>: /etc/moxa/netsnmp/plugin/plugin_snmp_fiber_check.so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/>
                        <a:t>read_config:opt</a:t>
                      </a:r>
                      <a:r>
                        <a:rPr lang="en-US" altLang="zh-TW" sz="1200" dirty="0"/>
                        <a:t>: Reading optional config file: "/moxa/run/</a:t>
                      </a:r>
                      <a:r>
                        <a:rPr lang="en-US" altLang="zh-TW" sz="1200" dirty="0" err="1"/>
                        <a:t>snmp</a:t>
                      </a:r>
                      <a:r>
                        <a:rPr lang="en-US" altLang="zh-TW" sz="1200" dirty="0"/>
                        <a:t>/</a:t>
                      </a:r>
                      <a:r>
                        <a:rPr lang="en-US" altLang="zh-TW" sz="1200" dirty="0" err="1"/>
                        <a:t>snmpd_proxy.conf</a:t>
                      </a:r>
                      <a:r>
                        <a:rPr lang="en-US" altLang="zh-TW" sz="1200" dirty="0"/>
                        <a:t>"</a:t>
                      </a:r>
                    </a:p>
                    <a:p>
                      <a:r>
                        <a:rPr lang="en-US" altLang="zh-TW" sz="1200" dirty="0" err="1"/>
                        <a:t>read_config:parser</a:t>
                      </a:r>
                      <a:r>
                        <a:rPr lang="en-US" altLang="zh-TW" sz="1200" dirty="0"/>
                        <a:t>: Found a parser.  Calling it: proxy / -v 1 -c public 127.0.0.1:6161 .1.3.6.1.2.1.2.2</a:t>
                      </a:r>
                    </a:p>
                    <a:p>
                      <a:r>
                        <a:rPr lang="en-US" altLang="zh-TW" sz="1200" dirty="0" err="1"/>
                        <a:t>read_config:parser</a:t>
                      </a:r>
                      <a:r>
                        <a:rPr lang="en-US" altLang="zh-TW" sz="1200" dirty="0"/>
                        <a:t>: Found a parser.  Calling it: proxy / -v 1 -c public 127.0.0.1:6161 .1.3.6.1.2.1.31.1.1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278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Init finish</a:t>
                      </a:r>
                      <a:endParaRPr lang="zh-TW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TW" dirty="0"/>
                        <a:t>NET-SNMP version 5.8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329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6795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09D250-7471-806E-FA06-DCB21BEEA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Log info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E4F4F10-95CF-A1A2-B812-6D1FEEEA695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891F28-3774-BA95-F7FD-6F33EE6FA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641" y="2087526"/>
            <a:ext cx="11152885" cy="4607913"/>
          </a:xfrm>
        </p:spPr>
        <p:txBody>
          <a:bodyPr>
            <a:normAutofit/>
          </a:bodyPr>
          <a:lstStyle/>
          <a:p>
            <a:r>
              <a:rPr lang="en-US" altLang="zh-TW" dirty="0"/>
              <a:t>Config step</a:t>
            </a:r>
          </a:p>
          <a:p>
            <a:pPr lvl="1"/>
            <a:r>
              <a:rPr lang="en-US" altLang="zh-TW" dirty="0"/>
              <a:t>vi /etc/moxa/config-moxa-snmp/init_snmpd.sh</a:t>
            </a:r>
          </a:p>
          <a:p>
            <a:pPr lvl="1"/>
            <a:r>
              <a:rPr lang="en-US" altLang="zh-TW" dirty="0"/>
              <a:t>add “-Lo -</a:t>
            </a:r>
            <a:r>
              <a:rPr lang="en-US" altLang="zh-TW" dirty="0" err="1"/>
              <a:t>Dproxy,snmp,transport,transports,snmp_api</a:t>
            </a:r>
            <a:r>
              <a:rPr lang="en-US" altLang="zh-TW" dirty="0"/>
              <a:t>”</a:t>
            </a:r>
          </a:p>
          <a:p>
            <a:pPr lvl="1"/>
            <a:r>
              <a:rPr lang="en-US" altLang="zh-TW" dirty="0" err="1"/>
              <a:t>systemctl</a:t>
            </a:r>
            <a:r>
              <a:rPr lang="en-US" altLang="zh-TW" dirty="0"/>
              <a:t> restart </a:t>
            </a:r>
            <a:r>
              <a:rPr lang="en-US" altLang="zh-TW" dirty="0" err="1"/>
              <a:t>app_moxa_snmp_server</a:t>
            </a:r>
            <a:endParaRPr lang="en-US" altLang="zh-TW" dirty="0"/>
          </a:p>
          <a:p>
            <a:pPr lvl="1"/>
            <a:r>
              <a:rPr lang="en-US" altLang="zh-TW" dirty="0" err="1"/>
              <a:t>journalctl</a:t>
            </a:r>
            <a:r>
              <a:rPr lang="en-US" altLang="zh-TW" dirty="0"/>
              <a:t> -u </a:t>
            </a:r>
            <a:r>
              <a:rPr lang="en-US" altLang="zh-TW" dirty="0" err="1"/>
              <a:t>app_moxa_snmp_server</a:t>
            </a:r>
            <a:r>
              <a:rPr lang="en-US" altLang="zh-TW" dirty="0"/>
              <a:t> -u </a:t>
            </a:r>
            <a:r>
              <a:rPr lang="en-US" altLang="zh-TW" dirty="0" err="1"/>
              <a:t>app_moxa_framework</a:t>
            </a:r>
            <a:r>
              <a:rPr lang="en-US" altLang="zh-TW" dirty="0"/>
              <a:t> -o short-precise -f</a:t>
            </a:r>
          </a:p>
          <a:p>
            <a:r>
              <a:rPr lang="en-US" altLang="zh-TW" dirty="0"/>
              <a:t>Test step</a:t>
            </a:r>
          </a:p>
          <a:p>
            <a:pPr lvl="1"/>
            <a:r>
              <a:rPr lang="en-US" altLang="zh-CN" dirty="0" err="1"/>
              <a:t>cCPULoading</a:t>
            </a:r>
            <a:endParaRPr lang="en-US" altLang="zh-TW" dirty="0"/>
          </a:p>
          <a:p>
            <a:pPr lvl="1"/>
            <a:r>
              <a:rPr lang="en-US" altLang="zh-CN" dirty="0" err="1"/>
              <a:t>fiberCheckStatTxPower</a:t>
            </a:r>
            <a:r>
              <a:rPr lang="en-US" altLang="zh-TW" dirty="0"/>
              <a:t>, </a:t>
            </a:r>
            <a:r>
              <a:rPr lang="en-US" altLang="zh-CN" dirty="0" err="1"/>
              <a:t>fiberCheckStatRxPower</a:t>
            </a:r>
            <a:r>
              <a:rPr lang="en-US" altLang="zh-CN" dirty="0"/>
              <a:t> : port 1, port 1-4, port 1-28</a:t>
            </a:r>
            <a:endParaRPr lang="zh-TW" altLang="en-US" dirty="0"/>
          </a:p>
          <a:p>
            <a:pPr lvl="1"/>
            <a:r>
              <a:rPr lang="en-US" altLang="zh-CN" dirty="0" err="1"/>
              <a:t>ifOperStatus</a:t>
            </a:r>
            <a:r>
              <a:rPr lang="en-US" altLang="zh-CN" dirty="0"/>
              <a:t> : port 1, port 1-4, port 1-28</a:t>
            </a:r>
            <a:endParaRPr lang="en-US" altLang="zh-TW" dirty="0"/>
          </a:p>
          <a:p>
            <a:pPr lvl="1"/>
            <a:r>
              <a:rPr lang="en-US" altLang="zh-CN" dirty="0" err="1"/>
              <a:t>ifInOctets</a:t>
            </a:r>
            <a:r>
              <a:rPr lang="en-US" altLang="zh-TW" dirty="0"/>
              <a:t>, </a:t>
            </a:r>
            <a:r>
              <a:rPr lang="en-US" altLang="zh-CN" dirty="0" err="1"/>
              <a:t>ifInErrors</a:t>
            </a:r>
            <a:r>
              <a:rPr lang="en-US" altLang="zh-TW" dirty="0"/>
              <a:t>, </a:t>
            </a:r>
            <a:r>
              <a:rPr lang="en-US" altLang="zh-CN" dirty="0" err="1"/>
              <a:t>ifHighSpeed</a:t>
            </a:r>
            <a:r>
              <a:rPr lang="en-US" altLang="zh-CN" dirty="0"/>
              <a:t> : port 1, port 1-4, port 1-28</a:t>
            </a:r>
            <a:endParaRPr lang="zh-TW" altLang="en-US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AD015C4D-0BB4-F8F2-A088-BAA0C5C1D0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0654620"/>
              </p:ext>
            </p:extLst>
          </p:nvPr>
        </p:nvGraphicFramePr>
        <p:xfrm>
          <a:off x="9235460" y="2448485"/>
          <a:ext cx="15811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3" imgW="1580982" imgH="514350" progId="Package">
                  <p:embed/>
                </p:oleObj>
              </mc:Choice>
              <mc:Fallback>
                <p:oleObj name="封裝程式殼層物件" showAsIcon="1" r:id="rId3" imgW="1580982" imgH="514350" progId="Package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AD015C4D-0BB4-F8F2-A088-BAA0C5C1D0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235460" y="2448485"/>
                        <a:ext cx="15811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92976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F4B93-B542-5F7D-1420-F9DADA620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3414DF-3755-9BF4-328E-BAEDD1B6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Access time</a:t>
            </a:r>
            <a:r>
              <a:rPr lang="zh-TW" altLang="en-US" dirty="0"/>
              <a:t> </a:t>
            </a:r>
            <a:r>
              <a:rPr lang="en-US" altLang="zh-TW" dirty="0"/>
              <a:t>log analyze</a:t>
            </a:r>
            <a:endParaRPr lang="zh-TW" altLang="en-US" dirty="0"/>
          </a:p>
        </p:txBody>
      </p:sp>
      <p:graphicFrame>
        <p:nvGraphicFramePr>
          <p:cNvPr id="6" name="內容版面配置區 4">
            <a:extLst>
              <a:ext uri="{FF2B5EF4-FFF2-40B4-BE49-F238E27FC236}">
                <a16:creationId xmlns:a16="http://schemas.microsoft.com/office/drawing/2014/main" id="{DF85040F-54F8-EF84-140B-E5D1A95432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8333569"/>
              </p:ext>
            </p:extLst>
          </p:nvPr>
        </p:nvGraphicFramePr>
        <p:xfrm>
          <a:off x="193039" y="1533541"/>
          <a:ext cx="11805921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21">
                  <a:extLst>
                    <a:ext uri="{9D8B030D-6E8A-4147-A177-3AD203B41FA5}">
                      <a16:colId xmlns:a16="http://schemas.microsoft.com/office/drawing/2014/main" val="3510478666"/>
                    </a:ext>
                  </a:extLst>
                </a:gridCol>
                <a:gridCol w="1106245">
                  <a:extLst>
                    <a:ext uri="{9D8B030D-6E8A-4147-A177-3AD203B41FA5}">
                      <a16:colId xmlns:a16="http://schemas.microsoft.com/office/drawing/2014/main" val="1689082356"/>
                    </a:ext>
                  </a:extLst>
                </a:gridCol>
                <a:gridCol w="1106244">
                  <a:extLst>
                    <a:ext uri="{9D8B030D-6E8A-4147-A177-3AD203B41FA5}">
                      <a16:colId xmlns:a16="http://schemas.microsoft.com/office/drawing/2014/main" val="2174809872"/>
                    </a:ext>
                  </a:extLst>
                </a:gridCol>
                <a:gridCol w="1106245">
                  <a:extLst>
                    <a:ext uri="{9D8B030D-6E8A-4147-A177-3AD203B41FA5}">
                      <a16:colId xmlns:a16="http://schemas.microsoft.com/office/drawing/2014/main" val="4232538321"/>
                    </a:ext>
                  </a:extLst>
                </a:gridCol>
                <a:gridCol w="1106245">
                  <a:extLst>
                    <a:ext uri="{9D8B030D-6E8A-4147-A177-3AD203B41FA5}">
                      <a16:colId xmlns:a16="http://schemas.microsoft.com/office/drawing/2014/main" val="1564732152"/>
                    </a:ext>
                  </a:extLst>
                </a:gridCol>
                <a:gridCol w="1106244">
                  <a:extLst>
                    <a:ext uri="{9D8B030D-6E8A-4147-A177-3AD203B41FA5}">
                      <a16:colId xmlns:a16="http://schemas.microsoft.com/office/drawing/2014/main" val="4169171288"/>
                    </a:ext>
                  </a:extLst>
                </a:gridCol>
                <a:gridCol w="1493521">
                  <a:extLst>
                    <a:ext uri="{9D8B030D-6E8A-4147-A177-3AD203B41FA5}">
                      <a16:colId xmlns:a16="http://schemas.microsoft.com/office/drawing/2014/main" val="4241226321"/>
                    </a:ext>
                  </a:extLst>
                </a:gridCol>
                <a:gridCol w="2779656">
                  <a:extLst>
                    <a:ext uri="{9D8B030D-6E8A-4147-A177-3AD203B41FA5}">
                      <a16:colId xmlns:a16="http://schemas.microsoft.com/office/drawing/2014/main" val="13607745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Measurement item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ifOperStatus</a:t>
                      </a:r>
                      <a:endParaRPr lang="en-US" altLang="zh-CN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ifInOctets</a:t>
                      </a:r>
                      <a:r>
                        <a:rPr lang="en-US" altLang="zh-TW" sz="1600" dirty="0"/>
                        <a:t>, </a:t>
                      </a:r>
                      <a:r>
                        <a:rPr lang="en-US" altLang="zh-CN" sz="1600" dirty="0" err="1"/>
                        <a:t>ifInErrors</a:t>
                      </a:r>
                      <a:r>
                        <a:rPr lang="en-US" altLang="zh-TW" sz="1600" dirty="0"/>
                        <a:t>, </a:t>
                      </a:r>
                      <a:r>
                        <a:rPr lang="en-US" altLang="zh-CN" sz="1600" dirty="0" err="1"/>
                        <a:t>ifHighSpeed</a:t>
                      </a:r>
                      <a:endParaRPr lang="en-US" altLang="zh-CN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635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Test port num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28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28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993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1/</a:t>
                      </a:r>
                      <a:r>
                        <a:rPr lang="en-US" altLang="zh-TW" sz="1600" dirty="0" err="1"/>
                        <a:t>Snmp</a:t>
                      </a:r>
                      <a:r>
                        <a:rPr lang="en-US" altLang="zh-TW" sz="1600" dirty="0"/>
                        <a:t> </a:t>
                      </a:r>
                      <a:r>
                        <a:rPr lang="en-US" altLang="zh-TW" sz="1600" dirty="0" err="1"/>
                        <a:t>recv</a:t>
                      </a:r>
                      <a:r>
                        <a:rPr lang="en-US" altLang="zh-TW" sz="1600" dirty="0"/>
                        <a:t> time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12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Per port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90A0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微軟正黑體" panose="020B0604030504040204" pitchFamily="34" charset="-120"/>
                          <a:cs typeface="+mn-cs"/>
                        </a:rPr>
                        <a:t>Per port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90A0F"/>
                        </a:solidFill>
                        <a:effectLst/>
                        <a:uLnTx/>
                        <a:uFillTx/>
                        <a:latin typeface="Arial" panose="020B0604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25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90A0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微軟正黑體" panose="020B0604030504040204" pitchFamily="34" charset="-120"/>
                          <a:cs typeface="+mn-cs"/>
                        </a:rPr>
                        <a:t>Per port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90A0F"/>
                        </a:solidFill>
                        <a:effectLst/>
                        <a:uLnTx/>
                        <a:uFillTx/>
                        <a:latin typeface="Arial" panose="020B0604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90A0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微軟正黑體" panose="020B0604030504040204" pitchFamily="34" charset="-120"/>
                          <a:cs typeface="+mn-cs"/>
                        </a:rPr>
                        <a:t>Per port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90A0F"/>
                        </a:solidFill>
                        <a:effectLst/>
                        <a:uLnTx/>
                        <a:uFillTx/>
                        <a:latin typeface="Arial" panose="020B0604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per port</a:t>
                      </a:r>
                      <a:r>
                        <a:rPr lang="zh-TW" altLang="en-US" sz="1200" dirty="0"/>
                        <a:t> </a:t>
                      </a:r>
                      <a:r>
                        <a:rPr lang="en-US" altLang="zh-TW" sz="1200" dirty="0"/>
                        <a:t>GET</a:t>
                      </a:r>
                      <a:r>
                        <a:rPr lang="zh-TW" altLang="en-US" sz="1200" dirty="0"/>
                        <a:t>，每次時間都不一樣，有可能接近</a:t>
                      </a:r>
                      <a:r>
                        <a:rPr lang="en-US" altLang="zh-TW" sz="1200" dirty="0"/>
                        <a:t>0</a:t>
                      </a:r>
                      <a:r>
                        <a:rPr lang="zh-TW" altLang="en-US" sz="1200" dirty="0"/>
                        <a:t>，原因未知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546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1/</a:t>
                      </a:r>
                      <a:r>
                        <a:rPr lang="en-US" altLang="zh-TW" sz="1600" dirty="0" err="1"/>
                        <a:t>Porxy</a:t>
                      </a:r>
                      <a:r>
                        <a:rPr lang="zh-TW" altLang="en-US" sz="1600" dirty="0"/>
                        <a:t> </a:t>
                      </a:r>
                      <a:r>
                        <a:rPr lang="en-US" altLang="zh-TW" sz="1600" dirty="0"/>
                        <a:t>handle time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Per port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90A0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微軟正黑體" panose="020B0604030504040204" pitchFamily="34" charset="-120"/>
                          <a:cs typeface="+mn-cs"/>
                        </a:rPr>
                        <a:t>Per port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90A0F"/>
                        </a:solidFill>
                        <a:effectLst/>
                        <a:uLnTx/>
                        <a:uFillTx/>
                        <a:latin typeface="Arial" panose="020B0604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8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90A0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微軟正黑體" panose="020B0604030504040204" pitchFamily="34" charset="-120"/>
                          <a:cs typeface="+mn-cs"/>
                        </a:rPr>
                        <a:t>Per port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90A0F"/>
                        </a:solidFill>
                        <a:effectLst/>
                        <a:uLnTx/>
                        <a:uFillTx/>
                        <a:latin typeface="Arial" panose="020B0604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90A0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微軟正黑體" panose="020B0604030504040204" pitchFamily="34" charset="-120"/>
                          <a:cs typeface="+mn-cs"/>
                        </a:rPr>
                        <a:t>Per port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90A0F"/>
                        </a:solidFill>
                        <a:effectLst/>
                        <a:uLnTx/>
                        <a:uFillTx/>
                        <a:latin typeface="Arial" panose="020B0604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每個</a:t>
                      </a:r>
                      <a:r>
                        <a:rPr lang="en-US" altLang="zh-TW" sz="1200" dirty="0"/>
                        <a:t>GET</a:t>
                      </a:r>
                      <a:r>
                        <a:rPr lang="zh-TW" altLang="en-US" sz="1200" dirty="0"/>
                        <a:t>夾帶的</a:t>
                      </a:r>
                      <a:r>
                        <a:rPr lang="en-US" altLang="zh-TW" sz="1200" dirty="0"/>
                        <a:t>OID</a:t>
                      </a:r>
                      <a:r>
                        <a:rPr lang="zh-TW" altLang="en-US" sz="1200" dirty="0"/>
                        <a:t>越多，需時越長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954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1/</a:t>
                      </a:r>
                      <a:r>
                        <a:rPr lang="en-US" altLang="zh-TW" sz="1600" dirty="0" err="1"/>
                        <a:t>Snmp</a:t>
                      </a:r>
                      <a:r>
                        <a:rPr lang="en-US" altLang="zh-TW" sz="1600" dirty="0"/>
                        <a:t> send time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Per port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90A0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微軟正黑體" panose="020B0604030504040204" pitchFamily="34" charset="-120"/>
                          <a:cs typeface="+mn-cs"/>
                        </a:rPr>
                        <a:t>Per port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90A0F"/>
                        </a:solidFill>
                        <a:effectLst/>
                        <a:uLnTx/>
                        <a:uFillTx/>
                        <a:latin typeface="Arial" panose="020B0604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90A0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微軟正黑體" panose="020B0604030504040204" pitchFamily="34" charset="-120"/>
                          <a:cs typeface="+mn-cs"/>
                        </a:rPr>
                        <a:t>Per port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90A0F"/>
                        </a:solidFill>
                        <a:effectLst/>
                        <a:uLnTx/>
                        <a:uFillTx/>
                        <a:latin typeface="Arial" panose="020B0604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90A0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微軟正黑體" panose="020B0604030504040204" pitchFamily="34" charset="-120"/>
                          <a:cs typeface="+mn-cs"/>
                        </a:rPr>
                        <a:t>Per port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90A0F"/>
                        </a:solidFill>
                        <a:effectLst/>
                        <a:uLnTx/>
                        <a:uFillTx/>
                        <a:latin typeface="Arial" panose="020B0604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per port</a:t>
                      </a:r>
                      <a:r>
                        <a:rPr lang="zh-TW" altLang="en-US" sz="1200" dirty="0"/>
                        <a:t> </a:t>
                      </a:r>
                      <a:r>
                        <a:rPr lang="en-US" altLang="zh-TW" sz="1200" dirty="0"/>
                        <a:t>GET</a:t>
                      </a:r>
                      <a:r>
                        <a:rPr lang="zh-TW" altLang="en-US" sz="1200" dirty="0"/>
                        <a:t>，每次時間大致相同，有可能接近</a:t>
                      </a:r>
                      <a:r>
                        <a:rPr lang="en-US" altLang="zh-TW" sz="1200" dirty="0"/>
                        <a:t>0</a:t>
                      </a:r>
                      <a:r>
                        <a:rPr lang="zh-TW" altLang="en-US" sz="1200" dirty="0"/>
                        <a:t>，原因未知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071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0/Total access time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16</a:t>
                      </a:r>
                      <a:endParaRPr lang="en-US" altLang="zh-C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6</a:t>
                      </a:r>
                      <a:endParaRPr lang="en-US" altLang="zh-C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8</a:t>
                      </a:r>
                      <a:endParaRPr lang="en-US" altLang="zh-C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33</a:t>
                      </a:r>
                      <a:endParaRPr lang="en-US" altLang="zh-C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51</a:t>
                      </a:r>
                      <a:endParaRPr lang="en-US" altLang="zh-C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48</a:t>
                      </a:r>
                      <a:endParaRPr lang="en-US" altLang="zh-C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/>
                        <a:t>僅計算第一個</a:t>
                      </a:r>
                      <a:r>
                        <a:rPr lang="en-US" altLang="zh-TW" sz="1200" dirty="0"/>
                        <a:t>port</a:t>
                      </a:r>
                      <a:endParaRPr lang="en-US" altLang="zh-C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658720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FA128CB6-9AAF-0449-F347-9F5AFCD5B283}"/>
              </a:ext>
            </a:extLst>
          </p:cNvPr>
          <p:cNvSpPr txBox="1"/>
          <p:nvPr/>
        </p:nvSpPr>
        <p:spPr>
          <a:xfrm>
            <a:off x="6664959" y="220659"/>
            <a:ext cx="5334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309">
              <a:defRPr/>
            </a:pPr>
            <a:r>
              <a:rPr lang="en-US" altLang="zh-CN" dirty="0"/>
              <a:t>*1: Wireshark</a:t>
            </a:r>
            <a:r>
              <a:rPr lang="zh-TW" altLang="en-US" dirty="0"/>
              <a:t>看到的</a:t>
            </a:r>
            <a:r>
              <a:rPr lang="en-US" altLang="zh-TW" dirty="0"/>
              <a:t>SNMP</a:t>
            </a:r>
            <a:r>
              <a:rPr lang="en-US" altLang="zh-CN" dirty="0"/>
              <a:t> response time</a:t>
            </a:r>
            <a:r>
              <a:rPr lang="zh-TW" altLang="en-US" dirty="0"/>
              <a:t>會比</a:t>
            </a:r>
            <a:r>
              <a:rPr lang="en-US" altLang="zh-TW" dirty="0"/>
              <a:t>total access time</a:t>
            </a:r>
            <a:r>
              <a:rPr lang="zh-TW" altLang="en-US" dirty="0"/>
              <a:t>略大</a:t>
            </a:r>
            <a:r>
              <a:rPr lang="en-US" altLang="zh-TW" dirty="0"/>
              <a:t>1ms</a:t>
            </a:r>
          </a:p>
          <a:p>
            <a:pPr lvl="0" defTabSz="914309">
              <a:defRPr/>
            </a:pPr>
            <a:r>
              <a:rPr lang="en-US" altLang="zh-CN" dirty="0"/>
              <a:t>*2: </a:t>
            </a:r>
            <a:r>
              <a:rPr lang="zh-TW" altLang="en-US" dirty="0"/>
              <a:t>由於開啟許多</a:t>
            </a:r>
            <a:r>
              <a:rPr lang="en-US" altLang="zh-TW" dirty="0"/>
              <a:t>debug print</a:t>
            </a:r>
            <a:r>
              <a:rPr lang="zh-TW" altLang="en-US" dirty="0"/>
              <a:t>，此分析僅作為趨勢參考，實際運行時間參考附檔</a:t>
            </a:r>
            <a:r>
              <a:rPr lang="en-US" altLang="zh-TW" dirty="0" err="1"/>
              <a:t>pcap</a:t>
            </a:r>
            <a:endParaRPr lang="en-US" altLang="zh-CN" dirty="0"/>
          </a:p>
          <a:p>
            <a:pPr algn="l"/>
            <a:endParaRPr lang="zh-TW" altLang="en-US" dirty="0" err="1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F9BB7948-8C5E-72A8-D4F6-921FF6FDAE4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15000" y="845639"/>
            <a:ext cx="11160275" cy="504000"/>
          </a:xfrm>
        </p:spPr>
        <p:txBody>
          <a:bodyPr/>
          <a:lstStyle/>
          <a:p>
            <a:r>
              <a:rPr lang="en-US" altLang="zh-TW" dirty="0"/>
              <a:t>Unit: </a:t>
            </a:r>
            <a:r>
              <a:rPr lang="en-US" altLang="zh-TW" dirty="0" err="1"/>
              <a:t>ms</a:t>
            </a:r>
            <a:r>
              <a:rPr lang="en-US" altLang="zh-TW" dirty="0"/>
              <a:t>, 3DUT topology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808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72E73A-B97C-80A6-BF4A-639B46A71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Access time</a:t>
            </a:r>
            <a:r>
              <a:rPr lang="zh-TW" altLang="en-US" dirty="0"/>
              <a:t> </a:t>
            </a:r>
            <a:r>
              <a:rPr lang="en-US" altLang="zh-TW" dirty="0"/>
              <a:t>log analyze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2F8697A-1F4E-4312-DE22-5979201C809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15000" y="845639"/>
            <a:ext cx="11160275" cy="504000"/>
          </a:xfrm>
        </p:spPr>
        <p:txBody>
          <a:bodyPr/>
          <a:lstStyle/>
          <a:p>
            <a:r>
              <a:rPr lang="en-US" altLang="zh-TW" dirty="0"/>
              <a:t>Unit: </a:t>
            </a:r>
            <a:r>
              <a:rPr lang="en-US" altLang="zh-TW" dirty="0" err="1"/>
              <a:t>ms</a:t>
            </a:r>
            <a:r>
              <a:rPr lang="en-US" altLang="zh-TW" dirty="0"/>
              <a:t>, 3DUT topology</a:t>
            </a:r>
            <a:endParaRPr lang="zh-TW" altLang="en-US" dirty="0"/>
          </a:p>
        </p:txBody>
      </p:sp>
      <p:graphicFrame>
        <p:nvGraphicFramePr>
          <p:cNvPr id="6" name="內容版面配置區 4">
            <a:extLst>
              <a:ext uri="{FF2B5EF4-FFF2-40B4-BE49-F238E27FC236}">
                <a16:creationId xmlns:a16="http://schemas.microsoft.com/office/drawing/2014/main" id="{F22A2CF2-6434-0167-0795-9145AF150E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1893207"/>
              </p:ext>
            </p:extLst>
          </p:nvPr>
        </p:nvGraphicFramePr>
        <p:xfrm>
          <a:off x="193040" y="1202605"/>
          <a:ext cx="11805919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4103">
                  <a:extLst>
                    <a:ext uri="{9D8B030D-6E8A-4147-A177-3AD203B41FA5}">
                      <a16:colId xmlns:a16="http://schemas.microsoft.com/office/drawing/2014/main" val="3510478666"/>
                    </a:ext>
                  </a:extLst>
                </a:gridCol>
                <a:gridCol w="1375954">
                  <a:extLst>
                    <a:ext uri="{9D8B030D-6E8A-4147-A177-3AD203B41FA5}">
                      <a16:colId xmlns:a16="http://schemas.microsoft.com/office/drawing/2014/main" val="1689082356"/>
                    </a:ext>
                  </a:extLst>
                </a:gridCol>
                <a:gridCol w="1540285">
                  <a:extLst>
                    <a:ext uri="{9D8B030D-6E8A-4147-A177-3AD203B41FA5}">
                      <a16:colId xmlns:a16="http://schemas.microsoft.com/office/drawing/2014/main" val="4045214797"/>
                    </a:ext>
                  </a:extLst>
                </a:gridCol>
                <a:gridCol w="2318637">
                  <a:extLst>
                    <a:ext uri="{9D8B030D-6E8A-4147-A177-3AD203B41FA5}">
                      <a16:colId xmlns:a16="http://schemas.microsoft.com/office/drawing/2014/main" val="166344825"/>
                    </a:ext>
                  </a:extLst>
                </a:gridCol>
                <a:gridCol w="1102342">
                  <a:extLst>
                    <a:ext uri="{9D8B030D-6E8A-4147-A177-3AD203B41FA5}">
                      <a16:colId xmlns:a16="http://schemas.microsoft.com/office/drawing/2014/main" val="1499477912"/>
                    </a:ext>
                  </a:extLst>
                </a:gridCol>
                <a:gridCol w="3484598">
                  <a:extLst>
                    <a:ext uri="{9D8B030D-6E8A-4147-A177-3AD203B41FA5}">
                      <a16:colId xmlns:a16="http://schemas.microsoft.com/office/drawing/2014/main" val="13607745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Measurement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/>
                        <a:t>cCPULoading</a:t>
                      </a:r>
                      <a:endParaRPr lang="en-US" altLang="zh-CN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CN" sz="1600" dirty="0" err="1"/>
                        <a:t>fiberCheckStatTxPower</a:t>
                      </a:r>
                      <a:r>
                        <a:rPr lang="en-US" altLang="zh-TW" sz="1600" dirty="0"/>
                        <a:t>, </a:t>
                      </a:r>
                      <a:r>
                        <a:rPr lang="en-US" altLang="zh-CN" sz="1600" dirty="0" err="1"/>
                        <a:t>fiberCheckStatRxPower</a:t>
                      </a:r>
                      <a:endParaRPr lang="zh-TW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635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Test port num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-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28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993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1/</a:t>
                      </a:r>
                      <a:r>
                        <a:rPr lang="en-US" altLang="zh-TW" sz="1600" dirty="0" err="1"/>
                        <a:t>Snmp</a:t>
                      </a:r>
                      <a:r>
                        <a:rPr lang="en-US" altLang="zh-TW" sz="1600" dirty="0"/>
                        <a:t> </a:t>
                      </a:r>
                      <a:r>
                        <a:rPr lang="en-US" altLang="zh-TW" sz="1600" dirty="0" err="1"/>
                        <a:t>recv</a:t>
                      </a:r>
                      <a:r>
                        <a:rPr lang="en-US" altLang="zh-TW" sz="1600" dirty="0"/>
                        <a:t> time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40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53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Per port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Per port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per port</a:t>
                      </a:r>
                      <a:r>
                        <a:rPr lang="zh-TW" altLang="en-US" sz="1200" dirty="0"/>
                        <a:t> </a:t>
                      </a:r>
                      <a:r>
                        <a:rPr lang="en-US" altLang="zh-TW" sz="1200" dirty="0"/>
                        <a:t>GET</a:t>
                      </a:r>
                      <a:r>
                        <a:rPr lang="zh-TW" altLang="en-US" sz="1200" dirty="0"/>
                        <a:t>，每次時間都不一樣，有可能接近</a:t>
                      </a:r>
                      <a:r>
                        <a:rPr lang="en-US" altLang="zh-TW" sz="1200" dirty="0"/>
                        <a:t>0</a:t>
                      </a:r>
                      <a:r>
                        <a:rPr lang="zh-TW" altLang="en-US" sz="1200" dirty="0"/>
                        <a:t>，原因未知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546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1/RUST</a:t>
                      </a:r>
                      <a:r>
                        <a:rPr lang="zh-TW" altLang="en-US" sz="1600" dirty="0"/>
                        <a:t> </a:t>
                      </a:r>
                      <a:r>
                        <a:rPr lang="en-US" altLang="zh-TW" sz="1600" dirty="0"/>
                        <a:t>status/</a:t>
                      </a:r>
                    </a:p>
                    <a:p>
                      <a:r>
                        <a:rPr lang="en-US" altLang="zh-TW" sz="1600" dirty="0"/>
                        <a:t>Data prepare time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13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32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47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24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因為有</a:t>
                      </a:r>
                      <a:r>
                        <a:rPr lang="en-US" altLang="zh-TW" sz="1200" dirty="0"/>
                        <a:t>cache</a:t>
                      </a:r>
                      <a:r>
                        <a:rPr lang="zh-TW" altLang="en-US" sz="1200" dirty="0"/>
                        <a:t>，因此連續多個</a:t>
                      </a:r>
                      <a:r>
                        <a:rPr lang="en-US" altLang="zh-TW" sz="1200" dirty="0"/>
                        <a:t>port GET</a:t>
                      </a:r>
                      <a:r>
                        <a:rPr lang="zh-TW" altLang="en-US" sz="1200" dirty="0"/>
                        <a:t>只會執行一次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604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2/RUST</a:t>
                      </a:r>
                      <a:r>
                        <a:rPr lang="zh-TW" altLang="en-US" sz="1200" dirty="0"/>
                        <a:t> </a:t>
                      </a:r>
                      <a:r>
                        <a:rPr lang="en-US" altLang="zh-TW" sz="1200" dirty="0"/>
                        <a:t>plugin/</a:t>
                      </a:r>
                    </a:p>
                    <a:p>
                      <a:r>
                        <a:rPr lang="en-US" altLang="zh-TW" sz="1200" dirty="0"/>
                        <a:t>Calculate </a:t>
                      </a:r>
                      <a:r>
                        <a:rPr lang="en-US" altLang="zh-TW" sz="1200" dirty="0" err="1"/>
                        <a:t>cpu</a:t>
                      </a:r>
                      <a:r>
                        <a:rPr lang="en-US" altLang="zh-TW" sz="1200" dirty="0"/>
                        <a:t> time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0.9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999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2/RUST</a:t>
                      </a:r>
                      <a:r>
                        <a:rPr lang="zh-TW" altLang="en-US" sz="1200" dirty="0"/>
                        <a:t> </a:t>
                      </a:r>
                      <a:r>
                        <a:rPr lang="en-US" altLang="zh-TW" sz="1200" dirty="0"/>
                        <a:t>plugin/</a:t>
                      </a:r>
                    </a:p>
                    <a:p>
                      <a:r>
                        <a:rPr lang="en-US" altLang="zh-TW" sz="1200" dirty="0"/>
                        <a:t>Output </a:t>
                      </a:r>
                      <a:r>
                        <a:rPr lang="en-US" altLang="zh-TW" sz="1200" dirty="0" err="1"/>
                        <a:t>shm</a:t>
                      </a:r>
                      <a:r>
                        <a:rPr lang="en-US" altLang="zh-TW" sz="1200" dirty="0"/>
                        <a:t> time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32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2/RUST</a:t>
                      </a:r>
                      <a:r>
                        <a:rPr lang="zh-TW" altLang="en-US" sz="1200" dirty="0"/>
                        <a:t> </a:t>
                      </a:r>
                      <a:r>
                        <a:rPr lang="en-US" altLang="zh-TW" sz="1200" dirty="0"/>
                        <a:t>plugin/</a:t>
                      </a:r>
                    </a:p>
                    <a:p>
                      <a:r>
                        <a:rPr lang="en-US" altLang="zh-TW" sz="1200" dirty="0"/>
                        <a:t>Construct port table time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21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38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18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2/RUST</a:t>
                      </a:r>
                      <a:r>
                        <a:rPr lang="zh-TW" altLang="en-US" sz="1200" dirty="0"/>
                        <a:t> </a:t>
                      </a:r>
                      <a:r>
                        <a:rPr lang="en-US" altLang="zh-TW" sz="1200" dirty="0"/>
                        <a:t>plugin/</a:t>
                      </a:r>
                    </a:p>
                    <a:p>
                      <a:r>
                        <a:rPr lang="en-US" altLang="zh-TW" sz="1200" dirty="0"/>
                        <a:t>Construct port table time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330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3/RUST</a:t>
                      </a:r>
                      <a:r>
                        <a:rPr lang="zh-TW" altLang="en-US" sz="1200" dirty="0"/>
                        <a:t> </a:t>
                      </a:r>
                      <a:r>
                        <a:rPr lang="en-US" altLang="zh-TW" sz="1200" dirty="0"/>
                        <a:t>plugin/</a:t>
                      </a:r>
                    </a:p>
                    <a:p>
                      <a:r>
                        <a:rPr lang="en-US" altLang="zh-TW" sz="1200" dirty="0"/>
                        <a:t>Load config time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10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0358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3/RUST</a:t>
                      </a:r>
                      <a:r>
                        <a:rPr lang="zh-TW" altLang="en-US" sz="1200" dirty="0"/>
                        <a:t> </a:t>
                      </a:r>
                      <a:r>
                        <a:rPr lang="en-US" altLang="zh-TW" sz="1200" dirty="0"/>
                        <a:t>plugin/</a:t>
                      </a:r>
                    </a:p>
                    <a:p>
                      <a:r>
                        <a:rPr lang="en-US" altLang="zh-TW" sz="1200" dirty="0"/>
                        <a:t>Check is </a:t>
                      </a:r>
                      <a:r>
                        <a:rPr lang="en-US" altLang="zh-TW" sz="1200" dirty="0" err="1"/>
                        <a:t>phr</a:t>
                      </a:r>
                      <a:r>
                        <a:rPr lang="en-US" altLang="zh-TW" sz="1200" dirty="0"/>
                        <a:t> time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-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4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MDSXG</a:t>
                      </a:r>
                      <a:r>
                        <a:rPr lang="zh-TW" altLang="en-US" sz="1200" dirty="0"/>
                        <a:t> </a:t>
                      </a:r>
                      <a:r>
                        <a:rPr lang="en-US" altLang="zh-TW" sz="1200" dirty="0"/>
                        <a:t>v5.0</a:t>
                      </a:r>
                      <a:r>
                        <a:rPr lang="zh-TW" altLang="en-US" sz="1200" dirty="0"/>
                        <a:t> 不支援</a:t>
                      </a:r>
                      <a:r>
                        <a:rPr lang="en-US" altLang="zh-TW" sz="1200" dirty="0"/>
                        <a:t>PHR</a:t>
                      </a:r>
                      <a:r>
                        <a:rPr lang="zh-TW" altLang="en-US" sz="1200" dirty="0"/>
                        <a:t>，可直接移除</a:t>
                      </a:r>
                      <a:endParaRPr lang="en-US" altLang="zh-TW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4708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1/RUST</a:t>
                      </a:r>
                      <a:r>
                        <a:rPr lang="zh-TW" altLang="en-US" sz="1600" dirty="0"/>
                        <a:t> </a:t>
                      </a:r>
                      <a:r>
                        <a:rPr lang="en-US" altLang="zh-TW" sz="1600" dirty="0"/>
                        <a:t>status/</a:t>
                      </a:r>
                    </a:p>
                    <a:p>
                      <a:r>
                        <a:rPr lang="en-US" altLang="zh-TW" sz="1600" dirty="0"/>
                        <a:t>Response time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26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second</a:t>
                      </a:r>
                      <a:r>
                        <a:rPr lang="zh-TW" altLang="en-US" sz="1600" dirty="0"/>
                        <a:t> </a:t>
                      </a:r>
                      <a:r>
                        <a:rPr lang="en-US" altLang="zh-TW" sz="1600" dirty="0"/>
                        <a:t>port</a:t>
                      </a:r>
                      <a:r>
                        <a:rPr lang="zh-TW" altLang="en-US" sz="1600" dirty="0"/>
                        <a:t> </a:t>
                      </a:r>
                      <a:r>
                        <a:rPr lang="en-US" altLang="zh-TW" sz="1600" dirty="0"/>
                        <a:t>about 10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Per port</a:t>
                      </a:r>
                      <a:endParaRPr lang="zh-TW" altLang="en-US" sz="1600" dirty="0"/>
                    </a:p>
                    <a:p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一次</a:t>
                      </a:r>
                      <a:r>
                        <a:rPr lang="en-US" altLang="zh-TW" sz="1200" dirty="0"/>
                        <a:t>SNMP GET</a:t>
                      </a:r>
                      <a:r>
                        <a:rPr lang="zh-TW" altLang="en-US" sz="1200" dirty="0"/>
                        <a:t>的</a:t>
                      </a:r>
                      <a:r>
                        <a:rPr lang="en-US" altLang="zh-TW" sz="1200" dirty="0"/>
                        <a:t>Table node</a:t>
                      </a:r>
                      <a:r>
                        <a:rPr lang="zh-TW" altLang="en-US" sz="1200" dirty="0"/>
                        <a:t>越多，需時越長。</a:t>
                      </a:r>
                      <a:endParaRPr lang="en-US" altLang="zh-TW" sz="1200" dirty="0"/>
                    </a:p>
                    <a:p>
                      <a:r>
                        <a:rPr lang="zh-TW" altLang="en-US" sz="1200" dirty="0"/>
                        <a:t>建構</a:t>
                      </a:r>
                      <a:r>
                        <a:rPr lang="en-US" altLang="zh-TW" sz="1200" dirty="0"/>
                        <a:t>table</a:t>
                      </a:r>
                      <a:r>
                        <a:rPr lang="zh-TW" altLang="en-US" sz="1200" dirty="0"/>
                        <a:t>包含在</a:t>
                      </a:r>
                      <a:r>
                        <a:rPr lang="en-US" altLang="zh-TW" sz="1200" dirty="0"/>
                        <a:t>GET table</a:t>
                      </a:r>
                      <a:r>
                        <a:rPr lang="zh-TW" altLang="en-US" sz="1200" dirty="0"/>
                        <a:t>中第一個</a:t>
                      </a:r>
                      <a:r>
                        <a:rPr lang="en-US" altLang="zh-TW" sz="1200" dirty="0"/>
                        <a:t>port</a:t>
                      </a:r>
                      <a:r>
                        <a:rPr lang="zh-TW" altLang="en-US" sz="1200" dirty="0"/>
                        <a:t>中，因此第一個</a:t>
                      </a:r>
                      <a:r>
                        <a:rPr lang="en-US" altLang="zh-TW" sz="1200" dirty="0"/>
                        <a:t>port</a:t>
                      </a:r>
                      <a:r>
                        <a:rPr lang="zh-TW" altLang="en-US" sz="1200" dirty="0"/>
                        <a:t>需時較長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490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1/</a:t>
                      </a:r>
                      <a:r>
                        <a:rPr lang="en-US" altLang="zh-TW" sz="1600" dirty="0" err="1"/>
                        <a:t>Snmp</a:t>
                      </a:r>
                      <a:r>
                        <a:rPr lang="en-US" altLang="zh-TW" sz="1600" dirty="0"/>
                        <a:t> send time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0.8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Per port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Per port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per port</a:t>
                      </a:r>
                      <a:r>
                        <a:rPr lang="zh-TW" altLang="en-US" sz="1200" dirty="0"/>
                        <a:t> </a:t>
                      </a:r>
                      <a:r>
                        <a:rPr lang="en-US" altLang="zh-TW" sz="1200" dirty="0"/>
                        <a:t>GET</a:t>
                      </a:r>
                      <a:r>
                        <a:rPr lang="zh-TW" altLang="en-US" sz="1200" dirty="0"/>
                        <a:t>，每次時間大致相同，有可能接近</a:t>
                      </a:r>
                      <a:r>
                        <a:rPr lang="en-US" altLang="zh-TW" sz="1200" dirty="0"/>
                        <a:t>0</a:t>
                      </a:r>
                      <a:r>
                        <a:rPr lang="zh-TW" altLang="en-US" sz="1200" dirty="0"/>
                        <a:t>，原因未知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071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0/Total access time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61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117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86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52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/>
                        <a:t>僅計算第一個</a:t>
                      </a:r>
                      <a:r>
                        <a:rPr lang="en-US" altLang="zh-TW" sz="1200" dirty="0"/>
                        <a:t>port</a:t>
                      </a:r>
                      <a:endParaRPr lang="en-US" altLang="zh-C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658720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AC6895C4-E5F2-D582-02BB-5EA417C194A7}"/>
              </a:ext>
            </a:extLst>
          </p:cNvPr>
          <p:cNvSpPr txBox="1"/>
          <p:nvPr/>
        </p:nvSpPr>
        <p:spPr>
          <a:xfrm>
            <a:off x="6503117" y="106975"/>
            <a:ext cx="53340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309">
              <a:defRPr/>
            </a:pPr>
            <a:r>
              <a:rPr lang="en-US" altLang="zh-CN" sz="1600" dirty="0"/>
              <a:t>*1: Wireshark</a:t>
            </a:r>
            <a:r>
              <a:rPr lang="zh-TW" altLang="en-US" sz="1600" dirty="0"/>
              <a:t>看到的</a:t>
            </a:r>
            <a:r>
              <a:rPr lang="en-US" altLang="zh-TW" sz="1600" dirty="0"/>
              <a:t>SNMP</a:t>
            </a:r>
            <a:r>
              <a:rPr lang="en-US" altLang="zh-CN" sz="1600" dirty="0"/>
              <a:t> response time</a:t>
            </a:r>
            <a:r>
              <a:rPr lang="zh-TW" altLang="en-US" sz="1600" dirty="0"/>
              <a:t>會比</a:t>
            </a:r>
            <a:r>
              <a:rPr lang="en-US" altLang="zh-TW" sz="1600" dirty="0"/>
              <a:t>total access time</a:t>
            </a:r>
            <a:r>
              <a:rPr lang="zh-TW" altLang="en-US" sz="1600" dirty="0"/>
              <a:t>略大</a:t>
            </a:r>
            <a:r>
              <a:rPr lang="en-US" altLang="zh-TW" sz="1600" dirty="0"/>
              <a:t>1ms</a:t>
            </a:r>
          </a:p>
          <a:p>
            <a:pPr lvl="0" defTabSz="914309">
              <a:defRPr/>
            </a:pPr>
            <a:r>
              <a:rPr lang="en-US" altLang="zh-CN" sz="1600" dirty="0"/>
              <a:t>*2: </a:t>
            </a:r>
            <a:r>
              <a:rPr lang="zh-TW" altLang="en-US" sz="1600" dirty="0"/>
              <a:t>由於開啟許多</a:t>
            </a:r>
            <a:r>
              <a:rPr lang="en-US" altLang="zh-TW" sz="1600" dirty="0"/>
              <a:t>debug print</a:t>
            </a:r>
            <a:r>
              <a:rPr lang="zh-TW" altLang="en-US" sz="1600" dirty="0"/>
              <a:t>，此分析僅作為趨勢參考，實際總存取時間參考附檔</a:t>
            </a:r>
            <a:r>
              <a:rPr lang="en-US" altLang="zh-TW" sz="1600" dirty="0" err="1"/>
              <a:t>pcap</a:t>
            </a:r>
            <a:endParaRPr lang="en-US" altLang="zh-CN" sz="1600" dirty="0"/>
          </a:p>
          <a:p>
            <a:pPr algn="l"/>
            <a:endParaRPr lang="zh-TW" altLang="en-US" sz="1600" dirty="0" err="1"/>
          </a:p>
        </p:txBody>
      </p:sp>
    </p:spTree>
    <p:extLst>
      <p:ext uri="{BB962C8B-B14F-4D97-AF65-F5344CB8AC3E}">
        <p14:creationId xmlns:p14="http://schemas.microsoft.com/office/powerpoint/2010/main" val="1915317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9FA6ED15-7BA3-7CF8-7C4A-45C14685FA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9730348"/>
              </p:ext>
            </p:extLst>
          </p:nvPr>
        </p:nvGraphicFramePr>
        <p:xfrm>
          <a:off x="585607" y="128134"/>
          <a:ext cx="11153776" cy="1260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268">
                  <a:extLst>
                    <a:ext uri="{9D8B030D-6E8A-4147-A177-3AD203B41FA5}">
                      <a16:colId xmlns:a16="http://schemas.microsoft.com/office/drawing/2014/main" val="832682006"/>
                    </a:ext>
                  </a:extLst>
                </a:gridCol>
                <a:gridCol w="1419497">
                  <a:extLst>
                    <a:ext uri="{9D8B030D-6E8A-4147-A177-3AD203B41FA5}">
                      <a16:colId xmlns:a16="http://schemas.microsoft.com/office/drawing/2014/main" val="2517939536"/>
                    </a:ext>
                  </a:extLst>
                </a:gridCol>
                <a:gridCol w="3295628">
                  <a:extLst>
                    <a:ext uri="{9D8B030D-6E8A-4147-A177-3AD203B41FA5}">
                      <a16:colId xmlns:a16="http://schemas.microsoft.com/office/drawing/2014/main" val="3778952135"/>
                    </a:ext>
                  </a:extLst>
                </a:gridCol>
                <a:gridCol w="3295628">
                  <a:extLst>
                    <a:ext uri="{9D8B030D-6E8A-4147-A177-3AD203B41FA5}">
                      <a16:colId xmlns:a16="http://schemas.microsoft.com/office/drawing/2014/main" val="2882245647"/>
                    </a:ext>
                  </a:extLst>
                </a:gridCol>
                <a:gridCol w="2230755">
                  <a:extLst>
                    <a:ext uri="{9D8B030D-6E8A-4147-A177-3AD203B41FA5}">
                      <a16:colId xmlns:a16="http://schemas.microsoft.com/office/drawing/2014/main" val="959952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 dirty="0"/>
                        <a:t>Index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OID (.8.x / .9.x)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 dirty="0"/>
                        <a:t>Start time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 dirty="0"/>
                        <a:t>End time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 dirty="0"/>
                        <a:t>Total access time (</a:t>
                      </a:r>
                      <a:r>
                        <a:rPr lang="en-US" sz="1400" dirty="0" err="1"/>
                        <a:t>ms</a:t>
                      </a:r>
                      <a:r>
                        <a:rPr lang="en-US" sz="14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2540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.8.1 / .9.1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19:04:19.693432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19:04:19.809947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116.52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184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.8.1 / .9.1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19:04:30.877365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19:04:30.963321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85.96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5928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.8.2 / .9.2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19:04:30.967270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19:04:30.983926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16.66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71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.8.3 / .9.3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19:04:30.987176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19:04:31.007507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20.33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8514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.8.4 / .9.4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19:04:31.012295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19:04:31.029532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17.24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45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 dirty="0"/>
                        <a:t>.8.1 / .9.1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19:04:38.475311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19:04:38.527261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51.95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9611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.8.2 / .9.2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19:04:38.530854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19:04:38.548668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17.81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1486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.8.3 / .9.3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19:04:38.551863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19:04:38.571129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19.27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916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.8.4 / .9.4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19:04:38.573680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19:04:38.590684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17.00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679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.8.5 / .9.5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19:04:38.593620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19:04:38.610330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16.71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028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.8.6 / .9.6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19:04:38.613189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19:04:38.632054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18.86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4201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.8.7 / .9.7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19:04:38.635105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19:04:38.651870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16.76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4906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.8.8 / .9.8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19:04:38.654712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19:04:38.672559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17.85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2634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.8.9 / .9.9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19:04:38.679743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19:04:38.697120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17.38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9680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.8.10 / .9.10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19:04:38.699555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19:04:38.716744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17.19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73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.8.11 / .9.11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19:04:38.720469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19:04:38.756721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36.25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3792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.8.12 / .9.12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19:04:38.765753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19:04:38.794231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28.48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135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.8.13 / .9.13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19:04:38.794231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19:04:38.817624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23.39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393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.8.14 / .9.14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19:04:38.822318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19:04:38.840782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18.46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303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.8.15 / .9.15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19:04:38.843728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19:04:38.866195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22.47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940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.8.16 / .9.16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19:04:38.869251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19:04:38.887976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18.72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6545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.8.17 / .9.17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19:04:38.893426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19:04:38.913433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20.01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527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.8.18 / .9.18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19:04:38.913433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19:04:38.932153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18.72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3722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.8.19 / .9.19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19:04:38.935366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19:04:38.957665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22.30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6265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.8.20 / .9.20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19:04:38.964679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19:04:38.986256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21.58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251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.8.21 / .9.21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19:04:39.003540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19:04:39.024554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21.01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636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.8.22 / .9.22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19:04:39.024554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19:04:39.063073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38.52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380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.8.23 / .9.23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19:04:39.063073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19:04:39.095689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32.62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5858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.8.24 / .9.24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19:04:39.095689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19:04:39.095689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5622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.8.25 / .9.25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19:04:39.151685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19:04:39.151685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813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.8.26 / .9.26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19:04:39.151685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19:04:39.151685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7756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.8.27 / .9.27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19:04:39.151685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2018-12-21 19:04:39.206617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54.93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5338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.8.28 / .9.28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 dirty="0"/>
                        <a:t>2018-12-21 19:04:39.206617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 dirty="0"/>
                        <a:t>2018-12-21 19:04:39.206617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 dirty="0"/>
                        <a:t>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8828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16580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9E9D06-65E6-549A-8DC6-582C859B8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Read from SHM directly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FA90698-8B5B-1C22-07BF-5044C6A6A06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BF32E2C-E5C1-255A-E69C-489FBD733C1B}"/>
              </a:ext>
            </a:extLst>
          </p:cNvPr>
          <p:cNvSpPr/>
          <p:nvPr/>
        </p:nvSpPr>
        <p:spPr>
          <a:xfrm>
            <a:off x="3168126" y="3205610"/>
            <a:ext cx="2226833" cy="503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mxfiberCheck.json</a:t>
            </a:r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A902CD-7063-A48F-66C4-00F7FDFC9412}"/>
              </a:ext>
            </a:extLst>
          </p:cNvPr>
          <p:cNvSpPr/>
          <p:nvPr/>
        </p:nvSpPr>
        <p:spPr>
          <a:xfrm>
            <a:off x="3168127" y="2502976"/>
            <a:ext cx="2226833" cy="504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SHM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12C472-C4C5-83A1-820C-61C0FDD84BFF}"/>
              </a:ext>
            </a:extLst>
          </p:cNvPr>
          <p:cNvSpPr/>
          <p:nvPr/>
        </p:nvSpPr>
        <p:spPr>
          <a:xfrm>
            <a:off x="6230215" y="2787086"/>
            <a:ext cx="2226833" cy="5040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fiberCheck.stat</a:t>
            </a:r>
            <a:endParaRPr lang="en-US" altLang="zh-TW" dirty="0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4B46717C-0A8F-24D7-7967-89432D9EC346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394960" y="2754976"/>
            <a:ext cx="835255" cy="284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477EFC96-31B3-AAC4-7030-0164F105EEA3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5394959" y="3039087"/>
            <a:ext cx="835256" cy="418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E44C685D-16E8-E224-AB38-7ECBCF39B4D6}"/>
              </a:ext>
            </a:extLst>
          </p:cNvPr>
          <p:cNvSpPr/>
          <p:nvPr/>
        </p:nvSpPr>
        <p:spPr>
          <a:xfrm>
            <a:off x="9270005" y="2787085"/>
            <a:ext cx="2226833" cy="5040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Construct </a:t>
            </a:r>
          </a:p>
          <a:p>
            <a:pPr algn="ctr"/>
            <a:r>
              <a:rPr lang="en-US" altLang="zh-TW" dirty="0"/>
              <a:t>port table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44DB5102-94E6-9516-7773-8268FEC5EF84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 flipV="1">
            <a:off x="8457048" y="3039086"/>
            <a:ext cx="81295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ACC0EB1-7ADE-5C1A-0AE4-F218FE1CBAB2}"/>
              </a:ext>
            </a:extLst>
          </p:cNvPr>
          <p:cNvSpPr txBox="1"/>
          <p:nvPr/>
        </p:nvSpPr>
        <p:spPr>
          <a:xfrm>
            <a:off x="1072661" y="2585858"/>
            <a:ext cx="1457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monitor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A7DDA7E-1A84-80BD-C1AD-A5821AA150F0}"/>
              </a:ext>
            </a:extLst>
          </p:cNvPr>
          <p:cNvSpPr txBox="1"/>
          <p:nvPr/>
        </p:nvSpPr>
        <p:spPr>
          <a:xfrm>
            <a:off x="8889402" y="1788764"/>
            <a:ext cx="2957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err="1"/>
              <a:t>plugin_moxa_fiber_check</a:t>
            </a:r>
            <a:endParaRPr lang="en-US" altLang="zh-TW" dirty="0"/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68F61C59-7C0C-BA37-F302-3E6644D5E681}"/>
              </a:ext>
            </a:extLst>
          </p:cNvPr>
          <p:cNvCxnSpPr>
            <a:cxnSpLocks/>
            <a:stCxn id="18" idx="3"/>
            <a:endCxn id="6" idx="1"/>
          </p:cNvCxnSpPr>
          <p:nvPr/>
        </p:nvCxnSpPr>
        <p:spPr>
          <a:xfrm flipV="1">
            <a:off x="2529850" y="2754976"/>
            <a:ext cx="638277" cy="15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5E172E75-AD76-9259-439F-FFC3481C5703}"/>
              </a:ext>
            </a:extLst>
          </p:cNvPr>
          <p:cNvCxnSpPr>
            <a:cxnSpLocks/>
          </p:cNvCxnSpPr>
          <p:nvPr/>
        </p:nvCxnSpPr>
        <p:spPr>
          <a:xfrm>
            <a:off x="2840032" y="2316480"/>
            <a:ext cx="0" cy="422416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B31971F3-B182-263C-9F1C-E423447D1ED3}"/>
              </a:ext>
            </a:extLst>
          </p:cNvPr>
          <p:cNvSpPr txBox="1"/>
          <p:nvPr/>
        </p:nvSpPr>
        <p:spPr>
          <a:xfrm>
            <a:off x="4461539" y="1831447"/>
            <a:ext cx="2957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err="1"/>
              <a:t>lib_moxa_rust_fiber_check</a:t>
            </a:r>
            <a:endParaRPr lang="zh-TW" altLang="en-US" dirty="0" err="1"/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775E0C93-1983-88FE-760E-868F8B5FCE56}"/>
              </a:ext>
            </a:extLst>
          </p:cNvPr>
          <p:cNvCxnSpPr>
            <a:cxnSpLocks/>
          </p:cNvCxnSpPr>
          <p:nvPr/>
        </p:nvCxnSpPr>
        <p:spPr>
          <a:xfrm>
            <a:off x="8828455" y="2316480"/>
            <a:ext cx="0" cy="428699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0182A60C-4730-F2D6-A65D-5D580F178627}"/>
              </a:ext>
            </a:extLst>
          </p:cNvPr>
          <p:cNvSpPr txBox="1"/>
          <p:nvPr/>
        </p:nvSpPr>
        <p:spPr>
          <a:xfrm>
            <a:off x="2514999" y="2533911"/>
            <a:ext cx="1184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dirty="0"/>
              <a:t>write</a:t>
            </a:r>
            <a:endParaRPr lang="zh-TW" altLang="en-US" dirty="0" err="1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6EB3CFE-40B9-1E54-D094-3C5141ACB476}"/>
              </a:ext>
            </a:extLst>
          </p:cNvPr>
          <p:cNvSpPr txBox="1"/>
          <p:nvPr/>
        </p:nvSpPr>
        <p:spPr>
          <a:xfrm>
            <a:off x="5417258" y="2650038"/>
            <a:ext cx="11843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dirty="0"/>
              <a:t>Read</a:t>
            </a:r>
          </a:p>
          <a:p>
            <a:pPr algn="l"/>
            <a:r>
              <a:rPr lang="en-US" altLang="zh-TW" dirty="0"/>
              <a:t> &amp;</a:t>
            </a:r>
          </a:p>
          <a:p>
            <a:pPr algn="l"/>
            <a:r>
              <a:rPr lang="en-US" altLang="zh-TW" dirty="0"/>
              <a:t>write</a:t>
            </a:r>
            <a:endParaRPr lang="zh-TW" altLang="en-US" dirty="0" err="1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68D4825-F7C9-4524-D026-D10B48DAF4C0}"/>
              </a:ext>
            </a:extLst>
          </p:cNvPr>
          <p:cNvSpPr txBox="1"/>
          <p:nvPr/>
        </p:nvSpPr>
        <p:spPr>
          <a:xfrm>
            <a:off x="8527190" y="2846426"/>
            <a:ext cx="1184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dirty="0"/>
              <a:t>read</a:t>
            </a:r>
            <a:endParaRPr lang="zh-TW" altLang="en-US" dirty="0" err="1"/>
          </a:p>
        </p:txBody>
      </p: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CF7C7F59-A560-C3C8-4ADB-8A42516DE8E4}"/>
              </a:ext>
            </a:extLst>
          </p:cNvPr>
          <p:cNvCxnSpPr>
            <a:cxnSpLocks/>
          </p:cNvCxnSpPr>
          <p:nvPr/>
        </p:nvCxnSpPr>
        <p:spPr>
          <a:xfrm flipH="1">
            <a:off x="516641" y="4017343"/>
            <a:ext cx="11199223" cy="142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4A99E193-1D14-E419-BDE2-4F4AA058B788}"/>
              </a:ext>
            </a:extLst>
          </p:cNvPr>
          <p:cNvSpPr txBox="1"/>
          <p:nvPr/>
        </p:nvSpPr>
        <p:spPr>
          <a:xfrm>
            <a:off x="251727" y="1869587"/>
            <a:ext cx="2588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err="1"/>
              <a:t>app_moxa_fiber_check</a:t>
            </a:r>
            <a:endParaRPr lang="en-US" altLang="zh-TW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E81DA3F-719B-CD31-CC55-225810CBF803}"/>
              </a:ext>
            </a:extLst>
          </p:cNvPr>
          <p:cNvSpPr/>
          <p:nvPr/>
        </p:nvSpPr>
        <p:spPr>
          <a:xfrm>
            <a:off x="3168126" y="4799619"/>
            <a:ext cx="2226833" cy="504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SHM</a:t>
            </a: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40371F48-8D83-2D99-7BB5-7C29BBAFAAB9}"/>
              </a:ext>
            </a:extLst>
          </p:cNvPr>
          <p:cNvSpPr txBox="1"/>
          <p:nvPr/>
        </p:nvSpPr>
        <p:spPr>
          <a:xfrm>
            <a:off x="1057809" y="4885985"/>
            <a:ext cx="1457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monitor</a:t>
            </a:r>
          </a:p>
        </p:txBody>
      </p: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23F1A4F8-BA01-8B72-0923-DE3B10D15514}"/>
              </a:ext>
            </a:extLst>
          </p:cNvPr>
          <p:cNvCxnSpPr>
            <a:cxnSpLocks/>
            <a:stCxn id="56" idx="3"/>
            <a:endCxn id="55" idx="1"/>
          </p:cNvCxnSpPr>
          <p:nvPr/>
        </p:nvCxnSpPr>
        <p:spPr>
          <a:xfrm flipV="1">
            <a:off x="2514998" y="5051619"/>
            <a:ext cx="653128" cy="19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36F95DD0-D37C-8B1F-F7F6-3D3FEEC68600}"/>
              </a:ext>
            </a:extLst>
          </p:cNvPr>
          <p:cNvSpPr txBox="1"/>
          <p:nvPr/>
        </p:nvSpPr>
        <p:spPr>
          <a:xfrm>
            <a:off x="2514998" y="4830554"/>
            <a:ext cx="1184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dirty="0"/>
              <a:t>write</a:t>
            </a:r>
            <a:endParaRPr lang="zh-TW" altLang="en-US" dirty="0" err="1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0662B18-72C1-48D0-788A-B3CE82300B8F}"/>
              </a:ext>
            </a:extLst>
          </p:cNvPr>
          <p:cNvSpPr/>
          <p:nvPr/>
        </p:nvSpPr>
        <p:spPr>
          <a:xfrm>
            <a:off x="9270005" y="4766132"/>
            <a:ext cx="2226833" cy="5040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Construct </a:t>
            </a:r>
          </a:p>
          <a:p>
            <a:pPr algn="ctr"/>
            <a:r>
              <a:rPr lang="en-US" altLang="zh-TW" dirty="0"/>
              <a:t>port table</a:t>
            </a: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9145C8ED-919D-86AC-5056-1F78383D0385}"/>
              </a:ext>
            </a:extLst>
          </p:cNvPr>
          <p:cNvSpPr txBox="1"/>
          <p:nvPr/>
        </p:nvSpPr>
        <p:spPr>
          <a:xfrm>
            <a:off x="8527190" y="4845915"/>
            <a:ext cx="1184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dirty="0"/>
              <a:t>read</a:t>
            </a:r>
            <a:endParaRPr lang="zh-TW" altLang="en-US" dirty="0" err="1"/>
          </a:p>
        </p:txBody>
      </p: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8C67A1DF-FE2C-5C10-A915-A0BA2144CB5C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5394959" y="5051619"/>
            <a:ext cx="38750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D8EF24FA-ACB3-42E9-E39F-466B0BE9C83C}"/>
              </a:ext>
            </a:extLst>
          </p:cNvPr>
          <p:cNvSpPr txBox="1"/>
          <p:nvPr/>
        </p:nvSpPr>
        <p:spPr>
          <a:xfrm>
            <a:off x="-252459" y="3694177"/>
            <a:ext cx="1457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chemeClr val="accent6"/>
                </a:solidFill>
              </a:rPr>
              <a:t>Before</a:t>
            </a:r>
          </a:p>
          <a:p>
            <a:pPr algn="ctr"/>
            <a:r>
              <a:rPr lang="en-US" altLang="zh-TW" b="1" dirty="0">
                <a:solidFill>
                  <a:schemeClr val="accent6"/>
                </a:solidFill>
              </a:rPr>
              <a:t>After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94028123-A707-12BD-4338-DF49B7EA64AD}"/>
              </a:ext>
            </a:extLst>
          </p:cNvPr>
          <p:cNvSpPr/>
          <p:nvPr/>
        </p:nvSpPr>
        <p:spPr>
          <a:xfrm>
            <a:off x="3165066" y="5524684"/>
            <a:ext cx="2226833" cy="503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mxfiberCheck.json</a:t>
            </a:r>
            <a:endParaRPr lang="en-US" altLang="zh-TW" dirty="0"/>
          </a:p>
        </p:txBody>
      </p:sp>
      <p:cxnSp>
        <p:nvCxnSpPr>
          <p:cNvPr id="77" name="直線單箭頭接點 76">
            <a:extLst>
              <a:ext uri="{FF2B5EF4-FFF2-40B4-BE49-F238E27FC236}">
                <a16:creationId xmlns:a16="http://schemas.microsoft.com/office/drawing/2014/main" id="{B3CEEE11-B1E9-4615-D654-CC28B5A83496}"/>
              </a:ext>
            </a:extLst>
          </p:cNvPr>
          <p:cNvCxnSpPr>
            <a:cxnSpLocks/>
            <a:stCxn id="75" idx="3"/>
          </p:cNvCxnSpPr>
          <p:nvPr/>
        </p:nvCxnSpPr>
        <p:spPr>
          <a:xfrm flipV="1">
            <a:off x="5391899" y="5051619"/>
            <a:ext cx="3878106" cy="724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乘號 79">
            <a:extLst>
              <a:ext uri="{FF2B5EF4-FFF2-40B4-BE49-F238E27FC236}">
                <a16:creationId xmlns:a16="http://schemas.microsoft.com/office/drawing/2014/main" id="{0167F6E1-9D90-4ACC-6FF1-B04116C34EAA}"/>
              </a:ext>
            </a:extLst>
          </p:cNvPr>
          <p:cNvSpPr/>
          <p:nvPr/>
        </p:nvSpPr>
        <p:spPr>
          <a:xfrm>
            <a:off x="5794780" y="5346201"/>
            <a:ext cx="714100" cy="635624"/>
          </a:xfrm>
          <a:prstGeom prst="mathMultiply">
            <a:avLst>
              <a:gd name="adj1" fmla="val 7079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CCE9CAD0-A8F3-DC6F-AE97-7DB46EDD59BB}"/>
              </a:ext>
            </a:extLst>
          </p:cNvPr>
          <p:cNvSpPr txBox="1"/>
          <p:nvPr/>
        </p:nvSpPr>
        <p:spPr>
          <a:xfrm>
            <a:off x="6508880" y="5603289"/>
            <a:ext cx="2226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dirty="0"/>
              <a:t>Not support now</a:t>
            </a:r>
            <a:endParaRPr lang="zh-TW" altLang="en-US" dirty="0" err="1"/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2DA06582-F1CF-04F3-90A4-AC03C129F10A}"/>
              </a:ext>
            </a:extLst>
          </p:cNvPr>
          <p:cNvSpPr txBox="1"/>
          <p:nvPr/>
        </p:nvSpPr>
        <p:spPr>
          <a:xfrm>
            <a:off x="10559940" y="3694176"/>
            <a:ext cx="1457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chemeClr val="accent6"/>
                </a:solidFill>
              </a:rPr>
              <a:t>18-38ms</a:t>
            </a:r>
          </a:p>
          <a:p>
            <a:pPr algn="ctr"/>
            <a:r>
              <a:rPr lang="en-US" altLang="zh-TW" b="1" dirty="0">
                <a:solidFill>
                  <a:schemeClr val="accent6"/>
                </a:solidFill>
              </a:rPr>
              <a:t>8ms</a:t>
            </a:r>
          </a:p>
        </p:txBody>
      </p:sp>
    </p:spTree>
    <p:extLst>
      <p:ext uri="{BB962C8B-B14F-4D97-AF65-F5344CB8AC3E}">
        <p14:creationId xmlns:p14="http://schemas.microsoft.com/office/powerpoint/2010/main" val="3881909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98F67-B4CC-2B81-A21F-14E1C016B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001800-BA33-7C9D-F9EA-ED2BAD188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PreTest</a:t>
            </a:r>
            <a:r>
              <a:rPr lang="en-US" altLang="zh-TW" dirty="0"/>
              <a:t> FWR </a:t>
            </a:r>
            <a:r>
              <a:rPr lang="en-US" altLang="zh-TW" b="0" dirty="0">
                <a:hlinkClick r:id="rId3"/>
              </a:rPr>
              <a:t>v5.0.4_2025_1121_1104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6548AF0-0C9F-8E5B-9460-61922DBBCA2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zh-TW" dirty="0"/>
              <a:t>1MDSXGL3, 3DUT TR2+16 fast VRRP</a:t>
            </a:r>
            <a:endParaRPr lang="en-US" altLang="zh-CN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1183A0D-6CBB-46E1-36F4-203B468E5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641" y="2087527"/>
            <a:ext cx="11152885" cy="4509216"/>
          </a:xfrm>
        </p:spPr>
        <p:txBody>
          <a:bodyPr>
            <a:normAutofit/>
          </a:bodyPr>
          <a:lstStyle/>
          <a:p>
            <a:r>
              <a:rPr lang="zh-TW" altLang="en-US" dirty="0"/>
              <a:t>連續測試</a:t>
            </a:r>
            <a:r>
              <a:rPr lang="en-US" altLang="zh-TW" dirty="0"/>
              <a:t>3</a:t>
            </a:r>
            <a:r>
              <a:rPr lang="zh-TW" altLang="en-US" dirty="0"/>
              <a:t>天</a:t>
            </a:r>
            <a:r>
              <a:rPr lang="en-US" altLang="zh-TW" dirty="0"/>
              <a:t>(72hr)</a:t>
            </a:r>
            <a:r>
              <a:rPr lang="zh-TW" altLang="en-US" dirty="0"/>
              <a:t> </a:t>
            </a:r>
            <a:r>
              <a:rPr lang="zh-CN" altLang="en-US" dirty="0"/>
              <a:t>获取交换机</a:t>
            </a:r>
            <a:r>
              <a:rPr lang="en-US" altLang="zh-CN" dirty="0"/>
              <a:t>CPU</a:t>
            </a:r>
            <a:r>
              <a:rPr lang="zh-CN" altLang="en-US" dirty="0"/>
              <a:t>使用率 </a:t>
            </a:r>
            <a:r>
              <a:rPr lang="en-US" altLang="zh-CN" dirty="0"/>
              <a:t>-&gt; </a:t>
            </a:r>
            <a:r>
              <a:rPr lang="zh-TW" altLang="en-US" dirty="0"/>
              <a:t>获取</a:t>
            </a:r>
            <a:r>
              <a:rPr lang="en-US" altLang="zh-TW" dirty="0"/>
              <a:t>28</a:t>
            </a:r>
            <a:r>
              <a:rPr lang="zh-TW" altLang="en-US" dirty="0"/>
              <a:t>个端口的</a:t>
            </a:r>
            <a:r>
              <a:rPr lang="en-US" altLang="zh-TW" dirty="0"/>
              <a:t>link on/off</a:t>
            </a:r>
            <a:r>
              <a:rPr lang="zh-TW" altLang="en-US" dirty="0"/>
              <a:t>状态 </a:t>
            </a:r>
            <a:r>
              <a:rPr lang="en-US" altLang="zh-TW" dirty="0"/>
              <a:t>-&gt; </a:t>
            </a:r>
            <a:r>
              <a:rPr lang="zh-CN" altLang="en-US" dirty="0"/>
              <a:t>获取</a:t>
            </a:r>
            <a:r>
              <a:rPr lang="en-US" altLang="zh-TW" dirty="0"/>
              <a:t>28</a:t>
            </a:r>
            <a:r>
              <a:rPr lang="zh-TW" altLang="en-US" dirty="0"/>
              <a:t>个端口</a:t>
            </a:r>
            <a:r>
              <a:rPr lang="zh-CN" altLang="en-US" dirty="0"/>
              <a:t>的流量、带宽、错误包 </a:t>
            </a:r>
            <a:r>
              <a:rPr lang="en-US" altLang="zh-CN" dirty="0"/>
              <a:t>-&gt; </a:t>
            </a:r>
            <a:r>
              <a:rPr lang="zh-CN" altLang="en-US" dirty="0"/>
              <a:t>获取</a:t>
            </a:r>
            <a:r>
              <a:rPr lang="en-US" altLang="zh-TW" dirty="0" err="1"/>
              <a:t>fiberCheckStat</a:t>
            </a:r>
            <a:r>
              <a:rPr lang="en-US" altLang="zh-TW" dirty="0"/>
              <a:t> -&gt; delay 30s -&gt; loop</a:t>
            </a:r>
            <a:endParaRPr lang="zh-TW" altLang="en-US" dirty="0"/>
          </a:p>
          <a:p>
            <a:pPr lvl="1"/>
            <a:r>
              <a:rPr lang="zh-TW" altLang="en-US" dirty="0"/>
              <a:t>平均為 </a:t>
            </a:r>
            <a:r>
              <a:rPr lang="en-US" altLang="zh-TW" dirty="0"/>
              <a:t>7ms</a:t>
            </a:r>
            <a:r>
              <a:rPr lang="zh-TW" altLang="en-US" dirty="0"/>
              <a:t>，最大為 </a:t>
            </a:r>
            <a:r>
              <a:rPr lang="en-US" altLang="zh-TW" dirty="0">
                <a:solidFill>
                  <a:srgbClr val="FF0000"/>
                </a:solidFill>
              </a:rPr>
              <a:t>125ms</a:t>
            </a:r>
            <a:r>
              <a:rPr lang="zh-TW" altLang="en-US" dirty="0"/>
              <a:t>，最小為 </a:t>
            </a:r>
            <a:r>
              <a:rPr lang="en-US" altLang="zh-TW" dirty="0"/>
              <a:t>2ms</a:t>
            </a:r>
            <a:r>
              <a:rPr lang="zh-TW" altLang="en-US" dirty="0"/>
              <a:t>，</a:t>
            </a:r>
            <a:r>
              <a:rPr lang="en-US" altLang="zh-TW" dirty="0"/>
              <a:t>72hr</a:t>
            </a:r>
            <a:r>
              <a:rPr lang="zh-TW" altLang="en-US" dirty="0"/>
              <a:t>中，超出</a:t>
            </a:r>
            <a:r>
              <a:rPr lang="en-US" altLang="zh-TW" dirty="0"/>
              <a:t>100ms</a:t>
            </a:r>
            <a:r>
              <a:rPr lang="zh-TW" altLang="en-US" dirty="0"/>
              <a:t>的比例為</a:t>
            </a:r>
            <a:r>
              <a:rPr lang="en-US" altLang="zh-TW" dirty="0"/>
              <a:t>21/715445</a:t>
            </a:r>
            <a:r>
              <a:rPr lang="zh-TW" altLang="en-US" dirty="0"/>
              <a:t> </a:t>
            </a:r>
            <a:r>
              <a:rPr lang="en-US" altLang="zh-TW" dirty="0"/>
              <a:t>~=</a:t>
            </a:r>
            <a:r>
              <a:rPr lang="zh-TW" altLang="en-US" dirty="0"/>
              <a:t> </a:t>
            </a:r>
            <a:r>
              <a:rPr lang="en-US" altLang="zh-TW" dirty="0"/>
              <a:t>0.003%</a:t>
            </a:r>
            <a:r>
              <a:rPr lang="zh-TW" altLang="en-US" dirty="0"/>
              <a:t>，超出</a:t>
            </a:r>
            <a:r>
              <a:rPr lang="en-US" altLang="zh-TW" dirty="0"/>
              <a:t>50ms</a:t>
            </a:r>
            <a:r>
              <a:rPr lang="zh-TW" altLang="en-US" dirty="0"/>
              <a:t>的比例為</a:t>
            </a:r>
            <a:r>
              <a:rPr lang="en-US" altLang="zh-TW" dirty="0"/>
              <a:t>691/715445</a:t>
            </a:r>
            <a:r>
              <a:rPr lang="zh-TW" altLang="en-US" dirty="0"/>
              <a:t> </a:t>
            </a:r>
            <a:r>
              <a:rPr lang="en-US" altLang="zh-TW" dirty="0"/>
              <a:t>~=</a:t>
            </a:r>
            <a:r>
              <a:rPr lang="zh-TW" altLang="en-US" dirty="0"/>
              <a:t> </a:t>
            </a:r>
            <a:r>
              <a:rPr lang="en-US" altLang="zh-TW" dirty="0"/>
              <a:t>0.1%</a:t>
            </a:r>
          </a:p>
          <a:p>
            <a:pPr lvl="1"/>
            <a:r>
              <a:rPr lang="zh-TW" altLang="en-US" dirty="0"/>
              <a:t>從截圖可以看出，雖然整體時間又往下降，但</a:t>
            </a:r>
            <a:r>
              <a:rPr lang="en-US" altLang="zh-TW" dirty="0"/>
              <a:t>fiber check status</a:t>
            </a:r>
            <a:r>
              <a:rPr lang="zh-TW" altLang="en-US" dirty="0"/>
              <a:t>依然是需時較長的</a:t>
            </a:r>
            <a:r>
              <a:rPr lang="en-US" altLang="zh-TW" dirty="0"/>
              <a:t>OID</a:t>
            </a:r>
            <a:endParaRPr lang="en-US" altLang="zh-CN" dirty="0">
              <a:solidFill>
                <a:srgbClr val="FF0000"/>
              </a:solidFill>
            </a:endParaRPr>
          </a:p>
        </p:txBody>
      </p:sp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B0209BC8-9AB4-1C86-A9C7-FBBAF9389E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7179029"/>
              </p:ext>
            </p:extLst>
          </p:nvPr>
        </p:nvGraphicFramePr>
        <p:xfrm>
          <a:off x="10002929" y="484867"/>
          <a:ext cx="15430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4" imgW="1543072" imgH="514350" progId="Package">
                  <p:embed/>
                </p:oleObj>
              </mc:Choice>
              <mc:Fallback>
                <p:oleObj name="封裝程式殼層物件" showAsIcon="1" r:id="rId4" imgW="1543072" imgH="514350" progId="Package">
                  <p:embed/>
                  <p:pic>
                    <p:nvPicPr>
                      <p:cNvPr id="9" name="物件 8">
                        <a:extLst>
                          <a:ext uri="{FF2B5EF4-FFF2-40B4-BE49-F238E27FC236}">
                            <a16:creationId xmlns:a16="http://schemas.microsoft.com/office/drawing/2014/main" id="{B0209BC8-9AB4-1C86-A9C7-FBBAF9389E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002929" y="484867"/>
                        <a:ext cx="15430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2" name="Picture 8">
            <a:extLst>
              <a:ext uri="{FF2B5EF4-FFF2-40B4-BE49-F238E27FC236}">
                <a16:creationId xmlns:a16="http://schemas.microsoft.com/office/drawing/2014/main" id="{B9A46CC2-C661-255D-5469-E8F4AE0E1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425" y="4342135"/>
            <a:ext cx="7620000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F5E68A7-D786-646D-4504-1E5F309D8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98" y="4844863"/>
            <a:ext cx="468630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983251"/>
      </p:ext>
    </p:extLst>
  </p:cSld>
  <p:clrMapOvr>
    <a:masterClrMapping/>
  </p:clrMapOvr>
</p:sld>
</file>

<file path=ppt/theme/theme1.xml><?xml version="1.0" encoding="utf-8"?>
<a:theme xmlns:a="http://schemas.openxmlformats.org/drawingml/2006/main" name="Moxa_template">
  <a:themeElements>
    <a:clrScheme name="Moxa ">
      <a:dk1>
        <a:srgbClr val="090A0F"/>
      </a:dk1>
      <a:lt1>
        <a:srgbClr val="FFFFFF"/>
      </a:lt1>
      <a:dk2>
        <a:srgbClr val="008787"/>
      </a:dk2>
      <a:lt2>
        <a:srgbClr val="E7E6E6"/>
      </a:lt2>
      <a:accent1>
        <a:srgbClr val="008787"/>
      </a:accent1>
      <a:accent2>
        <a:srgbClr val="4CABAB"/>
      </a:accent2>
      <a:accent3>
        <a:srgbClr val="C9D0C6"/>
      </a:accent3>
      <a:accent4>
        <a:srgbClr val="77B800"/>
      </a:accent4>
      <a:accent5>
        <a:srgbClr val="FA933E"/>
      </a:accent5>
      <a:accent6>
        <a:srgbClr val="009DDB"/>
      </a:accent6>
      <a:hlink>
        <a:srgbClr val="009DDB"/>
      </a:hlink>
      <a:folHlink>
        <a:srgbClr val="B2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Moxa_2013_POTX_v2">
  <a:themeElements>
    <a:clrScheme name="Moxa Color Palette">
      <a:dk1>
        <a:srgbClr val="000000"/>
      </a:dk1>
      <a:lt1>
        <a:srgbClr val="FFFFFF"/>
      </a:lt1>
      <a:dk2>
        <a:srgbClr val="008787"/>
      </a:dk2>
      <a:lt2>
        <a:srgbClr val="C9D0C6"/>
      </a:lt2>
      <a:accent1>
        <a:srgbClr val="008787"/>
      </a:accent1>
      <a:accent2>
        <a:srgbClr val="727171"/>
      </a:accent2>
      <a:accent3>
        <a:srgbClr val="77B800"/>
      </a:accent3>
      <a:accent4>
        <a:srgbClr val="FA943E"/>
      </a:accent4>
      <a:accent5>
        <a:srgbClr val="009DDB"/>
      </a:accent5>
      <a:accent6>
        <a:srgbClr val="C9D0C6"/>
      </a:accent6>
      <a:hlink>
        <a:srgbClr val="009DDB"/>
      </a:hlink>
      <a:folHlink>
        <a:srgbClr val="D6D6D4"/>
      </a:folHlink>
    </a:clrScheme>
    <a:fontScheme name="Moxa Fonts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Moxa_Powerpoint_Template_Standard_2024</Template>
  <TotalTime>58870</TotalTime>
  <Words>3327</Words>
  <Application>Microsoft Office PowerPoint</Application>
  <PresentationFormat>寬螢幕</PresentationFormat>
  <Paragraphs>611</Paragraphs>
  <Slides>28</Slides>
  <Notes>12</Notes>
  <HiddenSlides>4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28</vt:i4>
      </vt:variant>
    </vt:vector>
  </HeadingPairs>
  <TitlesOfParts>
    <vt:vector size="30" baseType="lpstr">
      <vt:lpstr>Moxa_template</vt:lpstr>
      <vt:lpstr>1_Moxa_2013_POTX_v2</vt:lpstr>
      <vt:lpstr>北京十號線SNMP加速</vt:lpstr>
      <vt:lpstr>Target</vt:lpstr>
      <vt:lpstr>CV Schedules</vt:lpstr>
      <vt:lpstr>Target OID</vt:lpstr>
      <vt:lpstr>PowerPoint 簡報</vt:lpstr>
      <vt:lpstr>Current status</vt:lpstr>
      <vt:lpstr>Current status</vt:lpstr>
      <vt:lpstr>Current status</vt:lpstr>
      <vt:lpstr>Current status</vt:lpstr>
      <vt:lpstr>How does SNMP get DATA from ISS</vt:lpstr>
      <vt:lpstr>Known reasons for long access time</vt:lpstr>
      <vt:lpstr>Limitation for proxy by snmpd.conf</vt:lpstr>
      <vt:lpstr>ISS as SNMP agent</vt:lpstr>
      <vt:lpstr>Add Proxy OID in SNMPd by snmpd.conf</vt:lpstr>
      <vt:lpstr>Execution chain</vt:lpstr>
      <vt:lpstr>Test with pysnmp script</vt:lpstr>
      <vt:lpstr>Target OID combination</vt:lpstr>
      <vt:lpstr>After proxy performance</vt:lpstr>
      <vt:lpstr>After proxy performance</vt:lpstr>
      <vt:lpstr>PowerPoint 簡報</vt:lpstr>
      <vt:lpstr>PreTest FWR 5.0.3</vt:lpstr>
      <vt:lpstr>OID types</vt:lpstr>
      <vt:lpstr>Log info</vt:lpstr>
      <vt:lpstr>Access time log analyze</vt:lpstr>
      <vt:lpstr>Access time log analyze</vt:lpstr>
      <vt:lpstr>PowerPoint 簡報</vt:lpstr>
      <vt:lpstr>Read from SHM directly</vt:lpstr>
      <vt:lpstr>PreTest FWR v5.0.4_2025_1121_1104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Yutzu Chang (張育慈)</dc:creator>
  <cp:lastModifiedBy>Yutzu Chang (張育慈)</cp:lastModifiedBy>
  <cp:revision>2</cp:revision>
  <dcterms:created xsi:type="dcterms:W3CDTF">2025-09-09T10:29:12Z</dcterms:created>
  <dcterms:modified xsi:type="dcterms:W3CDTF">2026-05-13T02:44:30Z</dcterms:modified>
</cp:coreProperties>
</file>